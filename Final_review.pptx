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
  </p:notesMasterIdLst>
  <p:handoutMasterIdLst>
    <p:handoutMasterId r:id="rId20"/>
  </p:handoutMasterIdLst>
  <p:sldIdLst>
    <p:sldId id="531" r:id="rId3"/>
    <p:sldId id="289" r:id="rId4"/>
    <p:sldId id="292" r:id="rId6"/>
    <p:sldId id="539" r:id="rId7"/>
    <p:sldId id="538" r:id="rId8"/>
    <p:sldId id="298" r:id="rId9"/>
    <p:sldId id="534" r:id="rId10"/>
    <p:sldId id="532" r:id="rId11"/>
    <p:sldId id="302" r:id="rId12"/>
    <p:sldId id="542" r:id="rId13"/>
    <p:sldId id="543" r:id="rId14"/>
    <p:sldId id="533" r:id="rId15"/>
    <p:sldId id="536" r:id="rId16"/>
    <p:sldId id="303" r:id="rId17"/>
    <p:sldId id="307" r:id="rId18"/>
    <p:sldId id="301" r:id="rId19"/>
  </p:sldIdLst>
  <p:sldSz cx="12192000" cy="6858000"/>
  <p:notesSz cx="6858000" cy="9144000"/>
  <p:embeddedFontLst>
    <p:embeddedFont>
      <p:font typeface="Open Sans" panose="020B0606030504020204"/>
      <p:regular r:id="rId25"/>
    </p:embeddedFont>
    <p:embeddedFont>
      <p:font typeface="Calibri" panose="020F0502020204030204"/>
      <p:regular r:id="rId26"/>
    </p:embeddedFont>
    <p:embeddedFont>
      <p:font typeface="Aharoni" panose="02010803020104030203"/>
      <p:bold r:id="rId27"/>
    </p:embeddedFont>
    <p:embeddedFont>
      <p:font typeface="Plus Jakarta Sans"/>
      <p:regular r:id="rId28"/>
      <p:bold r:id="rId29"/>
      <p:italic r:id="rId30"/>
      <p:boldItalic r:id="rId31"/>
    </p:embeddedFont>
    <p:embeddedFont>
      <p:font typeface="Montserrat Medium" panose="00000600000000000000"/>
      <p:regular r:id="rId32"/>
      <p:italic r:id="rId33"/>
    </p:embeddedFont>
    <p:embeddedFont>
      <p:font typeface="Verdana" panose="020B0604030504040204"/>
      <p:regular r:id="rId34"/>
      <p:bold r:id="rId35"/>
      <p:italic r:id="rId36"/>
      <p:boldItalic r:id="rId37"/>
    </p:embeddedFont>
    <p:embeddedFont>
      <p:font typeface="Montserrat" panose="00000500000000000000"/>
      <p:regular r:id="rId38"/>
      <p:bold r:id="rId39"/>
      <p:italic r:id="rId40"/>
      <p:boldItalic r:id="rId41"/>
    </p:embeddedFont>
    <p:embeddedFont>
      <p:font typeface="Verdana" panose="020B0604030504040204" pitchFamily="34" charset="0"/>
      <p:regular r:id="rId42"/>
      <p:bold r:id="rId43"/>
      <p:italic r:id="rId44"/>
      <p:boldItalic r:id="rId45"/>
    </p:embeddedFont>
  </p:embeddedFontLst>
  <p:custDataLst>
    <p:tags r:id="rId4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0"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6" Type="http://schemas.openxmlformats.org/officeDocument/2006/relationships/tags" Target="tags/tag1.xml"/><Relationship Id="rId45" Type="http://schemas.openxmlformats.org/officeDocument/2006/relationships/font" Target="fonts/font21.fntdata"/><Relationship Id="rId44" Type="http://schemas.openxmlformats.org/officeDocument/2006/relationships/font" Target="fonts/font20.fntdata"/><Relationship Id="rId43" Type="http://schemas.openxmlformats.org/officeDocument/2006/relationships/font" Target="fonts/font19.fntdata"/><Relationship Id="rId42" Type="http://schemas.openxmlformats.org/officeDocument/2006/relationships/font" Target="fonts/font18.fntdata"/><Relationship Id="rId41" Type="http://schemas.openxmlformats.org/officeDocument/2006/relationships/font" Target="fonts/font17.fntdata"/><Relationship Id="rId40" Type="http://schemas.openxmlformats.org/officeDocument/2006/relationships/font" Target="fonts/font16.fntdata"/><Relationship Id="rId4" Type="http://schemas.openxmlformats.org/officeDocument/2006/relationships/slide" Target="slides/slide2.xml"/><Relationship Id="rId39" Type="http://schemas.openxmlformats.org/officeDocument/2006/relationships/font" Target="fonts/font15.fntdata"/><Relationship Id="rId38" Type="http://schemas.openxmlformats.org/officeDocument/2006/relationships/font" Target="fonts/font14.fntdata"/><Relationship Id="rId37" Type="http://schemas.openxmlformats.org/officeDocument/2006/relationships/font" Target="fonts/font13.fntdata"/><Relationship Id="rId36" Type="http://schemas.openxmlformats.org/officeDocument/2006/relationships/font" Target="fonts/font12.fntdata"/><Relationship Id="rId35" Type="http://schemas.openxmlformats.org/officeDocument/2006/relationships/font" Target="fonts/font11.fntdata"/><Relationship Id="rId34" Type="http://schemas.openxmlformats.org/officeDocument/2006/relationships/font" Target="fonts/font10.fntdata"/><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pic>
        <p:nvPicPr>
          <p:cNvPr id="29" name="Google Shape;29;g2f68141a545_0_445"/>
          <p:cNvPicPr preferRelativeResize="0"/>
          <p:nvPr/>
        </p:nvPicPr>
        <p:blipFill rotWithShape="1">
          <a:blip r:embed="rId2"/>
          <a:srcRect/>
          <a:stretch>
            <a:fill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srcRect/>
          <a:stretch>
            <a:fill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panose="020B0604020202020204"/>
              <a:buChar char="●"/>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L="914400" marR="0" lvl="1"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1pPr>
            <a:lvl2pPr marL="0" marR="0" lvl="1"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2pPr>
            <a:lvl3pPr marL="0" marR="0" lvl="2"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3pPr>
            <a:lvl4pPr marL="0" marR="0" lvl="3"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4pPr>
            <a:lvl5pPr marL="0" marR="0" lvl="4"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5pPr>
            <a:lvl6pPr marL="0" marR="0" lvl="5"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6pPr>
            <a:lvl7pPr marL="0" marR="0" lvl="6"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7pPr>
            <a:lvl8pPr marL="0" marR="0" lvl="7"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8pPr>
            <a:lvl9pPr marL="0" marR="0" lvl="8"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panose="020F0502020204030204"/>
              <a:buChar char="●"/>
              <a:defRPr sz="60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panose="020B0604020202020204"/>
              <a:buNone/>
              <a:defRPr sz="2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ctr" rtl="0">
              <a:lnSpc>
                <a:spcPct val="90000"/>
              </a:lnSpc>
              <a:spcBef>
                <a:spcPts val="500"/>
              </a:spcBef>
              <a:spcAft>
                <a:spcPts val="0"/>
              </a:spcAft>
              <a:buClr>
                <a:schemeClr val="dk1"/>
              </a:buClr>
              <a:buSzPts val="2000"/>
              <a:buFont typeface="Arial" panose="020B0604020202020204"/>
              <a:buNone/>
              <a:defRPr sz="20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90000"/>
              </a:lnSpc>
              <a:spcBef>
                <a:spcPts val="500"/>
              </a:spcBef>
              <a:spcAft>
                <a:spcPts val="0"/>
              </a:spcAft>
              <a:buClr>
                <a:schemeClr val="dk1"/>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L="0" marR="0" lvl="1"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2pPr>
            <a:lvl3pPr marL="0" marR="0" lvl="2"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3pPr>
            <a:lvl4pPr marL="0" marR="0" lvl="3"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4pPr>
            <a:lvl5pPr marL="0" marR="0" lvl="4"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5pPr>
            <a:lvl6pPr marL="0" marR="0" lvl="5"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6pPr>
            <a:lvl7pPr marL="0" marR="0" lvl="6"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7pPr>
            <a:lvl8pPr marL="0" marR="0" lvl="7"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8pPr>
            <a:lvl9pPr marL="0" marR="0" lvl="8"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535709" y="832043"/>
            <a:ext cx="11111346" cy="53449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9349510" y="6457661"/>
            <a:ext cx="2743200" cy="365125"/>
          </a:xfrm>
        </p:spPr>
        <p:txBody>
          <a:bodyPr/>
          <a:lstStyle/>
          <a:p>
            <a:fld id="{330EA680-D336-4FF7-8B7A-9848BB0A1C32}"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panose="020B0606030504020204"/>
              <a:buNone/>
            </a:pPr>
            <a:r>
              <a:rPr lang="en-US" sz="1800" b="0" i="0" u="none" strike="noStrike" cap="none">
                <a:solidFill>
                  <a:srgbClr val="7F7F7F"/>
                </a:solidFill>
                <a:latin typeface="Open Sans" panose="020B0606030504020204"/>
                <a:ea typeface="Open Sans" panose="020B0606030504020204"/>
                <a:cs typeface="Open Sans" panose="020B0606030504020204"/>
                <a:sym typeface="Open Sans" panose="020B0606030504020204"/>
              </a:rPr>
              <a:t>Dept EECE, GST Bengaluru</a:t>
            </a:r>
            <a:endParaRPr sz="1800" b="0" i="0" u="none" strike="noStrike" cap="none">
              <a:solidFill>
                <a:srgbClr val="7F7F7F"/>
              </a:solidFill>
              <a:latin typeface="Open Sans" panose="020B0606030504020204"/>
              <a:ea typeface="Open Sans" panose="020B0606030504020204"/>
              <a:cs typeface="Open Sans" panose="020B0606030504020204"/>
              <a:sym typeface="Open Sans" panose="020B0606030504020204"/>
            </a:endParaRPr>
          </a:p>
        </p:txBody>
      </p:sp>
      <p:pic>
        <p:nvPicPr>
          <p:cNvPr id="11" name="Google Shape;11;p64"/>
          <p:cNvPicPr preferRelativeResize="0"/>
          <p:nvPr userDrawn="1"/>
        </p:nvPicPr>
        <p:blipFill rotWithShape="1">
          <a:blip r:embed="rId11"/>
          <a:srcRect/>
          <a:stretch>
            <a:fill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hyperlink" Target="https://in.docworkspace.com/d/sIKHogtzyAcuYwLYG"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hyperlink" Target="https://in.docworkspace.com/d/sIDPogtzyAfeTwLYG" TargetMode="External"/><Relationship Id="rId1" Type="http://schemas.openxmlformats.org/officeDocument/2006/relationships/hyperlink" Target="https://in.docworkspace.com/d/sIJTogtzyAcqTwLYG"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5" name="Google Shape;87;p1"/>
          <p:cNvPicPr preferRelativeResize="0"/>
          <p:nvPr/>
        </p:nvPicPr>
        <p:blipFill rotWithShape="1">
          <a:blip r:embed="rId1">
            <a:alphaModFix amt="20000"/>
          </a:blip>
          <a:srcRect l="1514" r="2310" b="19493"/>
          <a:stretch>
            <a:fillRect/>
          </a:stretch>
        </p:blipFill>
        <p:spPr>
          <a:xfrm>
            <a:off x="-1235" y="7409"/>
            <a:ext cx="12193235" cy="6734914"/>
          </a:xfrm>
          <a:prstGeom prst="rect">
            <a:avLst/>
          </a:prstGeom>
          <a:noFill/>
          <a:ln>
            <a:noFill/>
          </a:ln>
        </p:spPr>
      </p:pic>
      <p:sp>
        <p:nvSpPr>
          <p:cNvPr id="6" name="Google Shape;88;p1"/>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panose="020B0606030504020204"/>
                <a:ea typeface="Open Sans" panose="020B0606030504020204"/>
                <a:cs typeface="Open Sans" panose="020B0606030504020204"/>
                <a:sym typeface="Open Sans" panose="020B0606030504020204"/>
              </a:rPr>
              <a:t>GITAM (Deemed-to-be) University</a:t>
            </a:r>
            <a:endParaRPr lang="en-US" sz="2800" dirty="0"/>
          </a:p>
        </p:txBody>
      </p:sp>
      <p:sp>
        <p:nvSpPr>
          <p:cNvPr id="11" name="Google Shape;93;p1"/>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dirty="0">
                <a:solidFill>
                  <a:srgbClr val="7F7F7F"/>
                </a:solidFill>
                <a:latin typeface="Montserrat Medium" panose="00000600000000000000"/>
                <a:ea typeface="Montserrat Medium" panose="00000600000000000000"/>
                <a:cs typeface="Montserrat Medium" panose="00000600000000000000"/>
                <a:sym typeface="Montserrat Medium" panose="00000600000000000000"/>
              </a:rPr>
              <a:t>www.gitam.edu</a:t>
            </a:r>
            <a:endParaRPr sz="1200" b="0" i="0" u="none" strike="noStrike" cap="none" dirty="0">
              <a:solidFill>
                <a:srgbClr val="7F7F7F"/>
              </a:solidFill>
              <a:latin typeface="Montserrat Medium" panose="00000600000000000000"/>
              <a:ea typeface="Montserrat Medium" panose="00000600000000000000"/>
              <a:cs typeface="Montserrat Medium" panose="00000600000000000000"/>
              <a:sym typeface="Montserrat Medium" panose="00000600000000000000"/>
            </a:endParaRPr>
          </a:p>
        </p:txBody>
      </p:sp>
      <p:grpSp>
        <p:nvGrpSpPr>
          <p:cNvPr id="12" name="Google Shape;94;p1"/>
          <p:cNvGrpSpPr/>
          <p:nvPr/>
        </p:nvGrpSpPr>
        <p:grpSpPr>
          <a:xfrm rot="2700000">
            <a:off x="5984712" y="5183993"/>
            <a:ext cx="231043" cy="225933"/>
            <a:chOff x="11087593" y="13905"/>
            <a:chExt cx="1085533" cy="1061509"/>
          </a:xfrm>
        </p:grpSpPr>
        <p:sp>
          <p:nvSpPr>
            <p:cNvPr id="13" name="Google Shape;95;p1"/>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panose="020B0604020202020204"/>
                <a:buNone/>
              </a:pPr>
              <a:endParaRPr sz="135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 name="Google Shape;96;p1"/>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panose="020B0604020202020204"/>
                <a:buNone/>
              </a:pPr>
              <a:endParaRPr sz="135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16" name="Google Shape;104;p1"/>
          <p:cNvSpPr/>
          <p:nvPr/>
        </p:nvSpPr>
        <p:spPr>
          <a:xfrm>
            <a:off x="2904067" y="4430594"/>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Department of Electrical Electronics and Communication Engineering</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7" name="Google Shape;105;p1"/>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9" name="Google Shape;111;p1"/>
          <p:cNvSpPr/>
          <p:nvPr/>
        </p:nvSpPr>
        <p:spPr>
          <a:xfrm>
            <a:off x="133754" y="4504626"/>
            <a:ext cx="292694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Team: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indent="-285750">
              <a:buSzPts val="1400"/>
              <a:buFont typeface="Arial" panose="020B0604020202020204" pitchFamily="34" charset="0"/>
              <a:buChar char="•"/>
            </a:pPr>
            <a:r>
              <a:rPr lang="en-US" b="1" dirty="0">
                <a:solidFill>
                  <a:schemeClr val="dk1"/>
                </a:solidFill>
                <a:latin typeface="Montserrat Medium" panose="00000600000000000000"/>
              </a:rPr>
              <a:t>Mohammed Ashraf </a:t>
            </a:r>
            <a:endParaRPr lang="en-US" sz="1400" b="1" i="0" u="none" strike="noStrike" cap="none" dirty="0">
              <a:solidFill>
                <a:schemeClr val="dk1"/>
              </a:solidFill>
              <a:latin typeface="Montserrat Medium" panose="00000600000000000000"/>
              <a:ea typeface="Arial" panose="020B0604020202020204"/>
              <a:cs typeface="Arial" panose="020B0604020202020204"/>
            </a:endParaRPr>
          </a:p>
          <a:p>
            <a:pPr marL="285750" indent="-285750">
              <a:buSzPts val="1400"/>
              <a:buFont typeface="Arial" panose="020B0604020202020204" pitchFamily="34" charset="0"/>
              <a:buChar char="•"/>
            </a:pPr>
            <a:r>
              <a:rPr lang="en-US" b="1" dirty="0">
                <a:solidFill>
                  <a:schemeClr val="dk1"/>
                </a:solidFill>
                <a:latin typeface="Montserrat Medium" panose="00000600000000000000"/>
              </a:rPr>
              <a:t>Shaik Kashida Jabeen</a:t>
            </a:r>
            <a:endParaRPr lang="en-US" dirty="0">
              <a:solidFill>
                <a:schemeClr val="dk1"/>
              </a:solidFill>
            </a:endParaRPr>
          </a:p>
          <a:p>
            <a:pPr marL="285750" indent="-285750">
              <a:buSzPts val="1400"/>
              <a:buFont typeface="Arial" panose="020B0604020202020204" pitchFamily="34" charset="0"/>
              <a:buChar char="•"/>
            </a:pPr>
            <a:r>
              <a:rPr lang="en-US" b="1" dirty="0">
                <a:solidFill>
                  <a:schemeClr val="dk1"/>
                </a:solidFill>
                <a:latin typeface="Montserrat Medium" panose="00000600000000000000"/>
              </a:rPr>
              <a:t>Avva Praveen Babu</a:t>
            </a:r>
            <a:endParaRPr lang="en-US" b="1" dirty="0">
              <a:solidFill>
                <a:schemeClr val="dk1"/>
              </a:solidFill>
              <a:latin typeface="Montserrat Medium" panose="00000600000000000000"/>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0" name="Google Shape;111;p1"/>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Mentor: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indent="-285750" algn="ctr">
              <a:buSzPts val="1400"/>
              <a:buFont typeface="Arial" panose="020B0604020202020204" pitchFamily="34" charset="0"/>
              <a:buChar char="•"/>
            </a:pPr>
            <a:r>
              <a:rPr lang="en-US" b="1" dirty="0">
                <a:solidFill>
                  <a:schemeClr val="dk1"/>
                </a:solidFill>
                <a:latin typeface="Montserrat Medium" panose="00000600000000000000"/>
                <a:sym typeface="Montserrat Medium" panose="00000600000000000000"/>
              </a:rPr>
              <a:t>Dr.</a:t>
            </a:r>
            <a:r>
              <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rPr>
              <a:t> </a:t>
            </a:r>
            <a:r>
              <a:rPr lang="en-US" b="1" dirty="0">
                <a:solidFill>
                  <a:schemeClr val="dk1"/>
                </a:solidFill>
                <a:latin typeface="Montserrat Medium" panose="00000600000000000000"/>
                <a:sym typeface="Montserrat Medium" panose="00000600000000000000"/>
              </a:rPr>
              <a:t>Pankaj </a:t>
            </a:r>
            <a:r>
              <a:rPr lang="en-US" b="1" dirty="0" err="1">
                <a:solidFill>
                  <a:schemeClr val="dk1"/>
                </a:solidFill>
                <a:latin typeface="Montserrat Medium" panose="00000600000000000000"/>
                <a:sym typeface="Montserrat Medium" panose="00000600000000000000"/>
              </a:rPr>
              <a:t>Kandhway</a:t>
            </a:r>
            <a:r>
              <a:rPr lang="en-US" b="1" dirty="0">
                <a:solidFill>
                  <a:schemeClr val="dk1"/>
                </a:solidFill>
                <a:latin typeface="Montserrat Medium" panose="00000600000000000000"/>
                <a:sym typeface="Montserrat Medium" panose="00000600000000000000"/>
              </a:rPr>
              <a:t> </a:t>
            </a:r>
            <a:endParaRPr lang="en-US" sz="1400" b="1" i="0" u="none" strike="noStrike" cap="none" dirty="0">
              <a:solidFill>
                <a:schemeClr val="dk1"/>
              </a:solidFill>
              <a:latin typeface="Montserrat Medium" panose="00000600000000000000"/>
              <a:ea typeface="Arial" panose="020B0604020202020204"/>
              <a:cs typeface="Arial" panose="020B0604020202020204"/>
            </a:endParaRPr>
          </a:p>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In-charge: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indent="-285750" algn="ctr">
              <a:buSzPts val="1400"/>
              <a:buFont typeface="Arial" panose="020B0604020202020204" pitchFamily="34" charset="0"/>
              <a:buChar char="•"/>
            </a:pPr>
            <a:r>
              <a:rPr lang="en-US" b="1" dirty="0">
                <a:solidFill>
                  <a:schemeClr val="dk1"/>
                </a:solidFill>
                <a:latin typeface="Montserrat Medium" panose="00000600000000000000"/>
              </a:rPr>
              <a:t>Dr. Ambar Bajpai</a:t>
            </a:r>
            <a:endParaRPr lang="en-US" sz="1400" b="1" i="0" u="none" strike="noStrike" cap="none" dirty="0">
              <a:solidFill>
                <a:schemeClr val="dk1"/>
              </a:solidFill>
              <a:latin typeface="Montserrat Medium" panose="00000600000000000000"/>
              <a:ea typeface="Arial" panose="020B0604020202020204"/>
              <a:cs typeface="Arial" panose="020B0604020202020204"/>
            </a:endParaRPr>
          </a:p>
        </p:txBody>
      </p:sp>
      <p:pic>
        <p:nvPicPr>
          <p:cNvPr id="21" name="Google Shape;67;p1"/>
          <p:cNvPicPr preferRelativeResize="0"/>
          <p:nvPr/>
        </p:nvPicPr>
        <p:blipFill rotWithShape="1">
          <a:blip r:embed="rId2"/>
          <a:srcRect/>
          <a:stretch>
            <a:fillRect/>
          </a:stretch>
        </p:blipFill>
        <p:spPr>
          <a:xfrm>
            <a:off x="4601352" y="1778687"/>
            <a:ext cx="2674631" cy="1245671"/>
          </a:xfrm>
          <a:prstGeom prst="rect">
            <a:avLst/>
          </a:prstGeom>
          <a:noFill/>
          <a:ln>
            <a:noFill/>
          </a:ln>
        </p:spPr>
      </p:pic>
      <p:sp>
        <p:nvSpPr>
          <p:cNvPr id="22" name="Google Shape;88;p1"/>
          <p:cNvSpPr txBox="1"/>
          <p:nvPr/>
        </p:nvSpPr>
        <p:spPr>
          <a:xfrm>
            <a:off x="2468020" y="219190"/>
            <a:ext cx="7254722" cy="954067"/>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7069"/>
                </a:solidFill>
                <a:latin typeface="Open Sans" panose="020B0606030504020204"/>
                <a:ea typeface="Open Sans" panose="020B0606030504020204"/>
                <a:cs typeface="Open Sans" panose="020B0606030504020204"/>
              </a:rPr>
              <a:t>Low light image Enhancement using </a:t>
            </a:r>
            <a:r>
              <a:rPr lang="en-US" sz="2800" b="1" dirty="0" err="1">
                <a:solidFill>
                  <a:srgbClr val="007069"/>
                </a:solidFill>
                <a:latin typeface="Open Sans" panose="020B0606030504020204"/>
                <a:ea typeface="Open Sans" panose="020B0606030504020204"/>
                <a:cs typeface="Open Sans" panose="020B0606030504020204"/>
              </a:rPr>
              <a:t>Retinex</a:t>
            </a:r>
            <a:r>
              <a:rPr lang="en-US" sz="2800" b="1" dirty="0">
                <a:solidFill>
                  <a:srgbClr val="007069"/>
                </a:solidFill>
                <a:latin typeface="Open Sans" panose="020B0606030504020204"/>
                <a:ea typeface="Open Sans" panose="020B0606030504020204"/>
                <a:cs typeface="Open Sans" panose="020B0606030504020204"/>
              </a:rPr>
              <a:t> Theory </a:t>
            </a:r>
            <a:endParaRPr lang="en-US" sz="2800" b="1" dirty="0">
              <a:solidFill>
                <a:srgbClr val="007069"/>
              </a:solidFill>
              <a:latin typeface="Open Sans" panose="020B0606030504020204"/>
              <a:ea typeface="Open Sans" panose="020B0606030504020204"/>
              <a:cs typeface="Open Sans" panose="020B0606030504020204"/>
            </a:endParaRPr>
          </a:p>
        </p:txBody>
      </p:sp>
      <p:sp>
        <p:nvSpPr>
          <p:cNvPr id="25" name="Google Shape;120;p76"/>
          <p:cNvSpPr/>
          <p:nvPr/>
        </p:nvSpPr>
        <p:spPr>
          <a:xfrm>
            <a:off x="133754" y="3194604"/>
            <a:ext cx="2432050" cy="468792"/>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AY 2021-25 </a:t>
            </a:r>
            <a:endParaRPr sz="9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Google Shape;120;p76"/>
          <p:cNvSpPr/>
          <p:nvPr/>
        </p:nvSpPr>
        <p:spPr>
          <a:xfrm>
            <a:off x="9156701" y="2965412"/>
            <a:ext cx="2901546" cy="818907"/>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Major Project</a:t>
            </a:r>
            <a:endPar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endParaRPr>
          </a:p>
          <a:p>
            <a:pPr marL="0" marR="0" lvl="0" indent="0" algn="ctr" rtl="0">
              <a:lnSpc>
                <a:spcPct val="100000"/>
              </a:lnSpc>
              <a:spcBef>
                <a:spcPts val="0"/>
              </a:spcBef>
              <a:spcAft>
                <a:spcPts val="0"/>
              </a:spcAft>
              <a:buClr>
                <a:srgbClr val="000000"/>
              </a:buClr>
              <a:buSzPts val="3600"/>
              <a:buFont typeface="Arial" panose="020B0604020202020204"/>
              <a:buNone/>
            </a:pPr>
            <a:r>
              <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Project ID: </a:t>
            </a:r>
            <a:r>
              <a:rPr lang="en-US" sz="1800" b="1" dirty="0">
                <a:solidFill>
                  <a:schemeClr val="lt1"/>
                </a:solidFill>
                <a:latin typeface="Verdana" panose="020B0604030504040204"/>
                <a:ea typeface="Verdana" panose="020B0604030504040204"/>
                <a:cs typeface="Verdana" panose="020B0604030504040204"/>
                <a:sym typeface="Verdana" panose="020B0604030504040204"/>
              </a:rPr>
              <a:t>CS9</a:t>
            </a:r>
            <a:endParaRPr lang="en-US" sz="1800" b="1" i="0" u="none" strike="noStrike" cap="none" dirty="0">
              <a:solidFill>
                <a:schemeClr val="lt1"/>
              </a:solidFill>
              <a:latin typeface="Verdana" panose="020B0604030504040204"/>
              <a:ea typeface="Verdana" panose="020B0604030504040204"/>
              <a:cs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8"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Objective and Goals</a:t>
            </a:r>
            <a:endParaRPr dirty="0"/>
          </a:p>
        </p:txBody>
      </p:sp>
      <p:sp>
        <p:nvSpPr>
          <p:cNvPr id="3" name="Google Shape;120;p76"/>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20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Objective </a:t>
            </a:r>
            <a:endParaRPr sz="10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0;p76"/>
          <p:cNvSpPr/>
          <p:nvPr/>
        </p:nvSpPr>
        <p:spPr>
          <a:xfrm>
            <a:off x="550606" y="235839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20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Goals</a:t>
            </a:r>
            <a:endParaRPr sz="10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TextBox 32"/>
          <p:cNvSpPr txBox="1"/>
          <p:nvPr/>
        </p:nvSpPr>
        <p:spPr>
          <a:xfrm>
            <a:off x="1010562" y="1268361"/>
            <a:ext cx="9953617" cy="2799715"/>
          </a:xfrm>
          <a:prstGeom prst="rect">
            <a:avLst/>
          </a:prstGeom>
          <a:noFill/>
        </p:spPr>
        <p:txBody>
          <a:bodyPr wrap="square" lIns="91440" tIns="45720" rIns="91440" bIns="45720" rtlCol="0" anchor="t">
            <a:spAutoFit/>
          </a:bodyPr>
          <a:lstStyle/>
          <a:p>
            <a:pPr marL="285750" indent="-285750" algn="just">
              <a:buFont typeface="Arial,Sans-Serif"/>
              <a:buChar char="•"/>
            </a:pPr>
            <a:r>
              <a:rPr lang="en-US" altLang="en-US" sz="1600" dirty="0">
                <a:latin typeface="Arial" panose="020B0604020202020204" pitchFamily="34" charset="0"/>
                <a:ea typeface="Verdana" panose="020B0604030504040204" pitchFamily="34" charset="0"/>
                <a:cs typeface="Arial" panose="020B0604020202020204" pitchFamily="34" charset="0"/>
              </a:rPr>
              <a:t>The primary objective of this project is to develop an image enhancement algorithm that improves the visibility and quality of images captured under low-light conditions. The algorithm should effectively restore details, reduce noise, and enhance the overall visual appearance of the image while preserving its natural color and texture.</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endParaRPr lang="en-IN" dirty="0">
              <a:latin typeface="Verdana" panose="020B0604030504040204" pitchFamily="34" charset="0"/>
              <a:ea typeface="Verdana" panose="020B0604030504040204" pitchFamily="34" charset="0"/>
            </a:endParaRPr>
          </a:p>
          <a:p>
            <a:r>
              <a:rPr lang="en-IN" dirty="0">
                <a:latin typeface="Verdana" panose="020B0604030504040204" pitchFamily="34" charset="0"/>
                <a:ea typeface="Verdana" panose="020B0604030504040204" pitchFamily="34" charset="0"/>
              </a:rPr>
              <a:t>                  </a:t>
            </a:r>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4" name="TextBox 33"/>
          <p:cNvSpPr txBox="1"/>
          <p:nvPr/>
        </p:nvSpPr>
        <p:spPr>
          <a:xfrm>
            <a:off x="1020657" y="2734007"/>
            <a:ext cx="9943179" cy="3969385"/>
          </a:xfrm>
          <a:prstGeom prst="rect">
            <a:avLst/>
          </a:prstGeom>
          <a:noFill/>
        </p:spPr>
        <p:txBody>
          <a:bodyPr wrap="square" lIns="91440" tIns="45720" rIns="91440" bIns="45720" rtlCol="0" anchor="t">
            <a:spAutoFit/>
          </a:bodyPr>
          <a:lstStyle/>
          <a:p>
            <a:r>
              <a:rPr lang="en-IN" sz="1600" dirty="0">
                <a:latin typeface="Arial" panose="020B0604020202020204" pitchFamily="34" charset="0"/>
                <a:ea typeface="Verdana" panose="020B0604030504040204" pitchFamily="34" charset="0"/>
                <a:cs typeface="Arial" panose="020B0604020202020204" pitchFamily="34" charset="0"/>
              </a:rPr>
              <a:t>Main Goals </a:t>
            </a:r>
            <a:endParaRPr lang="en-IN"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Develop a robust low-light image enhancement algorithm using a combination of Gaussian filtering, guided filtering, and histogram equalization.</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Implement two distinct enhancement approaches: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Approach 1: </a:t>
            </a:r>
            <a:r>
              <a:rPr lang="en-IN" altLang="en-US" sz="1600" dirty="0">
                <a:latin typeface="Arial" panose="020B0604020202020204" pitchFamily="34" charset="0"/>
                <a:ea typeface="Verdana" panose="020B0604030504040204" pitchFamily="34" charset="0"/>
                <a:cs typeface="Arial" panose="020B0604020202020204" pitchFamily="34" charset="0"/>
              </a:rPr>
              <a:t>Retinex Theory</a:t>
            </a:r>
            <a:r>
              <a:rPr lang="en-US" altLang="en-US" sz="1600" dirty="0">
                <a:latin typeface="Arial" panose="020B0604020202020204" pitchFamily="34" charset="0"/>
                <a:ea typeface="Verdana" panose="020B0604030504040204" pitchFamily="34" charset="0"/>
                <a:cs typeface="Arial" panose="020B0604020202020204" pitchFamily="34" charset="0"/>
              </a:rPr>
              <a:t>.</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Approach 2: </a:t>
            </a:r>
            <a:r>
              <a:rPr lang="en-IN" altLang="en-US" sz="1600" dirty="0">
                <a:latin typeface="Arial" panose="020B0604020202020204" pitchFamily="34" charset="0"/>
                <a:ea typeface="Verdana" panose="020B0604030504040204" pitchFamily="34" charset="0"/>
                <a:cs typeface="Arial" panose="020B0604020202020204" pitchFamily="34" charset="0"/>
              </a:rPr>
              <a:t>BHSD</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Fuse the results of the two enhancement approaches using a weighted average to produce a final enhanced image.</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Validate the algorithm by testing it on various low-light images and comparing the results with the original images.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 panose="020B0604020202020204" pitchFamily="34" charset="0"/>
              <a:buChar char="•"/>
            </a:pPr>
            <a:endParaRPr lang="en-US" altLang="en-US" sz="1600" dirty="0">
              <a:latin typeface="Arial" panose="020B0604020202020204" pitchFamily="34" charset="0"/>
              <a:ea typeface="Verdana" panose="020B0604030504040204" pitchFamily="34" charset="0"/>
              <a:cs typeface="Arial" panose="020B0604020202020204" pitchFamily="34" charset="0"/>
            </a:endParaRPr>
          </a:p>
          <a:p>
            <a:r>
              <a:rPr lang="en-IN" sz="1600" dirty="0">
                <a:latin typeface="Arial" panose="020B0604020202020204" pitchFamily="34" charset="0"/>
                <a:ea typeface="Verdana" panose="020B0604030504040204" pitchFamily="34" charset="0"/>
                <a:cs typeface="Arial" panose="020B0604020202020204" pitchFamily="34" charset="0"/>
              </a:rPr>
              <a:t>Additional Goals </a:t>
            </a:r>
            <a:endParaRPr lang="en-IN" sz="1600" dirty="0">
              <a:latin typeface="Arial" panose="020B0604020202020204" pitchFamily="34" charset="0"/>
              <a:ea typeface="Verdana" panose="020B0604030504040204" pitchFamily="34" charset="0"/>
              <a:cs typeface="Arial" panose="020B0604020202020204" pitchFamily="34" charset="0"/>
            </a:endParaRPr>
          </a:p>
          <a:p>
            <a:pPr marL="285750" indent="-285750">
              <a:buFont typeface="Arial,Sans-Serif" panose="020B0604020202020204" pitchFamily="34" charset="0"/>
              <a:buChar char="•"/>
            </a:pPr>
            <a:r>
              <a:rPr lang="en-US" altLang="en-US" sz="1600" dirty="0">
                <a:latin typeface="Arial" panose="020B0604020202020204" pitchFamily="34" charset="0"/>
                <a:ea typeface="Calibri" panose="020F0502020204030204"/>
                <a:cs typeface="Arial" panose="020B0604020202020204" pitchFamily="34" charset="0"/>
              </a:rPr>
              <a:t>Optimize the algorithm for computational efficiency to ensure it can process images in a reasonable time.</a:t>
            </a:r>
            <a:endParaRPr lang="en-US" altLang="en-US" sz="1600" dirty="0">
              <a:latin typeface="Arial" panose="020B0604020202020204" pitchFamily="34" charset="0"/>
              <a:ea typeface="Calibri" panose="020F0502020204030204"/>
              <a:cs typeface="Arial" panose="020B0604020202020204" pitchFamily="34" charset="0"/>
            </a:endParaRPr>
          </a:p>
          <a:p>
            <a:pPr marL="285750" indent="-285750">
              <a:buFont typeface="Arial" panose="020B0604020202020204" pitchFamily="34" charset="0"/>
              <a:buChar char="•"/>
            </a:pPr>
            <a:r>
              <a:rPr lang="en-IN" sz="1600" dirty="0">
                <a:latin typeface="Arial" panose="020B0604020202020204" pitchFamily="34" charset="0"/>
                <a:ea typeface="Calibri" panose="020F0502020204030204"/>
                <a:cs typeface="Arial" panose="020B0604020202020204" pitchFamily="34" charset="0"/>
                <a:sym typeface="+mn-ea"/>
              </a:rPr>
              <a:t>Use of algorithms, Fourier transforms for image enhancement.</a:t>
            </a:r>
            <a:endParaRPr lang="en-IN" sz="1600" dirty="0">
              <a:latin typeface="Arial" panose="020B0604020202020204" pitchFamily="34" charset="0"/>
              <a:ea typeface="Calibri" panose="020F0502020204030204"/>
              <a:cs typeface="Arial" panose="020B0604020202020204" pitchFamily="34" charset="0"/>
            </a:endParaRPr>
          </a:p>
          <a:p>
            <a:pPr marL="285750" indent="-285750">
              <a:buFont typeface="Arial" panose="020B0604020202020204" pitchFamily="34" charset="0"/>
              <a:buChar char="•"/>
            </a:pPr>
            <a:endParaRPr lang="en-IN" dirty="0">
              <a:latin typeface="Verdana" panose="020B0604030504040204"/>
              <a:ea typeface="Verdana" panose="020B0604030504040204"/>
            </a:endParaRPr>
          </a:p>
          <a:p>
            <a:endParaRPr lang="en-IN" dirty="0">
              <a:latin typeface="Verdana" panose="020B0604030504040204" pitchFamily="34" charset="0"/>
              <a:ea typeface="Verdana" panose="020B0604030504040204" pitchFamily="34" charset="0"/>
            </a:endParaRPr>
          </a:p>
        </p:txBody>
      </p:sp>
      <p:sp>
        <p:nvSpPr>
          <p:cNvPr id="35" name="Slide Number Placeholder 3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 name="Picture Placeholder 10" descr="Project Plan (5)"/>
          <p:cNvPicPr>
            <a:picLocks noChangeAspect="1"/>
          </p:cNvPicPr>
          <p:nvPr>
            <p:ph type="pic" idx="2"/>
          </p:nvPr>
        </p:nvPicPr>
        <p:blipFill>
          <a:blip r:embed="rId1"/>
          <a:stretch>
            <a:fillRect/>
          </a:stretch>
        </p:blipFill>
        <p:spPr>
          <a:xfrm>
            <a:off x="0" y="0"/>
            <a:ext cx="12192000" cy="6692900"/>
          </a:xfrm>
          <a:prstGeom prst="rect">
            <a:avLst/>
          </a:prstGeom>
          <a:noFill/>
        </p:spPr>
      </p:pic>
      <p:sp>
        <p:nvSpPr>
          <p:cNvPr id="3" name="Slide Number Placeholder 2"/>
          <p:cNvSpPr>
            <a:spLocks noGrp="1"/>
          </p:cNvSpPr>
          <p:nvPr>
            <p:ph type="sldNum" idx="4294967295"/>
          </p:nvPr>
        </p:nvSpPr>
        <p:spPr>
          <a:xfrm>
            <a:off x="0" y="0"/>
            <a:ext cx="0" cy="0"/>
          </a:xfrm>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5" name="TextBox 4"/>
          <p:cNvSpPr txBox="1"/>
          <p:nvPr/>
        </p:nvSpPr>
        <p:spPr>
          <a:xfrm>
            <a:off x="2478162" y="5807067"/>
            <a:ext cx="7100995" cy="337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600" b="1" dirty="0"/>
              <a:t>Fig 1</a:t>
            </a:r>
            <a:r>
              <a:rPr lang="en-IN" altLang="en-US" sz="1600" b="1" dirty="0"/>
              <a:t>. Gantt Chart - Milestones and Activities</a:t>
            </a:r>
            <a:endParaRPr lang="en-IN" altLang="en-US" sz="16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nvPr>
        </p:nvGraphicFramePr>
        <p:xfrm>
          <a:off x="0" y="22411"/>
          <a:ext cx="12217400" cy="9024713"/>
        </p:xfrm>
        <a:graphic>
          <a:graphicData uri="http://schemas.openxmlformats.org/drawingml/2006/table">
            <a:tbl>
              <a:tblPr firstRow="1" bandRow="1">
                <a:tableStyleId>{5C22544A-7EE6-4342-B048-85BDC9FD1C3A}</a:tableStyleId>
              </a:tblPr>
              <a:tblGrid>
                <a:gridCol w="578303"/>
                <a:gridCol w="2505982"/>
                <a:gridCol w="1184306"/>
                <a:gridCol w="1734909"/>
                <a:gridCol w="3254374"/>
                <a:gridCol w="2959330"/>
              </a:tblGrid>
              <a:tr h="588308">
                <a:tc>
                  <a:txBody>
                    <a:bodyPr/>
                    <a:lstStyle/>
                    <a:p>
                      <a:pPr lvl="0">
                        <a:buNone/>
                      </a:pPr>
                      <a:r>
                        <a:rPr lang="en-US" sz="1400" b="1" i="0" u="none" strike="noStrike" noProof="0">
                          <a:solidFill>
                            <a:srgbClr val="FFFFFF"/>
                          </a:solidFill>
                          <a:effectLst/>
                          <a:latin typeface="Arial" panose="020B0604020202020204"/>
                        </a:rPr>
                        <a:t>Ref No.</a:t>
                      </a:r>
                      <a:endParaRPr lang="en-US"/>
                    </a:p>
                  </a:txBody>
                  <a:tcPr/>
                </a:tc>
                <a:tc>
                  <a:txBody>
                    <a:bodyPr/>
                    <a:lstStyle/>
                    <a:p>
                      <a:pPr lvl="0">
                        <a:buNone/>
                      </a:pPr>
                      <a:r>
                        <a:rPr lang="en-US" sz="1400" b="1" i="0" u="none" strike="noStrike" noProof="0">
                          <a:solidFill>
                            <a:srgbClr val="FFFFFF"/>
                          </a:solidFill>
                          <a:effectLst/>
                          <a:latin typeface="Arial" panose="020B0604020202020204"/>
                        </a:rPr>
                        <a:t>     Title of paper  </a:t>
                      </a:r>
                      <a:endParaRPr lang="en-US"/>
                    </a:p>
                  </a:txBody>
                  <a:tcPr/>
                </a:tc>
                <a:tc>
                  <a:txBody>
                    <a:bodyPr/>
                    <a:lstStyle/>
                    <a:p>
                      <a:pPr lvl="0">
                        <a:buNone/>
                      </a:pPr>
                      <a:r>
                        <a:rPr lang="en-US" sz="1400" b="1" i="0" u="none" strike="noStrike" noProof="0">
                          <a:solidFill>
                            <a:srgbClr val="FFFFFF"/>
                          </a:solidFill>
                          <a:effectLst/>
                          <a:latin typeface="Arial" panose="020B0604020202020204"/>
                        </a:rPr>
                        <a:t>        Year</a:t>
                      </a:r>
                      <a:endParaRPr lang="en-US"/>
                    </a:p>
                  </a:txBody>
                  <a:tcPr/>
                </a:tc>
                <a:tc>
                  <a:txBody>
                    <a:bodyPr/>
                    <a:lstStyle/>
                    <a:p>
                      <a:pPr lvl="0">
                        <a:buNone/>
                      </a:pPr>
                      <a:r>
                        <a:rPr lang="en-US" sz="1400" b="1" i="0" u="none" strike="noStrike" noProof="0">
                          <a:solidFill>
                            <a:srgbClr val="FFFFFF"/>
                          </a:solidFill>
                          <a:effectLst/>
                          <a:latin typeface="Arial" panose="020B0604020202020204"/>
                        </a:rPr>
                        <a:t>      Author</a:t>
                      </a:r>
                      <a:endParaRPr lang="en-US"/>
                    </a:p>
                  </a:txBody>
                  <a:tcPr/>
                </a:tc>
                <a:tc>
                  <a:txBody>
                    <a:bodyPr/>
                    <a:lstStyle/>
                    <a:p>
                      <a:pPr lvl="0">
                        <a:buNone/>
                      </a:pPr>
                      <a:r>
                        <a:rPr lang="en-US" sz="1400" b="1" i="0" u="none" strike="noStrike" noProof="0">
                          <a:solidFill>
                            <a:srgbClr val="FFFFFF"/>
                          </a:solidFill>
                          <a:effectLst/>
                          <a:latin typeface="Arial" panose="020B0604020202020204"/>
                        </a:rPr>
                        <a:t>   Key Findings</a:t>
                      </a:r>
                      <a:endParaRPr lang="en-US"/>
                    </a:p>
                  </a:txBody>
                  <a:tcPr/>
                </a:tc>
                <a:tc>
                  <a:txBody>
                    <a:bodyPr/>
                    <a:lstStyle/>
                    <a:p>
                      <a:pPr lvl="0">
                        <a:buNone/>
                      </a:pPr>
                      <a:r>
                        <a:rPr lang="en-US" sz="1400" b="1" i="0" u="none" strike="noStrike" noProof="0">
                          <a:solidFill>
                            <a:srgbClr val="FFFFFF"/>
                          </a:solidFill>
                          <a:effectLst/>
                          <a:latin typeface="Arial" panose="020B0604020202020204"/>
                        </a:rPr>
                        <a:t>   Research gap</a:t>
                      </a:r>
                      <a:endParaRPr lang="en-US"/>
                    </a:p>
                  </a:txBody>
                  <a:tcPr/>
                </a:tc>
              </a:tr>
              <a:tr h="3957410">
                <a:tc>
                  <a:txBody>
                    <a:bodyPr/>
                    <a:lstStyle/>
                    <a:p>
                      <a:pPr lvl="0" algn="l">
                        <a:lnSpc>
                          <a:spcPct val="100000"/>
                        </a:lnSpc>
                        <a:spcBef>
                          <a:spcPts val="0"/>
                        </a:spcBef>
                        <a:spcAft>
                          <a:spcPts val="0"/>
                        </a:spcAft>
                        <a:buNone/>
                      </a:pPr>
                      <a:r>
                        <a:rPr lang="en-US" sz="1400" b="1" i="0" u="none" strike="noStrike" noProof="0">
                          <a:solidFill>
                            <a:srgbClr val="000000"/>
                          </a:solidFill>
                          <a:latin typeface="Arial" panose="020B0604020202020204"/>
                        </a:rPr>
                        <a:t>3.</a:t>
                      </a:r>
                      <a:endParaRPr lang="en-US" sz="1400" b="0" i="0" u="none" strike="noStrike" noProof="0">
                        <a:solidFill>
                          <a:srgbClr val="000000"/>
                        </a:solidFill>
                        <a:latin typeface="Arial" panose="020B0604020202020204"/>
                      </a:endParaRPr>
                    </a:p>
                    <a:p>
                      <a:pPr lvl="0">
                        <a:buNone/>
                      </a:pPr>
                      <a:endParaRPr lang="en-US"/>
                    </a:p>
                  </a:txBody>
                  <a:tcPr/>
                </a:tc>
                <a:tc>
                  <a:txBody>
                    <a:bodyPr/>
                    <a:lstStyle/>
                    <a:p>
                      <a:pPr fontAlgn="base"/>
                      <a:r>
                        <a:rPr lang="en-US" sz="1400">
                          <a:effectLst/>
                          <a:hlinkClick r:id="rId1"/>
                        </a:rPr>
                        <a:t>Low-Illumination Image Enhancement Algorithm Based On a Physical Lighting Model.</a:t>
                      </a:r>
                      <a:endParaRPr lang="en-US" sz="1400">
                        <a:effectLst/>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panose="020F0502020204030204"/>
                        </a:rPr>
                        <a:t> JANUARY 2019</a:t>
                      </a:r>
                      <a:endParaRPr lang="en-US" sz="1800" b="0">
                        <a:latin typeface="Calibri" panose="020F0502020204030204"/>
                      </a:endParaRPr>
                    </a:p>
                    <a:p>
                      <a:pPr lvl="0">
                        <a:buNone/>
                      </a:pPr>
                      <a:endParaRPr lang="en-US" sz="1400">
                        <a:effectLst/>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panose="020F0502020204030204"/>
                        </a:rPr>
                        <a:t>Shun-Yuan Yu and Hong Zhu</a:t>
                      </a:r>
                      <a:endParaRPr lang="en-US" sz="1800">
                        <a:latin typeface="Calibri" panose="020F0502020204030204"/>
                      </a:endParaRPr>
                    </a:p>
                    <a:p>
                      <a:pPr lvl="0">
                        <a:buNone/>
                      </a:pPr>
                      <a:endParaRPr lang="en-US" sz="1400">
                        <a:effectLst/>
                      </a:endParaRPr>
                    </a:p>
                  </a:txBody>
                  <a:tcPr/>
                </a:tc>
                <a:tc>
                  <a:txBody>
                    <a:bodyPr/>
                    <a:lstStyle/>
                    <a:p>
                      <a:pPr lvl="0" algn="just">
                        <a:buNone/>
                      </a:pPr>
                      <a:r>
                        <a:rPr lang="en-US" sz="1400" b="0" i="0" u="none" strike="noStrike" noProof="0">
                          <a:solidFill>
                            <a:schemeClr val="tx1"/>
                          </a:solidFill>
                          <a:effectLst/>
                          <a:latin typeface="Verdana" panose="020B0604030504040204" pitchFamily="34" charset="0"/>
                          <a:cs typeface="Verdana" panose="020B0604030504040204" pitchFamily="34" charset="0"/>
                        </a:rPr>
                        <a:t>The paper proposes a novel physical lighting model that accounts for the degradation of low-illumination images. This model considers environmental light as a point-wise variable that changes with the local light source.</a:t>
                      </a:r>
                      <a:endParaRPr lang="en-US" sz="1400">
                        <a:latin typeface="Verdana" panose="020B0604030504040204" pitchFamily="34" charset="0"/>
                        <a:cs typeface="Verdana" panose="020B0604030504040204" pitchFamily="34" charset="0"/>
                      </a:endParaRPr>
                    </a:p>
                  </a:txBody>
                  <a:tcPr/>
                </a:tc>
                <a:tc>
                  <a:txBody>
                    <a:bodyPr/>
                    <a:lstStyle/>
                    <a:p>
                      <a:pPr lvl="0" algn="just">
                        <a:buNone/>
                      </a:pPr>
                      <a:r>
                        <a:rPr lang="en-US" sz="1400" b="0" i="0" u="none" strike="noStrike" noProof="0">
                          <a:effectLst/>
                          <a:latin typeface="Verdana" panose="020B0604030504040204" pitchFamily="34" charset="0"/>
                          <a:cs typeface="Verdana" panose="020B0604030504040204" pitchFamily="34" charset="0"/>
                        </a:rPr>
                        <a:t>This paper seeks to bridge these gaps by proposing a physical lighting model that adapts to the variable lighting conditions of low-light environments, aiming to enhance image quality without introducing unwanted artifacts and maintaining accurate color reproduction.</a:t>
                      </a:r>
                      <a:endParaRPr lang="en-US" sz="1400">
                        <a:latin typeface="Verdana" panose="020B0604030504040204" pitchFamily="34" charset="0"/>
                        <a:cs typeface="Verdana" panose="020B0604030504040204" pitchFamily="34" charset="0"/>
                      </a:endParaRPr>
                    </a:p>
                  </a:txBody>
                  <a:tcPr/>
                </a:tc>
              </a:tr>
              <a:tr h="3163275">
                <a:tc>
                  <a:txBody>
                    <a:bodyPr/>
                    <a:lstStyle/>
                    <a:p>
                      <a:pPr fontAlgn="base"/>
                      <a:endParaRPr lang="en-US" sz="1400" b="1">
                        <a:effectLst/>
                      </a:endParaRPr>
                    </a:p>
                  </a:txBody>
                  <a:tcPr/>
                </a:tc>
                <a:tc>
                  <a:txBody>
                    <a:bodyPr/>
                    <a:lstStyle/>
                    <a:p>
                      <a:pPr lvl="0">
                        <a:buNone/>
                      </a:pPr>
                      <a:endParaRPr lang="en-IN" altLang="en-US" sz="1800" b="0" i="0" u="none" strike="noStrike" noProof="0">
                        <a:effectLst/>
                        <a:latin typeface="Calibri" panose="020F0502020204030204"/>
                        <a:cs typeface="Calibri" panose="020F0502020204030204"/>
                      </a:endParaRPr>
                    </a:p>
                  </a:txBody>
                  <a:tcPr/>
                </a:tc>
                <a:tc>
                  <a:txBody>
                    <a:bodyPr/>
                    <a:lstStyle/>
                    <a:p>
                      <a:pPr lvl="0">
                        <a:buNone/>
                      </a:pPr>
                      <a:endParaRPr lang="en-US" sz="1600" b="0" i="0" u="none" strike="noStrike" noProof="0">
                        <a:effectLst/>
                        <a:latin typeface="Calibri" panose="020F0502020204030204"/>
                      </a:endParaRPr>
                    </a:p>
                  </a:txBody>
                  <a:tcPr/>
                </a:tc>
                <a:tc>
                  <a:txBody>
                    <a:bodyPr/>
                    <a:lstStyle/>
                    <a:p>
                      <a:pPr lvl="0" algn="just">
                        <a:buNone/>
                      </a:pPr>
                      <a:endParaRPr lang="en-US" sz="1600" b="0" i="0" u="none" strike="noStrike" kern="1200" noProof="0">
                        <a:solidFill>
                          <a:schemeClr val="dk1"/>
                        </a:solidFill>
                        <a:effectLst/>
                        <a:latin typeface="Calibri" panose="020F0502020204030204"/>
                      </a:endParaRPr>
                    </a:p>
                  </a:txBody>
                  <a:tcPr/>
                </a:tc>
                <a:tc>
                  <a:txBody>
                    <a:bodyPr/>
                    <a:lstStyle/>
                    <a:p>
                      <a:pPr marL="0" lvl="0" indent="0" algn="just">
                        <a:lnSpc>
                          <a:spcPct val="100000"/>
                        </a:lnSpc>
                        <a:spcBef>
                          <a:spcPct val="0"/>
                        </a:spcBef>
                        <a:spcAft>
                          <a:spcPct val="0"/>
                        </a:spcAft>
                        <a:buNone/>
                      </a:pPr>
                      <a:endParaRPr lang="en-US" sz="1600">
                        <a:latin typeface="Calibri" panose="020F0502020204030204"/>
                      </a:endParaRPr>
                    </a:p>
                  </a:txBody>
                  <a:tcPr/>
                </a:tc>
                <a:tc>
                  <a:txBody>
                    <a:bodyPr/>
                    <a:lstStyle/>
                    <a:p>
                      <a:pPr lvl="0" algn="just">
                        <a:lnSpc>
                          <a:spcPct val="100000"/>
                        </a:lnSpc>
                        <a:spcBef>
                          <a:spcPct val="0"/>
                        </a:spcBef>
                        <a:spcAft>
                          <a:spcPct val="0"/>
                        </a:spcAft>
                        <a:buNone/>
                      </a:pPr>
                      <a:endParaRPr lang="en-US" sz="1800" b="0" i="0" u="none" strike="noStrike" noProof="0"/>
                    </a:p>
                  </a:txBody>
                  <a:tcPr marL="45720" marR="45720"/>
                </a:tc>
              </a:tr>
              <a:tr h="1315720">
                <a:tc>
                  <a:txBody>
                    <a:bodyPr/>
                    <a:lstStyle/>
                    <a:p>
                      <a:pPr fontAlgn="base"/>
                      <a:endParaRPr lang="en-US" sz="1400" b="1">
                        <a:effectLst/>
                      </a:endParaRPr>
                    </a:p>
                  </a:txBody>
                  <a:tcPr/>
                </a:tc>
                <a:tc>
                  <a:txBody>
                    <a:bodyPr/>
                    <a:lstStyle/>
                    <a:p>
                      <a:pPr fontAlgn="base"/>
                      <a:r>
                        <a:rPr lang="en-US" sz="1800">
                          <a:effectLst/>
                          <a:cs typeface="+mn-lt"/>
                        </a:rPr>
                        <a:t>​</a:t>
                      </a:r>
                      <a:endParaRPr lang="en-US" sz="1800" b="0" i="0" u="none" strike="noStrike" noProof="0">
                        <a:solidFill>
                          <a:srgbClr val="222222"/>
                        </a:solidFill>
                        <a:effectLst/>
                        <a:cs typeface="+mn-lt"/>
                      </a:endParaRPr>
                    </a:p>
                  </a:txBody>
                  <a:tcPr/>
                </a:tc>
                <a:tc>
                  <a:txBody>
                    <a:bodyPr/>
                    <a:lstStyle/>
                    <a:p>
                      <a:pPr lvl="0" algn="l">
                        <a:lnSpc>
                          <a:spcPct val="100000"/>
                        </a:lnSpc>
                        <a:spcBef>
                          <a:spcPct val="0"/>
                        </a:spcBef>
                        <a:spcAft>
                          <a:spcPct val="0"/>
                        </a:spcAft>
                        <a:buNone/>
                      </a:pPr>
                      <a:endParaRPr lang="en-US" sz="1600" b="0" i="0" u="none" strike="noStrike" kern="1200" noProof="0">
                        <a:solidFill>
                          <a:schemeClr val="dk1"/>
                        </a:solidFill>
                        <a:effectLst/>
                      </a:endParaRPr>
                    </a:p>
                  </a:txBody>
                  <a:tcPr/>
                </a:tc>
                <a:tc>
                  <a:txBody>
                    <a:bodyPr/>
                    <a:lstStyle/>
                    <a:p>
                      <a:pPr lvl="0">
                        <a:buNone/>
                      </a:pPr>
                      <a:endParaRPr lang="en-US" sz="1600" b="0" i="0" u="none" strike="noStrike" kern="1200" noProof="0">
                        <a:solidFill>
                          <a:schemeClr val="dk1"/>
                        </a:solidFill>
                        <a:effectLst/>
                        <a:latin typeface="Calibri" panose="020F0502020204030204"/>
                      </a:endParaRPr>
                    </a:p>
                  </a:txBody>
                  <a:tcPr/>
                </a:tc>
                <a:tc>
                  <a:txBody>
                    <a:bodyPr/>
                    <a:lstStyle/>
                    <a:p>
                      <a:pPr lvl="0" indent="0" algn="l">
                        <a:lnSpc>
                          <a:spcPct val="100000"/>
                        </a:lnSpc>
                        <a:spcBef>
                          <a:spcPct val="0"/>
                        </a:spcBef>
                        <a:spcAft>
                          <a:spcPct val="0"/>
                        </a:spcAft>
                        <a:buNone/>
                      </a:pPr>
                      <a:endParaRPr lang="en-US" sz="1600" b="0" i="0" u="none" strike="noStrike" kern="1200" noProof="0">
                        <a:solidFill>
                          <a:schemeClr val="tx1"/>
                        </a:solidFill>
                        <a:latin typeface="Calibri" panose="020F0502020204030204"/>
                      </a:endParaRPr>
                    </a:p>
                  </a:txBody>
                  <a:tcPr/>
                </a:tc>
                <a:tc>
                  <a:txBody>
                    <a:bodyPr/>
                    <a:lstStyle/>
                    <a:p>
                      <a:pPr lvl="0">
                        <a:buFont typeface="Arial" panose="020B0604020202020204" pitchFamily="34" charset="0"/>
                        <a:buNone/>
                      </a:pPr>
                      <a:endParaRPr lang="en-US" sz="1600">
                        <a:solidFill>
                          <a:schemeClr val="tx1"/>
                        </a:solidFill>
                      </a:endParaRPr>
                    </a:p>
                  </a:txBody>
                  <a:tcPr marL="45720" marR="45720"/>
                </a:tc>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nvPr>
        </p:nvGraphicFramePr>
        <p:xfrm>
          <a:off x="-20876" y="20876"/>
          <a:ext cx="12211912" cy="8680681"/>
        </p:xfrm>
        <a:graphic>
          <a:graphicData uri="http://schemas.openxmlformats.org/drawingml/2006/table">
            <a:tbl>
              <a:tblPr firstRow="1" bandRow="1">
                <a:tableStyleId>{5C22544A-7EE6-4342-B048-85BDC9FD1C3A}</a:tableStyleId>
              </a:tblPr>
              <a:tblGrid>
                <a:gridCol w="602314"/>
                <a:gridCol w="2479300"/>
                <a:gridCol w="1148601"/>
                <a:gridCol w="2241176"/>
                <a:gridCol w="3277720"/>
                <a:gridCol w="2462801"/>
              </a:tblGrid>
              <a:tr h="573001">
                <a:tc>
                  <a:txBody>
                    <a:bodyPr/>
                    <a:lstStyle/>
                    <a:p>
                      <a:pPr fontAlgn="base"/>
                      <a:r>
                        <a:rPr lang="en-US" sz="1400">
                          <a:effectLst/>
                        </a:rPr>
                        <a:t>Ref No.​</a:t>
                      </a:r>
                      <a:endParaRPr lang="en-US" b="1">
                        <a:solidFill>
                          <a:srgbClr val="FFFFFF"/>
                        </a:solidFill>
                        <a:effectLst/>
                      </a:endParaRPr>
                    </a:p>
                  </a:txBody>
                  <a:tcPr/>
                </a:tc>
                <a:tc>
                  <a:txBody>
                    <a:bodyPr/>
                    <a:lstStyle/>
                    <a:p>
                      <a:pPr fontAlgn="base"/>
                      <a:r>
                        <a:rPr lang="en-US" sz="1400">
                          <a:effectLst/>
                        </a:rPr>
                        <a:t>Title of paper​</a:t>
                      </a:r>
                      <a:endParaRPr lang="en-US" b="1">
                        <a:solidFill>
                          <a:srgbClr val="FFFFFF"/>
                        </a:solidFill>
                        <a:effectLst/>
                      </a:endParaRPr>
                    </a:p>
                  </a:txBody>
                  <a:tcPr/>
                </a:tc>
                <a:tc>
                  <a:txBody>
                    <a:bodyPr/>
                    <a:lstStyle/>
                    <a:p>
                      <a:pPr fontAlgn="base"/>
                      <a:r>
                        <a:rPr lang="en-US" sz="1400">
                          <a:effectLst/>
                        </a:rPr>
                        <a:t>Year</a:t>
                      </a:r>
                      <a:endParaRPr lang="en-US" sz="1400">
                        <a:effectLst/>
                      </a:endParaRPr>
                    </a:p>
                  </a:txBody>
                  <a:tcPr/>
                </a:tc>
                <a:tc>
                  <a:txBody>
                    <a:bodyPr/>
                    <a:lstStyle/>
                    <a:p>
                      <a:pPr fontAlgn="base"/>
                      <a:r>
                        <a:rPr lang="en-US" sz="1400">
                          <a:effectLst/>
                        </a:rPr>
                        <a:t>Author</a:t>
                      </a:r>
                      <a:endParaRPr lang="en-US" sz="1400">
                        <a:effectLst/>
                      </a:endParaRPr>
                    </a:p>
                  </a:txBody>
                  <a:tcPr/>
                </a:tc>
                <a:tc>
                  <a:txBody>
                    <a:bodyPr/>
                    <a:lstStyle/>
                    <a:p>
                      <a:pPr fontAlgn="base"/>
                      <a:r>
                        <a:rPr lang="en-US" sz="1400">
                          <a:effectLst/>
                        </a:rPr>
                        <a:t>Key Findings</a:t>
                      </a:r>
                      <a:endParaRPr lang="en-US" sz="1400">
                        <a:effectLst/>
                      </a:endParaRPr>
                    </a:p>
                  </a:txBody>
                  <a:tcPr/>
                </a:tc>
                <a:tc>
                  <a:txBody>
                    <a:bodyPr/>
                    <a:lstStyle/>
                    <a:p>
                      <a:pPr fontAlgn="base"/>
                      <a:r>
                        <a:rPr lang="en-US" sz="1400">
                          <a:effectLst/>
                        </a:rPr>
                        <a:t>Research gap​</a:t>
                      </a:r>
                      <a:endParaRPr lang="en-US" b="1">
                        <a:solidFill>
                          <a:srgbClr val="FFFFFF"/>
                        </a:solidFill>
                        <a:effectLst/>
                      </a:endParaRPr>
                    </a:p>
                  </a:txBody>
                  <a:tcPr/>
                </a:tc>
              </a:tr>
              <a:tr h="3838222">
                <a:tc>
                  <a:txBody>
                    <a:bodyPr/>
                    <a:lstStyle/>
                    <a:p>
                      <a:pPr fontAlgn="base"/>
                      <a:r>
                        <a:rPr lang="en-US" sz="1400" b="1">
                          <a:effectLst/>
                        </a:rPr>
                        <a:t>1.</a:t>
                      </a:r>
                      <a:endParaRPr lang="en-US" sz="1400" b="1">
                        <a:effectLst/>
                      </a:endParaRPr>
                    </a:p>
                  </a:txBody>
                  <a:tcPr/>
                </a:tc>
                <a:tc>
                  <a:txBody>
                    <a:bodyPr/>
                    <a:lstStyle/>
                    <a:p>
                      <a:pPr lvl="0">
                        <a:buNone/>
                      </a:pPr>
                      <a:r>
                        <a:rPr lang="en-IN" altLang="en-US" sz="1800" b="0" i="0" u="none" strike="noStrike" noProof="0">
                          <a:effectLst/>
                          <a:latin typeface="Calibri" panose="020F0502020204030204"/>
                          <a:cs typeface="Calibri" panose="020F0502020204030204"/>
                          <a:hlinkClick r:id="rId1"/>
                        </a:rPr>
                        <a:t>"Readability Enhancement of Displayed Images Under Ambient Light."</a:t>
                      </a:r>
                      <a:endParaRPr lang="en-IN" altLang="en-US" sz="1800" b="0" i="0" u="none" strike="noStrike" noProof="0">
                        <a:effectLst/>
                        <a:latin typeface="Calibri" panose="020F0502020204030204"/>
                        <a:cs typeface="Calibri" panose="020F0502020204030204"/>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panose="020F0502020204030204"/>
                        </a:rPr>
                        <a:t>2018,July.</a:t>
                      </a:r>
                      <a:endParaRPr lang="en-US" sz="1800" b="0" i="0" u="none" strike="noStrike" noProof="0">
                        <a:solidFill>
                          <a:srgbClr val="231F20"/>
                        </a:solidFill>
                        <a:effectLst/>
                        <a:latin typeface="Calibri" panose="020F0502020204030204"/>
                      </a:endParaRPr>
                    </a:p>
                  </a:txBody>
                  <a:tcPr/>
                </a:tc>
                <a:tc>
                  <a:txBody>
                    <a:bodyPr/>
                    <a:lstStyle/>
                    <a:p>
                      <a:pPr lvl="0" algn="l">
                        <a:lnSpc>
                          <a:spcPct val="100000"/>
                        </a:lnSpc>
                        <a:spcBef>
                          <a:spcPts val="0"/>
                        </a:spcBef>
                        <a:spcAft>
                          <a:spcPts val="0"/>
                        </a:spcAft>
                        <a:buNone/>
                      </a:pPr>
                      <a:r>
                        <a:rPr lang="en-IN" sz="1400" b="0" i="0" u="none" strike="noStrike" kern="1200" noProof="0" err="1">
                          <a:solidFill>
                            <a:srgbClr val="000000"/>
                          </a:solidFill>
                          <a:effectLst/>
                          <a:latin typeface="Verdana" panose="020B0604030504040204" pitchFamily="34" charset="0"/>
                          <a:cs typeface="Verdana" panose="020B0604030504040204" pitchFamily="34" charset="0"/>
                        </a:rPr>
                        <a:t>Haonan</a:t>
                      </a:r>
                      <a:r>
                        <a:rPr lang="en-IN" sz="1400" b="0" i="0" u="none" strike="noStrike" kern="1200" noProof="0">
                          <a:solidFill>
                            <a:srgbClr val="000000"/>
                          </a:solidFill>
                          <a:effectLst/>
                          <a:latin typeface="Verdana" panose="020B0604030504040204" pitchFamily="34" charset="0"/>
                          <a:cs typeface="Verdana" panose="020B0604030504040204" pitchFamily="34" charset="0"/>
                        </a:rPr>
                        <a:t> Su, </a:t>
                      </a:r>
                      <a:r>
                        <a:rPr lang="en-IN" sz="1400" b="0" i="0" u="none" strike="noStrike" kern="1200" noProof="0" err="1">
                          <a:solidFill>
                            <a:srgbClr val="000000"/>
                          </a:solidFill>
                          <a:effectLst/>
                          <a:latin typeface="Verdana" panose="020B0604030504040204" pitchFamily="34" charset="0"/>
                          <a:cs typeface="Verdana" panose="020B0604030504040204" pitchFamily="34" charset="0"/>
                        </a:rPr>
                        <a:t>Cheolkon</a:t>
                      </a:r>
                      <a:r>
                        <a:rPr lang="en-IN" sz="1400" b="0" i="0" u="none" strike="noStrike" kern="1200" noProof="0">
                          <a:solidFill>
                            <a:srgbClr val="000000"/>
                          </a:solidFill>
                          <a:effectLst/>
                          <a:latin typeface="Verdana" panose="020B0604030504040204" pitchFamily="34" charset="0"/>
                          <a:cs typeface="Verdana" panose="020B0604030504040204" pitchFamily="34" charset="0"/>
                        </a:rPr>
                        <a:t> Jung, Member, IEEE, Shuyao Wang and </a:t>
                      </a:r>
                      <a:r>
                        <a:rPr lang="en-IN" sz="1400" b="0" i="0" u="none" strike="noStrike" kern="1200" noProof="0" err="1">
                          <a:solidFill>
                            <a:srgbClr val="000000"/>
                          </a:solidFill>
                          <a:effectLst/>
                          <a:latin typeface="Verdana" panose="020B0604030504040204" pitchFamily="34" charset="0"/>
                          <a:cs typeface="Verdana" panose="020B0604030504040204" pitchFamily="34" charset="0"/>
                        </a:rPr>
                        <a:t>Yuanjia</a:t>
                      </a:r>
                      <a:r>
                        <a:rPr lang="en-IN" sz="1400" b="0" i="0" u="none" strike="noStrike" kern="1200" noProof="0">
                          <a:solidFill>
                            <a:srgbClr val="000000"/>
                          </a:solidFill>
                          <a:effectLst/>
                          <a:latin typeface="Verdana" panose="020B0604030504040204" pitchFamily="34" charset="0"/>
                          <a:cs typeface="Verdana" panose="020B0604030504040204" pitchFamily="34" charset="0"/>
                        </a:rPr>
                        <a:t> Du</a:t>
                      </a:r>
                      <a:r>
                        <a:rPr lang="en-IN" sz="1800" b="0" i="0" u="none" strike="noStrike" kern="1200" noProof="0">
                          <a:solidFill>
                            <a:srgbClr val="000000"/>
                          </a:solidFill>
                          <a:effectLst/>
                          <a:latin typeface="Calibri" panose="020F0502020204030204"/>
                        </a:rPr>
                        <a:t>.</a:t>
                      </a:r>
                      <a:endParaRPr lang="en-US" sz="1800" b="0" i="0" u="none" strike="noStrike" kern="1200" noProof="0">
                        <a:solidFill>
                          <a:srgbClr val="000000"/>
                        </a:solidFill>
                        <a:effectLst/>
                        <a:latin typeface="Calibri" panose="020F0502020204030204"/>
                      </a:endParaRPr>
                    </a:p>
                    <a:p>
                      <a:pPr lvl="0" algn="just">
                        <a:buNone/>
                      </a:pPr>
                      <a:endParaRPr lang="en-US" sz="1600" b="0" i="0" u="none" strike="noStrike" kern="1200" noProof="0">
                        <a:solidFill>
                          <a:schemeClr val="dk1"/>
                        </a:solidFill>
                        <a:effectLst/>
                        <a:latin typeface="Calibri" panose="020F0502020204030204"/>
                      </a:endParaRPr>
                    </a:p>
                  </a:txBody>
                  <a:tcPr/>
                </a:tc>
                <a:tc>
                  <a:txBody>
                    <a:bodyPr/>
                    <a:lstStyle/>
                    <a:p>
                      <a:pPr lvl="0" algn="just">
                        <a:lnSpc>
                          <a:spcPct val="100000"/>
                        </a:lnSpc>
                        <a:spcBef>
                          <a:spcPts val="0"/>
                        </a:spcBef>
                        <a:spcAft>
                          <a:spcPts val="0"/>
                        </a:spcAft>
                        <a:buNone/>
                      </a:pPr>
                      <a:r>
                        <a:rPr lang="en-US" sz="1400" b="0" i="0" u="none" strike="noStrike" noProof="0">
                          <a:solidFill>
                            <a:srgbClr val="231F20"/>
                          </a:solidFill>
                          <a:effectLst/>
                          <a:latin typeface="Verdana" panose="020B0604030504040204" pitchFamily="34" charset="0"/>
                          <a:cs typeface="Verdana" panose="020B0604030504040204" pitchFamily="34" charset="0"/>
                        </a:rPr>
                        <a:t>Image quality in mobile displays is </a:t>
                      </a:r>
                      <a:r>
                        <a:rPr lang="en-US" sz="1400" b="0" i="0" u="none" strike="noStrike" noProof="0">
                          <a:solidFill>
                            <a:srgbClr val="231F20"/>
                          </a:solidFill>
                          <a:effectLst/>
                          <a:latin typeface="Verdana" panose="020B0604030504040204" pitchFamily="34" charset="0"/>
                          <a:cs typeface="Verdana" panose="020B0604030504040204" pitchFamily="34" charset="0"/>
                        </a:rPr>
                        <a:t>considerably influenced by ambient light. In the daylight condition, images on mobile displays are darkly perceived by the human visual system due to the limited dynamic range of display, which causes loss of luminance and details. In this paper, we propose readability </a:t>
                      </a:r>
                      <a:endParaRPr lang="en-US" sz="1400" b="0" i="0" u="none" strike="noStrike" noProof="0">
                        <a:solidFill>
                          <a:srgbClr val="000000"/>
                        </a:solidFill>
                        <a:effectLst/>
                        <a:latin typeface="Verdana" panose="020B0604030504040204" pitchFamily="34" charset="0"/>
                        <a:cs typeface="Verdana" panose="020B0604030504040204" pitchFamily="34" charset="0"/>
                      </a:endParaRPr>
                    </a:p>
                    <a:p>
                      <a:pPr lvl="0" algn="just">
                        <a:lnSpc>
                          <a:spcPct val="100000"/>
                        </a:lnSpc>
                        <a:spcBef>
                          <a:spcPts val="0"/>
                        </a:spcBef>
                        <a:spcAft>
                          <a:spcPts val="0"/>
                        </a:spcAft>
                        <a:buNone/>
                      </a:pPr>
                      <a:r>
                        <a:rPr lang="en-US" sz="1400" b="0" i="0" u="none" strike="noStrike" noProof="0">
                          <a:solidFill>
                            <a:srgbClr val="231F20"/>
                          </a:solidFill>
                          <a:effectLst/>
                          <a:latin typeface="Verdana" panose="020B0604030504040204" pitchFamily="34" charset="0"/>
                          <a:cs typeface="Verdana" panose="020B0604030504040204" pitchFamily="34" charset="0"/>
                        </a:rPr>
                        <a:t>enhancement of displayed images under ambient light by enhancing both luminance and details.</a:t>
                      </a:r>
                      <a:r>
                        <a:rPr lang="en-US" sz="1400" b="0" i="0" u="none" strike="noStrike" noProof="0">
                          <a:effectLst/>
                          <a:latin typeface="Verdana" panose="020B0604030504040204" pitchFamily="34" charset="0"/>
                          <a:cs typeface="Verdana" panose="020B0604030504040204" pitchFamily="34" charset="0"/>
                        </a:rPr>
                        <a:t> </a:t>
                      </a:r>
                      <a:endParaRPr lang="en-US" sz="1400">
                        <a:latin typeface="Verdana" panose="020B0604030504040204" pitchFamily="34" charset="0"/>
                        <a:cs typeface="Verdana" panose="020B0604030504040204" pitchFamily="34" charset="0"/>
                      </a:endParaRPr>
                    </a:p>
                  </a:txBody>
                  <a:tcPr/>
                </a:tc>
                <a:tc>
                  <a:txBody>
                    <a:bodyPr/>
                    <a:lstStyle/>
                    <a:p>
                      <a:pPr lvl="0" algn="just">
                        <a:lnSpc>
                          <a:spcPct val="100000"/>
                        </a:lnSpc>
                        <a:spcBef>
                          <a:spcPct val="0"/>
                        </a:spcBef>
                        <a:spcAft>
                          <a:spcPct val="0"/>
                        </a:spcAft>
                        <a:buNone/>
                      </a:pPr>
                      <a:r>
                        <a:rPr lang="en-US" sz="1400" b="0" i="0" u="none" strike="noStrike" noProof="0">
                          <a:latin typeface="Verdana" panose="020B0604030504040204" pitchFamily="34" charset="0"/>
                          <a:cs typeface="Verdana" panose="020B0604030504040204" pitchFamily="34" charset="0"/>
                        </a:rPr>
                        <a:t>Exploration of the broader applicability of this framework to different types of displays beyond mobile screens, such as larger displays used in outdoor billboards or automotive screens, where ambient light conditions and viewing distances vary significantly. </a:t>
                      </a:r>
                      <a:endParaRPr lang="en-US" sz="1400" b="0" i="0" u="none" strike="noStrike" noProof="0">
                        <a:latin typeface="Verdana" panose="020B0604030504040204" pitchFamily="34" charset="0"/>
                        <a:cs typeface="Verdana" panose="020B0604030504040204" pitchFamily="34" charset="0"/>
                      </a:endParaRPr>
                    </a:p>
                  </a:txBody>
                  <a:tcPr marL="45720" marR="45720"/>
                </a:tc>
              </a:tr>
              <a:tr h="3151654">
                <a:tc>
                  <a:txBody>
                    <a:bodyPr/>
                    <a:lstStyle/>
                    <a:p>
                      <a:pPr fontAlgn="base"/>
                      <a:r>
                        <a:rPr lang="en-US" sz="1400" b="1">
                          <a:effectLst/>
                        </a:rPr>
                        <a:t>2​.</a:t>
                      </a:r>
                      <a:endParaRPr lang="en-US" b="1">
                        <a:effectLst/>
                      </a:endParaRPr>
                    </a:p>
                  </a:txBody>
                  <a:tcPr/>
                </a:tc>
                <a:tc>
                  <a:txBody>
                    <a:bodyPr/>
                    <a:lstStyle/>
                    <a:p>
                      <a:pPr fontAlgn="base"/>
                      <a:r>
                        <a:rPr lang="en-US" sz="1800">
                          <a:effectLst/>
                          <a:cs typeface="+mn-lt"/>
                        </a:rPr>
                        <a:t>​</a:t>
                      </a:r>
                      <a:r>
                        <a:rPr lang="en-US" sz="1800">
                          <a:effectLst/>
                          <a:cs typeface="+mn-lt"/>
                          <a:hlinkClick r:id="rId2"/>
                        </a:rPr>
                        <a:t>"Structure-Revealing Low-Light Image Enhancement Via Robust Retinex Model."</a:t>
                      </a:r>
                      <a:endParaRPr lang="en-IN" sz="1800" b="0" i="0" u="none" strike="noStrike" noProof="0">
                        <a:solidFill>
                          <a:srgbClr val="000000"/>
                        </a:solidFill>
                        <a:effectLst/>
                        <a:latin typeface="Calibri" panose="020F0502020204030204"/>
                      </a:endParaRPr>
                    </a:p>
                  </a:txBody>
                  <a:tcPr/>
                </a:tc>
                <a:tc>
                  <a:txBody>
                    <a:bodyPr/>
                    <a:lstStyle/>
                    <a:p>
                      <a:pPr lvl="0" algn="l">
                        <a:lnSpc>
                          <a:spcPct val="100000"/>
                        </a:lnSpc>
                        <a:spcBef>
                          <a:spcPct val="0"/>
                        </a:spcBef>
                        <a:spcAft>
                          <a:spcPct val="0"/>
                        </a:spcAft>
                        <a:buNone/>
                      </a:pPr>
                      <a:r>
                        <a:rPr lang="en-US" sz="1600" b="0" i="0" u="none" strike="noStrike" kern="1200" noProof="0">
                          <a:solidFill>
                            <a:schemeClr val="dk1"/>
                          </a:solidFill>
                          <a:effectLst/>
                        </a:rPr>
                        <a:t>2018,June.</a:t>
                      </a:r>
                      <a:endParaRPr lang="en-US" sz="1600" b="0" i="0" u="none" strike="noStrike" kern="1200" noProof="0">
                        <a:solidFill>
                          <a:schemeClr val="dk1"/>
                        </a:solidFill>
                        <a:effectLst/>
                      </a:endParaRPr>
                    </a:p>
                  </a:txBody>
                  <a:tcPr/>
                </a:tc>
                <a:tc>
                  <a:txBody>
                    <a:bodyPr/>
                    <a:lstStyle/>
                    <a:p>
                      <a:pPr lvl="0" algn="l">
                        <a:lnSpc>
                          <a:spcPct val="100000"/>
                        </a:lnSpc>
                        <a:spcBef>
                          <a:spcPts val="0"/>
                        </a:spcBef>
                        <a:spcAft>
                          <a:spcPts val="0"/>
                        </a:spcAft>
                        <a:buNone/>
                      </a:pPr>
                      <a:r>
                        <a:rPr lang="en-US" sz="1400" b="0" i="0" u="none" strike="noStrike" kern="1200" noProof="0">
                          <a:solidFill>
                            <a:srgbClr val="231F20"/>
                          </a:solidFill>
                          <a:effectLst/>
                          <a:latin typeface="Verdana" panose="020B0604030504040204" pitchFamily="34" charset="0"/>
                          <a:cs typeface="Verdana" panose="020B0604030504040204" pitchFamily="34" charset="0"/>
                        </a:rPr>
                        <a:t>Mading Li, Jiaying Liu , </a:t>
                      </a:r>
                      <a:r>
                        <a:rPr lang="en-US" sz="1400" b="0" i="1" u="none" strike="noStrike" kern="1200" noProof="0">
                          <a:solidFill>
                            <a:srgbClr val="231F20"/>
                          </a:solidFill>
                          <a:effectLst/>
                          <a:latin typeface="Verdana" panose="020B0604030504040204" pitchFamily="34" charset="0"/>
                          <a:cs typeface="Verdana" panose="020B0604030504040204" pitchFamily="34" charset="0"/>
                        </a:rPr>
                        <a:t>Senior Member, IEEE</a:t>
                      </a:r>
                      <a:r>
                        <a:rPr lang="en-US" sz="1400" b="0" i="0" u="none" strike="noStrike" kern="1200" noProof="0">
                          <a:solidFill>
                            <a:srgbClr val="231F20"/>
                          </a:solidFill>
                          <a:effectLst/>
                          <a:latin typeface="Verdana" panose="020B0604030504040204" pitchFamily="34" charset="0"/>
                          <a:cs typeface="Verdana" panose="020B0604030504040204" pitchFamily="34" charset="0"/>
                        </a:rPr>
                        <a:t>, </a:t>
                      </a:r>
                      <a:r>
                        <a:rPr lang="en-US" sz="1400" b="0" i="0" u="none" strike="noStrike" kern="1200" noProof="0" err="1">
                          <a:solidFill>
                            <a:srgbClr val="231F20"/>
                          </a:solidFill>
                          <a:effectLst/>
                          <a:latin typeface="Verdana" panose="020B0604030504040204" pitchFamily="34" charset="0"/>
                          <a:cs typeface="Verdana" panose="020B0604030504040204" pitchFamily="34" charset="0"/>
                        </a:rPr>
                        <a:t>Wenhan</a:t>
                      </a:r>
                      <a:r>
                        <a:rPr lang="en-US" sz="1400" b="0" i="0" u="none" strike="noStrike" kern="1200" noProof="0">
                          <a:solidFill>
                            <a:srgbClr val="231F20"/>
                          </a:solidFill>
                          <a:effectLst/>
                          <a:latin typeface="Verdana" panose="020B0604030504040204" pitchFamily="34" charset="0"/>
                          <a:cs typeface="Verdana" panose="020B0604030504040204" pitchFamily="34" charset="0"/>
                        </a:rPr>
                        <a:t> Yang, Xiaoyan Sun, </a:t>
                      </a:r>
                      <a:r>
                        <a:rPr lang="en-US" sz="1400" b="0" i="1" u="none" strike="noStrike" kern="1200" noProof="0">
                          <a:solidFill>
                            <a:srgbClr val="231F20"/>
                          </a:solidFill>
                          <a:effectLst/>
                          <a:latin typeface="Verdana" panose="020B0604030504040204" pitchFamily="34" charset="0"/>
                          <a:cs typeface="Verdana" panose="020B0604030504040204" pitchFamily="34" charset="0"/>
                        </a:rPr>
                        <a:t>Senior Member, IEEE</a:t>
                      </a:r>
                      <a:r>
                        <a:rPr lang="en-US" sz="1400" b="0" i="0" u="none" strike="noStrike" kern="1200" noProof="0">
                          <a:solidFill>
                            <a:srgbClr val="231F20"/>
                          </a:solidFill>
                          <a:effectLst/>
                          <a:latin typeface="Verdana" panose="020B0604030504040204" pitchFamily="34" charset="0"/>
                          <a:cs typeface="Verdana" panose="020B0604030504040204" pitchFamily="34" charset="0"/>
                        </a:rPr>
                        <a:t>, </a:t>
                      </a:r>
                      <a:endParaRPr lang="en-US" sz="1400">
                        <a:latin typeface="Verdana" panose="020B0604030504040204" pitchFamily="34" charset="0"/>
                        <a:cs typeface="Verdana" panose="020B0604030504040204" pitchFamily="34" charset="0"/>
                      </a:endParaRPr>
                    </a:p>
                    <a:p>
                      <a:pPr lvl="0" algn="l">
                        <a:lnSpc>
                          <a:spcPct val="100000"/>
                        </a:lnSpc>
                        <a:spcBef>
                          <a:spcPts val="0"/>
                        </a:spcBef>
                        <a:spcAft>
                          <a:spcPts val="0"/>
                        </a:spcAft>
                        <a:buNone/>
                      </a:pPr>
                      <a:r>
                        <a:rPr lang="en-US" sz="1400" b="0" i="0" u="none" strike="noStrike" kern="1200" noProof="0">
                          <a:solidFill>
                            <a:srgbClr val="231F20"/>
                          </a:solidFill>
                          <a:effectLst/>
                          <a:latin typeface="Verdana" panose="020B0604030504040204" pitchFamily="34" charset="0"/>
                          <a:cs typeface="Verdana" panose="020B0604030504040204" pitchFamily="34" charset="0"/>
                        </a:rPr>
                        <a:t>and </a:t>
                      </a:r>
                      <a:r>
                        <a:rPr lang="en-US" sz="1400" b="0" i="0" u="none" strike="noStrike" kern="1200" noProof="0" err="1">
                          <a:solidFill>
                            <a:srgbClr val="231F20"/>
                          </a:solidFill>
                          <a:effectLst/>
                          <a:latin typeface="Verdana" panose="020B0604030504040204" pitchFamily="34" charset="0"/>
                          <a:cs typeface="Verdana" panose="020B0604030504040204" pitchFamily="34" charset="0"/>
                        </a:rPr>
                        <a:t>Zongming</a:t>
                      </a:r>
                      <a:r>
                        <a:rPr lang="en-US" sz="1400" b="0" i="0" u="none" strike="noStrike" kern="1200" noProof="0">
                          <a:solidFill>
                            <a:srgbClr val="231F20"/>
                          </a:solidFill>
                          <a:effectLst/>
                          <a:latin typeface="Verdana" panose="020B0604030504040204" pitchFamily="34" charset="0"/>
                          <a:cs typeface="Verdana" panose="020B0604030504040204" pitchFamily="34" charset="0"/>
                        </a:rPr>
                        <a:t> Guo, </a:t>
                      </a:r>
                      <a:r>
                        <a:rPr lang="en-US" sz="1400" b="0" i="1" u="none" strike="noStrike" kern="1200" noProof="0">
                          <a:solidFill>
                            <a:srgbClr val="231F20"/>
                          </a:solidFill>
                          <a:effectLst/>
                          <a:latin typeface="Verdana" panose="020B0604030504040204" pitchFamily="34" charset="0"/>
                          <a:cs typeface="Verdana" panose="020B0604030504040204" pitchFamily="34" charset="0"/>
                        </a:rPr>
                        <a:t>Member, IEEE</a:t>
                      </a:r>
                      <a:endParaRPr lang="en-US" sz="1400">
                        <a:latin typeface="Verdana" panose="020B0604030504040204" pitchFamily="34" charset="0"/>
                        <a:cs typeface="Verdana" panose="020B0604030504040204" pitchFamily="34" charset="0"/>
                      </a:endParaRPr>
                    </a:p>
                    <a:p>
                      <a:pPr lvl="0">
                        <a:buNone/>
                      </a:pPr>
                      <a:endParaRPr lang="en-US" sz="1400" b="0" i="0" u="none" strike="noStrike" kern="1200" noProof="0">
                        <a:solidFill>
                          <a:schemeClr val="dk1"/>
                        </a:solidFill>
                        <a:effectLst/>
                        <a:latin typeface="Verdana" panose="020B0604030504040204" pitchFamily="34" charset="0"/>
                        <a:cs typeface="Verdana" panose="020B0604030504040204" pitchFamily="34" charset="0"/>
                      </a:endParaRPr>
                    </a:p>
                  </a:txBody>
                  <a:tcPr/>
                </a:tc>
                <a:tc>
                  <a:txBody>
                    <a:bodyPr/>
                    <a:lstStyle/>
                    <a:p>
                      <a:pPr marL="0" lvl="0" indent="0" algn="just">
                        <a:lnSpc>
                          <a:spcPct val="100000"/>
                        </a:lnSpc>
                        <a:spcBef>
                          <a:spcPct val="0"/>
                        </a:spcBef>
                        <a:spcAft>
                          <a:spcPct val="0"/>
                        </a:spcAft>
                        <a:buNone/>
                      </a:pPr>
                      <a:r>
                        <a:rPr lang="en-US" sz="1400" b="0" i="0" u="none" strike="noStrike" kern="1200" noProof="0">
                          <a:solidFill>
                            <a:schemeClr val="tx1"/>
                          </a:solidFill>
                          <a:latin typeface="Verdana" panose="020B0604030504040204" pitchFamily="34" charset="0"/>
                          <a:cs typeface="Verdana" panose="020B0604030504040204" pitchFamily="34" charset="0"/>
                        </a:rPr>
                        <a:t>The method involves decomposing the image into reflectance and  illumination components and then adjusting the illumination to enhance the image. RRM it ensures that noise is handled appropriately during this process.</a:t>
                      </a:r>
                      <a:endParaRPr lang="en-US" sz="1400" b="0" i="0" u="none" strike="noStrike" kern="1200" noProof="0">
                        <a:solidFill>
                          <a:schemeClr val="tx1"/>
                        </a:solidFill>
                        <a:latin typeface="Verdana" panose="020B0604030504040204" pitchFamily="34" charset="0"/>
                        <a:cs typeface="Verdana" panose="020B0604030504040204" pitchFamily="34" charset="0"/>
                      </a:endParaRPr>
                    </a:p>
                  </a:txBody>
                  <a:tcPr/>
                </a:tc>
                <a:tc>
                  <a:txBody>
                    <a:bodyPr/>
                    <a:lstStyle/>
                    <a:p>
                      <a:pPr lvl="0" indent="0" algn="just">
                        <a:buNone/>
                      </a:pPr>
                      <a:r>
                        <a:rPr lang="en-US" sz="1400" b="0" i="0" u="none" strike="noStrike" noProof="0">
                          <a:solidFill>
                            <a:schemeClr val="tx1"/>
                          </a:solidFill>
                          <a:effectLst/>
                          <a:latin typeface="Verdana" panose="020B0604030504040204" pitchFamily="34" charset="0"/>
                          <a:cs typeface="Verdana" panose="020B0604030504040204" pitchFamily="34" charset="0"/>
                        </a:rPr>
                        <a:t>Traditional methods based on the Retinex model do not account for the noise inherent in low-light images, often leading to suboptimal enhancement results where noise is amplified or details are lost. Additionally, the use of log</a:t>
                      </a:r>
                      <a:r>
                        <a:rPr lang="en-IN" altLang="en-US" sz="1400" b="0" i="0" u="none" strike="noStrike" noProof="0">
                          <a:solidFill>
                            <a:schemeClr val="tx1"/>
                          </a:solidFill>
                          <a:effectLst/>
                          <a:latin typeface="Verdana" panose="020B0604030504040204" pitchFamily="34" charset="0"/>
                          <a:cs typeface="Verdana" panose="020B0604030504040204" pitchFamily="34" charset="0"/>
                        </a:rPr>
                        <a:t>a</a:t>
                      </a:r>
                      <a:r>
                        <a:rPr lang="en-US" sz="1400" b="0" i="0" u="none" strike="noStrike" noProof="0">
                          <a:solidFill>
                            <a:schemeClr val="tx1"/>
                          </a:solidFill>
                          <a:effectLst/>
                          <a:latin typeface="Verdana" panose="020B0604030504040204" pitchFamily="34" charset="0"/>
                          <a:cs typeface="Verdana" panose="020B0604030504040204" pitchFamily="34" charset="0"/>
                        </a:rPr>
                        <a:t>rithmic transformations in these methods can exacerbate the issue. </a:t>
                      </a:r>
                      <a:endParaRPr lang="en-US" sz="1400" b="0" i="0" u="none" strike="noStrike" noProof="0">
                        <a:solidFill>
                          <a:schemeClr val="tx1"/>
                        </a:solidFill>
                        <a:effectLst/>
                        <a:latin typeface="Verdana" panose="020B0604030504040204" pitchFamily="34" charset="0"/>
                        <a:cs typeface="Verdana" panose="020B0604030504040204" pitchFamily="34" charset="0"/>
                      </a:endParaRPr>
                    </a:p>
                    <a:p>
                      <a:pPr lvl="0" indent="0">
                        <a:buNone/>
                      </a:pPr>
                      <a:endParaRPr lang="en-US" sz="1400" b="0" i="0" u="none" strike="noStrike" noProof="0">
                        <a:solidFill>
                          <a:schemeClr val="tx1"/>
                        </a:solidFill>
                        <a:effectLst/>
                        <a:latin typeface="Verdana" panose="020B0604030504040204" pitchFamily="34" charset="0"/>
                        <a:cs typeface="Verdana" panose="020B0604030504040204" pitchFamily="34" charset="0"/>
                      </a:endParaRPr>
                    </a:p>
                  </a:txBody>
                  <a:tcPr marL="45720" marR="45720"/>
                </a:tc>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
        <p:cNvGrpSpPr/>
        <p:nvPr/>
      </p:nvGrpSpPr>
      <p:grpSpPr>
        <a:xfrm>
          <a:off x="0" y="0"/>
          <a:ext cx="0" cy="0"/>
          <a:chOff x="0" y="0"/>
          <a:chExt cx="0" cy="0"/>
        </a:xfrm>
      </p:grpSpPr>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panose="00000500000000000000"/>
                <a:sym typeface="Montserrat" panose="00000500000000000000"/>
              </a:rPr>
              <a:t>Architecture  </a:t>
            </a:r>
            <a:endParaRPr dirty="0"/>
          </a:p>
        </p:txBody>
      </p:sp>
      <p:sp>
        <p:nvSpPr>
          <p:cNvPr id="5" name="TextBox 4"/>
          <p:cNvSpPr txBox="1"/>
          <p:nvPr/>
        </p:nvSpPr>
        <p:spPr>
          <a:xfrm>
            <a:off x="2478162" y="5807067"/>
            <a:ext cx="71009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600" b="1" dirty="0"/>
              <a:t>Fig 2:  Flow Chart</a:t>
            </a:r>
            <a:endParaRPr lang="en-US" sz="1600" b="1" dirty="0"/>
          </a:p>
        </p:txBody>
      </p:sp>
      <p:pic>
        <p:nvPicPr>
          <p:cNvPr id="6" name="Picture Placeholder 5" descr="flow_capstn.drawio"/>
          <p:cNvPicPr>
            <a:picLocks noChangeAspect="1"/>
          </p:cNvPicPr>
          <p:nvPr>
            <p:ph type="pic" idx="2"/>
          </p:nvPr>
        </p:nvPicPr>
        <p:blipFill>
          <a:blip r:embed="rId1"/>
          <a:stretch>
            <a:fillRect/>
          </a:stretch>
        </p:blipFill>
        <p:spPr>
          <a:xfrm>
            <a:off x="4661535" y="726440"/>
            <a:ext cx="3142615" cy="483108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731520" y="394335"/>
            <a:ext cx="6096000" cy="460375"/>
          </a:xfrm>
          <a:prstGeom prst="rect">
            <a:avLst/>
          </a:prstGeom>
          <a:noFill/>
        </p:spPr>
        <p:txBody>
          <a:bodyPr wrap="square" rtlCol="0" anchor="t">
            <a:spAutoFit/>
          </a:bodyPr>
          <a:p>
            <a:r>
              <a:rPr lang="en-IN" altLang="en-US" sz="2400" b="1" dirty="0">
                <a:latin typeface="Montserrat" panose="00000500000000000000"/>
                <a:sym typeface="+mn-ea"/>
              </a:rPr>
              <a:t>Retinex Theory</a:t>
            </a:r>
            <a:endParaRPr lang="en-IN" altLang="en-US" sz="2400" b="1" dirty="0">
              <a:latin typeface="Montserrat" panose="00000500000000000000"/>
              <a:sym typeface="+mn-ea"/>
            </a:endParaRPr>
          </a:p>
        </p:txBody>
      </p:sp>
      <p:sp>
        <p:nvSpPr>
          <p:cNvPr id="4" name="Text Box 3"/>
          <p:cNvSpPr txBox="1"/>
          <p:nvPr/>
        </p:nvSpPr>
        <p:spPr>
          <a:xfrm>
            <a:off x="802640" y="1239520"/>
            <a:ext cx="10474325" cy="3538220"/>
          </a:xfrm>
          <a:prstGeom prst="rect">
            <a:avLst/>
          </a:prstGeom>
          <a:noFill/>
        </p:spPr>
        <p:txBody>
          <a:bodyPr wrap="square" rtlCol="0">
            <a:spAutoFit/>
          </a:bodyPr>
          <a:p>
            <a:pPr marL="285750" indent="-285750">
              <a:buChar char="•"/>
            </a:pPr>
            <a:r>
              <a:rPr lang="en-US" sz="1600" dirty="0">
                <a:sym typeface="+mn-ea"/>
              </a:rPr>
              <a:t>Retinex model is an image processing technique used primarily for image enhancement. It is particularly effective in improving images captured under low-light conditions.</a:t>
            </a:r>
            <a:endParaRPr lang="en-US" sz="1600" dirty="0">
              <a:sym typeface="+mn-ea"/>
            </a:endParaRPr>
          </a:p>
          <a:p>
            <a:pPr marL="285750" indent="-285750">
              <a:buChar char="•"/>
            </a:pPr>
            <a:r>
              <a:rPr lang="en-US" sz="1600" dirty="0">
                <a:sym typeface="+mn-ea"/>
              </a:rPr>
              <a:t>The method operates by transforming an image into the frequency domain, where the image's illumination and reflectance components can be separately manipulated.</a:t>
            </a:r>
            <a:endParaRPr lang="en-US" sz="1600" dirty="0">
              <a:sym typeface="+mn-ea"/>
            </a:endParaRPr>
          </a:p>
          <a:p>
            <a:pPr marL="285750" indent="-285750">
              <a:buChar char="•"/>
            </a:pPr>
            <a:endParaRPr lang="en-US" sz="1600" dirty="0">
              <a:sym typeface="+mn-ea"/>
            </a:endParaRPr>
          </a:p>
          <a:p>
            <a:pPr marL="285750" indent="-285750">
              <a:buChar char="•"/>
            </a:pPr>
            <a:endParaRPr lang="en-US" sz="1600" dirty="0">
              <a:sym typeface="+mn-ea"/>
            </a:endParaRPr>
          </a:p>
          <a:p>
            <a:pPr marL="285750" indent="-285750">
              <a:buChar char="•"/>
            </a:pPr>
            <a:endParaRPr lang="en-US" sz="1600" dirty="0">
              <a:sym typeface="+mn-ea"/>
            </a:endParaRPr>
          </a:p>
          <a:p>
            <a:pPr marL="50800" indent="0">
              <a:buNone/>
            </a:pPr>
            <a:r>
              <a:rPr lang="en-US" sz="1600" b="1" dirty="0">
                <a:sym typeface="+mn-ea"/>
              </a:rPr>
              <a:t>Applications:</a:t>
            </a:r>
            <a:endParaRPr lang="en-US" sz="1600" b="1" dirty="0"/>
          </a:p>
          <a:p>
            <a:pPr marL="285750" indent="-285750">
              <a:buFont typeface="Arial" panose="020B0604020202020204" pitchFamily="34" charset="0"/>
              <a:buChar char="•"/>
            </a:pPr>
            <a:r>
              <a:rPr lang="en-US" sz="1600" b="1" dirty="0">
                <a:sym typeface="+mn-ea"/>
              </a:rPr>
              <a:t>Low-Light Image Enhancement</a:t>
            </a:r>
            <a:r>
              <a:rPr lang="en-US" sz="1600" dirty="0">
                <a:sym typeface="+mn-ea"/>
              </a:rPr>
              <a:t>: Improves visibility and detail in images captured under poor lighting conditions.</a:t>
            </a:r>
            <a:endParaRPr lang="en-US" sz="1600" dirty="0"/>
          </a:p>
          <a:p>
            <a:pPr marL="285750" indent="-285750">
              <a:buFont typeface="Arial" panose="020B0604020202020204" pitchFamily="34" charset="0"/>
              <a:buChar char="•"/>
            </a:pPr>
            <a:r>
              <a:rPr lang="en-US" sz="1600" b="1" dirty="0">
                <a:sym typeface="+mn-ea"/>
              </a:rPr>
              <a:t>Medical Imaging</a:t>
            </a:r>
            <a:r>
              <a:rPr lang="en-US" sz="1600" dirty="0">
                <a:sym typeface="+mn-ea"/>
              </a:rPr>
              <a:t>: Enhances features in medical scans, aiding in diagnosis.</a:t>
            </a:r>
            <a:endParaRPr lang="en-US" sz="1600" dirty="0"/>
          </a:p>
          <a:p>
            <a:pPr marL="285750" indent="-285750">
              <a:buFont typeface="Arial" panose="020B0604020202020204" pitchFamily="34" charset="0"/>
              <a:buChar char="•"/>
            </a:pPr>
            <a:r>
              <a:rPr lang="en-US" sz="1600" b="1" dirty="0">
                <a:sym typeface="+mn-ea"/>
              </a:rPr>
              <a:t>Remote Sensing</a:t>
            </a:r>
            <a:r>
              <a:rPr lang="en-US" sz="1600" dirty="0">
                <a:sym typeface="+mn-ea"/>
              </a:rPr>
              <a:t>:</a:t>
            </a:r>
            <a:r>
              <a:rPr lang="en-US" sz="1600" dirty="0">
                <a:sym typeface="+mn-ea"/>
              </a:rPr>
              <a:t> Enhances satellite images for better analysis and interpretation.</a:t>
            </a:r>
            <a:endParaRPr lang="en-US" sz="1600" dirty="0"/>
          </a:p>
          <a:p>
            <a:pPr marL="285750" indent="-285750">
              <a:buChar char="•"/>
            </a:pPr>
            <a:endParaRPr lang="en-US" sz="1600" dirty="0"/>
          </a:p>
          <a:p>
            <a:pPr marL="285750" indent="-285750">
              <a:buChar char="•"/>
            </a:pPr>
            <a:endParaRPr 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dirty="0">
                <a:latin typeface="Montserrat" panose="00000500000000000000"/>
              </a:rPr>
              <a:t>BHSD</a:t>
            </a:r>
            <a:endParaRPr lang="en-US" sz="2400" b="1" i="0" u="none" strike="noStrike" cap="none" dirty="0">
              <a:solidFill>
                <a:srgbClr val="000000"/>
              </a:solidFill>
              <a:latin typeface="Montserrat" panose="00000500000000000000"/>
              <a:ea typeface="Arial" panose="020B0604020202020204"/>
              <a:cs typeface="Arial" panose="020B0604020202020204"/>
            </a:endParaRPr>
          </a:p>
        </p:txBody>
      </p:sp>
      <p:sp>
        <p:nvSpPr>
          <p:cNvPr id="6" name="TextBox 5"/>
          <p:cNvSpPr txBox="1"/>
          <p:nvPr/>
        </p:nvSpPr>
        <p:spPr>
          <a:xfrm>
            <a:off x="756049" y="994065"/>
            <a:ext cx="9926648"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600" b="1" dirty="0"/>
              <a:t>Introduction to the Distribution</a:t>
            </a:r>
            <a:r>
              <a:rPr lang="en-US" sz="1600" dirty="0"/>
              <a:t>:</a:t>
            </a:r>
            <a:endParaRPr lang="en-US" sz="1600" dirty="0"/>
          </a:p>
          <a:p>
            <a:endParaRPr lang="en-US" sz="1600" dirty="0"/>
          </a:p>
          <a:p>
            <a:pPr marL="285750" indent="-285750">
              <a:buChar char="•"/>
            </a:pPr>
            <a:r>
              <a:rPr lang="en-US" sz="1600" dirty="0"/>
              <a:t>The Beta Hyperbolic Secant (BHS) distribution is a flexible probability distribution derived from the hyperbolic secant function.</a:t>
            </a:r>
            <a:endParaRPr lang="en-US" sz="1600" dirty="0"/>
          </a:p>
          <a:p>
            <a:pPr marL="285750" indent="-285750">
              <a:buChar char="•"/>
            </a:pPr>
            <a:r>
              <a:rPr lang="en-US" sz="1600" dirty="0"/>
              <a:t>Combines properties of the beta distribution and the hyperbolic secant distribution, offering tunable shape parameters for diverse applications.</a:t>
            </a:r>
            <a:endParaRPr lang="en-US" sz="1600" dirty="0"/>
          </a:p>
          <a:p>
            <a:pPr marL="285750" indent="-285750" algn="l">
              <a:buChar char="•"/>
            </a:pPr>
            <a:endParaRPr lang="en-US" sz="1600" dirty="0"/>
          </a:p>
          <a:p>
            <a:pPr marL="285750" indent="-285750">
              <a:buChar char="•"/>
            </a:pPr>
            <a:endParaRPr lang="en-US" sz="1600" dirty="0"/>
          </a:p>
          <a:p>
            <a:r>
              <a:rPr lang="en-US" sz="1600" b="1" dirty="0"/>
              <a:t>Key Features</a:t>
            </a:r>
            <a:r>
              <a:rPr lang="en-US" sz="1600" dirty="0"/>
              <a:t>:</a:t>
            </a:r>
            <a:endParaRPr lang="en-US" sz="1600" dirty="0"/>
          </a:p>
          <a:p>
            <a:endParaRPr lang="en-US" sz="1600" dirty="0"/>
          </a:p>
          <a:p>
            <a:pPr>
              <a:buChar char="•"/>
            </a:pPr>
            <a:r>
              <a:rPr lang="en-US" sz="1600" dirty="0"/>
              <a:t>Flexibility: Adjustable shape parameters allow the distribution to model various data patterns, making it suitable for diverse image processing tasks.</a:t>
            </a:r>
            <a:endParaRPr lang="en-US" sz="1600" dirty="0"/>
          </a:p>
          <a:p>
            <a:pPr>
              <a:buChar char="•"/>
            </a:pPr>
            <a:endParaRPr lang="en-US" sz="1600" dirty="0"/>
          </a:p>
          <a:p>
            <a:pPr>
              <a:buChar char="•"/>
            </a:pPr>
            <a:r>
              <a:rPr lang="en-US" sz="1600" dirty="0"/>
              <a:t>Symmetry: The hyperbolic secant component ensures a symmetric probability density function (PDF).</a:t>
            </a:r>
            <a:endParaRPr lang="en-US" sz="1600" dirty="0"/>
          </a:p>
          <a:p>
            <a:pPr>
              <a:buChar char="•"/>
            </a:pPr>
            <a:endParaRPr lang="en-US" sz="1600" dirty="0"/>
          </a:p>
          <a:p>
            <a:pPr>
              <a:buChar char="•"/>
            </a:pPr>
            <a:r>
              <a:rPr lang="en-US" sz="1600" dirty="0"/>
              <a:t>Heavy Tails: Its heavy-tailed nature aids in robust processing by handling outliers effectively.</a:t>
            </a:r>
            <a:endParaRPr lang="en-US" sz="1600" dirty="0"/>
          </a:p>
          <a:p>
            <a:pPr marL="285750" indent="-285750">
              <a:buChar char="•"/>
            </a:pP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294967295"/>
          </p:nvPr>
        </p:nvSpPr>
        <p:spPr>
          <a:xfrm>
            <a:off x="0" y="0"/>
            <a:ext cx="0" cy="0"/>
          </a:xfrm>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algn="ctr">
              <a:buSzPts val="2400"/>
            </a:pPr>
            <a:r>
              <a:rPr lang="en-US" sz="2400" b="1" dirty="0">
                <a:latin typeface="Montserrat" panose="00000500000000000000"/>
              </a:rPr>
              <a:t>Image Fusion</a:t>
            </a:r>
            <a:endParaRPr lang="en-US" sz="2400" b="1" i="0" u="none" strike="noStrike" cap="none" dirty="0">
              <a:solidFill>
                <a:srgbClr val="000000"/>
              </a:solidFill>
              <a:latin typeface="Montserrat" panose="00000500000000000000"/>
            </a:endParaRPr>
          </a:p>
        </p:txBody>
      </p:sp>
      <p:sp>
        <p:nvSpPr>
          <p:cNvPr id="5" name="Text Box 4"/>
          <p:cNvSpPr txBox="1"/>
          <p:nvPr/>
        </p:nvSpPr>
        <p:spPr>
          <a:xfrm>
            <a:off x="295910" y="812800"/>
            <a:ext cx="11513185" cy="4426585"/>
          </a:xfrm>
          <a:prstGeom prst="rect">
            <a:avLst/>
          </a:prstGeom>
          <a:noFill/>
        </p:spPr>
        <p:txBody>
          <a:bodyPr wrap="square" rtlCol="0">
            <a:noAutofit/>
          </a:bodyPr>
          <a:p>
            <a:r>
              <a:rPr lang="en-US" altLang="en-US" sz="1600">
                <a:latin typeface="Arial" panose="020B0604020202020204" pitchFamily="34" charset="0"/>
                <a:cs typeface="Arial" panose="020B0604020202020204" pitchFamily="34" charset="0"/>
              </a:rPr>
              <a:t>Image fusion is the process of combining multiple images (or different versions of the same image) into a single composite image that contains the best features of each input image. The goal is to improve the overall quality of the image by enhancing details, reducing noise, and improving visual clarity.</a:t>
            </a:r>
            <a:endParaRPr lang="en-US" altLang="en-US" sz="1600">
              <a:latin typeface="Arial" panose="020B0604020202020204" pitchFamily="34" charset="0"/>
              <a:cs typeface="Arial" panose="020B0604020202020204" pitchFamily="34" charset="0"/>
            </a:endParaRPr>
          </a:p>
          <a:p>
            <a:endParaRPr lang="en-US" altLang="en-US" sz="1600">
              <a:latin typeface="Arial" panose="020B0604020202020204" pitchFamily="34" charset="0"/>
              <a:cs typeface="Arial" panose="020B0604020202020204" pitchFamily="34" charset="0"/>
            </a:endParaRPr>
          </a:p>
          <a:p>
            <a:endParaRPr lang="en-US" altLang="en-US" sz="1600">
              <a:latin typeface="Arial" panose="020B0604020202020204" pitchFamily="34" charset="0"/>
              <a:cs typeface="Arial" panose="020B0604020202020204" pitchFamily="34" charset="0"/>
            </a:endParaRPr>
          </a:p>
          <a:p>
            <a:r>
              <a:rPr lang="en-US" altLang="en-US" sz="1600">
                <a:latin typeface="Arial" panose="020B0604020202020204" pitchFamily="34" charset="0"/>
                <a:cs typeface="Arial" panose="020B0604020202020204" pitchFamily="34" charset="0"/>
              </a:rPr>
              <a:t>Weighted Average Formula:</a:t>
            </a:r>
            <a:endParaRPr lang="en-US" altLang="en-US" sz="1600">
              <a:latin typeface="Arial" panose="020B0604020202020204" pitchFamily="34" charset="0"/>
              <a:cs typeface="Arial" panose="020B0604020202020204" pitchFamily="34" charset="0"/>
            </a:endParaRPr>
          </a:p>
          <a:p>
            <a:r>
              <a:rPr lang="en-IN" altLang="en-US" sz="1600">
                <a:latin typeface="Arial" panose="020B0604020202020204" pitchFamily="34" charset="0"/>
                <a:cs typeface="Arial" panose="020B0604020202020204" pitchFamily="34" charset="0"/>
              </a:rPr>
              <a:t>                    </a:t>
            </a:r>
            <a:r>
              <a:rPr lang="en-US" altLang="en-US" sz="1600">
                <a:latin typeface="Arial" panose="020B0604020202020204" pitchFamily="34" charset="0"/>
                <a:cs typeface="Arial" panose="020B0604020202020204" pitchFamily="34" charset="0"/>
              </a:rPr>
              <a:t>Fused Image=</a:t>
            </a:r>
            <a:r>
              <a:rPr lang="en-IN" altLang="en-US" sz="1600">
                <a:latin typeface="Arial" panose="020B0604020202020204" pitchFamily="34" charset="0"/>
                <a:cs typeface="Arial" panose="020B0604020202020204" pitchFamily="34" charset="0"/>
              </a:rPr>
              <a:t> </a:t>
            </a:r>
            <a:r>
              <a:rPr lang="en-US" altLang="en-US" sz="1600">
                <a:latin typeface="Arial" panose="020B0604020202020204" pitchFamily="34" charset="0"/>
                <a:cs typeface="Arial" panose="020B0604020202020204" pitchFamily="34" charset="0"/>
              </a:rPr>
              <a:t>fusedImage = w1 * image1 + w2 * image2;</a:t>
            </a:r>
            <a:endParaRPr lang="en-US" altLang="en-US" sz="1600">
              <a:latin typeface="Arial" panose="020B0604020202020204" pitchFamily="34" charset="0"/>
              <a:cs typeface="Arial" panose="020B0604020202020204" pitchFamily="34" charset="0"/>
            </a:endParaRPr>
          </a:p>
          <a:p>
            <a:endParaRPr lang="en-US" altLang="en-US" sz="1600">
              <a:latin typeface="Arial" panose="020B0604020202020204" pitchFamily="34" charset="0"/>
              <a:cs typeface="Arial" panose="020B0604020202020204" pitchFamily="34" charset="0"/>
            </a:endParaRPr>
          </a:p>
        </p:txBody>
      </p:sp>
      <p:pic>
        <p:nvPicPr>
          <p:cNvPr id="9" name="Picture Placeholder 8" descr="image_flowchart.drawio"/>
          <p:cNvPicPr>
            <a:picLocks noChangeAspect="1"/>
          </p:cNvPicPr>
          <p:nvPr>
            <p:ph type="pic" idx="2"/>
          </p:nvPr>
        </p:nvPicPr>
        <p:blipFill>
          <a:blip r:embed="rId1"/>
          <a:stretch>
            <a:fillRect/>
          </a:stretch>
        </p:blipFill>
        <p:spPr>
          <a:xfrm>
            <a:off x="2303780" y="3344545"/>
            <a:ext cx="5965190" cy="237045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452119" y="22148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Use Cases &amp; Testing</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223520" y="715645"/>
            <a:ext cx="10973435" cy="573595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panose="020B0604030504040204" pitchFamily="34" charset="0"/>
                <a:ea typeface="Verdana" panose="020B0604030504040204" pitchFamily="34" charset="0"/>
              </a:rPr>
              <a:t>Use Cases</a:t>
            </a:r>
            <a:endParaRPr lang="en-IN" sz="1800"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800"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Low-Light Photography Enhancement:</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0" marR="0" lvl="0" indent="0" algn="just" rtl="0">
              <a:lnSpc>
                <a:spcPct val="100000"/>
              </a:lnSpc>
              <a:spcBef>
                <a:spcPts val="0"/>
              </a:spcBef>
              <a:spcAft>
                <a:spcPts val="0"/>
              </a:spcAft>
              <a:buFont typeface="Arial" panose="020B0604020202020204" pitchFamily="34" charset="0"/>
              <a:buNone/>
            </a:pPr>
            <a:r>
              <a:rPr lang="en-US" altLang="en-US" sz="1600" dirty="0">
                <a:latin typeface="Arial" panose="020B0604020202020204" pitchFamily="34" charset="0"/>
                <a:ea typeface="Verdana" panose="020B0604030504040204" pitchFamily="34" charset="0"/>
                <a:cs typeface="Arial" panose="020B0604020202020204" pitchFamily="34" charset="0"/>
              </a:rPr>
              <a:t>Description: Enhance images captured in low-light conditions, such as night photography or indoor photography, to </a:t>
            </a:r>
            <a:r>
              <a:rPr lang="en-IN" altLang="en-US" sz="1600" dirty="0">
                <a:latin typeface="Arial" panose="020B0604020202020204" pitchFamily="34" charset="0"/>
                <a:ea typeface="Verdana" panose="020B0604030504040204" pitchFamily="34" charset="0"/>
                <a:cs typeface="Arial" panose="020B0604020202020204" pitchFamily="34" charset="0"/>
              </a:rPr>
              <a:t>                </a:t>
            </a:r>
            <a:r>
              <a:rPr lang="en-US" altLang="en-US" sz="1600" dirty="0">
                <a:latin typeface="Arial" panose="020B0604020202020204" pitchFamily="34" charset="0"/>
                <a:ea typeface="Verdana" panose="020B0604030504040204" pitchFamily="34" charset="0"/>
                <a:cs typeface="Arial" panose="020B0604020202020204" pitchFamily="34" charset="0"/>
              </a:rPr>
              <a:t>improve visibility and detail.</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Surveillance Systems: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0" marR="0" lvl="0" indent="0" algn="just" rtl="0">
              <a:lnSpc>
                <a:spcPct val="100000"/>
              </a:lnSpc>
              <a:spcBef>
                <a:spcPts val="0"/>
              </a:spcBef>
              <a:spcAft>
                <a:spcPts val="0"/>
              </a:spcAft>
              <a:buFont typeface="Arial" panose="020B0604020202020204" pitchFamily="34" charset="0"/>
              <a:buNone/>
            </a:pPr>
            <a:r>
              <a:rPr lang="en-US" altLang="en-US" sz="1600" dirty="0">
                <a:latin typeface="Arial" panose="020B0604020202020204" pitchFamily="34" charset="0"/>
                <a:ea typeface="Verdana" panose="020B0604030504040204" pitchFamily="34" charset="0"/>
                <a:cs typeface="Arial" panose="020B0604020202020204" pitchFamily="34" charset="0"/>
              </a:rPr>
              <a:t>Description: Improve the quality of low-light surveillance footage to aid in object detection, facial recognition, and activity monitoring.</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marR="0" lvl="0" indent="-285750" algn="just" rtl="0">
              <a:lnSpc>
                <a:spcPct val="100000"/>
              </a:lnSpc>
              <a:spcBef>
                <a:spcPts val="0"/>
              </a:spcBef>
              <a:spcAft>
                <a:spcPts val="0"/>
              </a:spcAft>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Medical Imaging:</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0" marR="0" lvl="0" indent="0" algn="just" rtl="0">
              <a:lnSpc>
                <a:spcPct val="100000"/>
              </a:lnSpc>
              <a:spcBef>
                <a:spcPts val="0"/>
              </a:spcBef>
              <a:spcAft>
                <a:spcPts val="0"/>
              </a:spcAft>
              <a:buFont typeface="Arial" panose="020B0604020202020204" pitchFamily="34" charset="0"/>
              <a:buNone/>
            </a:pPr>
            <a:r>
              <a:rPr lang="en-US" altLang="en-US" sz="1600" dirty="0">
                <a:latin typeface="Arial" panose="020B0604020202020204" pitchFamily="34" charset="0"/>
                <a:ea typeface="Verdana" panose="020B0604030504040204" pitchFamily="34" charset="0"/>
                <a:cs typeface="Arial" panose="020B0604020202020204" pitchFamily="34" charset="0"/>
              </a:rPr>
              <a:t>Description: Enhance low-light medical images, such as X-rays or MRIs, to improve the clarity of critical details for better diagnosis.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Security and Forensics: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0" marR="0" lvl="0" indent="0" rtl="0">
              <a:lnSpc>
                <a:spcPct val="100000"/>
              </a:lnSpc>
              <a:spcBef>
                <a:spcPts val="0"/>
              </a:spcBef>
              <a:spcAft>
                <a:spcPts val="0"/>
              </a:spcAft>
              <a:buFont typeface="Arial" panose="020B0604020202020204" pitchFamily="34" charset="0"/>
              <a:buNone/>
            </a:pPr>
            <a:r>
              <a:rPr lang="en-US" altLang="en-US" sz="1600" dirty="0">
                <a:latin typeface="Arial" panose="020B0604020202020204" pitchFamily="34" charset="0"/>
                <a:ea typeface="Verdana" panose="020B0604030504040204" pitchFamily="34" charset="0"/>
                <a:cs typeface="Arial" panose="020B0604020202020204" pitchFamily="34" charset="0"/>
              </a:rPr>
              <a:t>Description: Enhance low-light images or videos for forensic analysis, such as identifying suspects or analyzing crime scenes.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sz="1600" dirty="0">
                <a:latin typeface="Arial" panose="020B0604020202020204" pitchFamily="34" charset="0"/>
                <a:ea typeface="Verdana" panose="020B0604030504040204" pitchFamily="34" charset="0"/>
                <a:cs typeface="Arial" panose="020B0604020202020204" pitchFamily="34" charset="0"/>
              </a:rPr>
              <a:t>Consumer Applications:</a:t>
            </a:r>
            <a:endParaRPr lang="en-US" altLang="en-US" sz="1600" dirty="0">
              <a:latin typeface="Arial" panose="020B0604020202020204" pitchFamily="34" charset="0"/>
              <a:ea typeface="Verdana" panose="020B0604030504040204" pitchFamily="34" charset="0"/>
              <a:cs typeface="Arial" panose="020B0604020202020204" pitchFamily="34" charset="0"/>
            </a:endParaRPr>
          </a:p>
          <a:p>
            <a:pPr marL="0" marR="0" lvl="0" indent="0" rtl="0">
              <a:lnSpc>
                <a:spcPct val="100000"/>
              </a:lnSpc>
              <a:spcBef>
                <a:spcPts val="0"/>
              </a:spcBef>
              <a:spcAft>
                <a:spcPts val="0"/>
              </a:spcAft>
              <a:buFont typeface="Arial" panose="020B0604020202020204" pitchFamily="34" charset="0"/>
              <a:buNone/>
            </a:pPr>
            <a:r>
              <a:rPr lang="en-US" altLang="en-US" sz="1600" dirty="0">
                <a:latin typeface="Arial" panose="020B0604020202020204" pitchFamily="34" charset="0"/>
                <a:ea typeface="Verdana" panose="020B0604030504040204" pitchFamily="34" charset="0"/>
                <a:cs typeface="Arial" panose="020B0604020202020204" pitchFamily="34" charset="0"/>
              </a:rPr>
              <a:t>Description: Improve the quality of low-light images captured by smartphones or consumer cameras.</a:t>
            </a:r>
            <a:endParaRPr lang="en-US" altLang="en-US" sz="1600" dirty="0">
              <a:latin typeface="Arial" panose="020B0604020202020204" pitchFamily="34" charset="0"/>
              <a:ea typeface="Verdana" panose="020B060403050404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dirty="0"/>
          </a:p>
        </p:txBody>
      </p:sp>
      <p:sp>
        <p:nvSpPr>
          <p:cNvPr id="4" name="Text Box 3"/>
          <p:cNvSpPr txBox="1"/>
          <p:nvPr/>
        </p:nvSpPr>
        <p:spPr>
          <a:xfrm>
            <a:off x="274320" y="394970"/>
            <a:ext cx="6096000" cy="368300"/>
          </a:xfrm>
          <a:prstGeom prst="rect">
            <a:avLst/>
          </a:prstGeom>
          <a:noFill/>
        </p:spPr>
        <p:txBody>
          <a:bodyPr wrap="square" rtlCol="0" anchor="t">
            <a:spAutoFit/>
          </a:bodyPr>
          <a:p>
            <a:pPr marL="0" marR="0" lvl="0" indent="0" rtl="0">
              <a:lnSpc>
                <a:spcPct val="100000"/>
              </a:lnSpc>
              <a:spcBef>
                <a:spcPts val="0"/>
              </a:spcBef>
              <a:spcAft>
                <a:spcPts val="0"/>
              </a:spcAft>
              <a:buNone/>
            </a:pPr>
            <a:r>
              <a:rPr lang="en-IN" sz="1800" b="1" dirty="0">
                <a:latin typeface="Verdana" panose="020B0604030504040204" pitchFamily="34" charset="0"/>
                <a:ea typeface="Verdana" panose="020B0604030504040204" pitchFamily="34" charset="0"/>
                <a:sym typeface="+mn-ea"/>
              </a:rPr>
              <a:t>Test Cases </a:t>
            </a:r>
            <a:endParaRPr lang="en-IN" sz="1800" b="1" dirty="0">
              <a:latin typeface="Verdana" panose="020B0604030504040204" pitchFamily="34" charset="0"/>
              <a:ea typeface="Verdana" panose="020B0604030504040204" pitchFamily="34" charset="0"/>
              <a:sym typeface="+mn-ea"/>
            </a:endParaRPr>
          </a:p>
        </p:txBody>
      </p:sp>
      <p:sp>
        <p:nvSpPr>
          <p:cNvPr id="5" name="Text Box 4"/>
          <p:cNvSpPr txBox="1"/>
          <p:nvPr/>
        </p:nvSpPr>
        <p:spPr>
          <a:xfrm>
            <a:off x="396240" y="967740"/>
            <a:ext cx="11247120" cy="3784600"/>
          </a:xfrm>
          <a:prstGeom prst="rect">
            <a:avLst/>
          </a:prstGeom>
          <a:noFill/>
        </p:spPr>
        <p:txBody>
          <a:bodyPr wrap="square" rtlCol="0">
            <a:spAutoFit/>
          </a:bodyPr>
          <a:p>
            <a:pPr marL="285750" indent="-285750">
              <a:buFont typeface="Arial" panose="020B0604020202020204" pitchFamily="34" charset="0"/>
              <a:buChar char="•"/>
            </a:pPr>
            <a:r>
              <a:rPr lang="en-US" altLang="en-US" sz="1600">
                <a:latin typeface="Arial" panose="020B0604020202020204" pitchFamily="34" charset="0"/>
                <a:cs typeface="Arial" panose="020B0604020202020204" pitchFamily="34" charset="0"/>
              </a:rPr>
              <a:t>Test Case 1: Basic Low-Light Image Enhancement:</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Input: A low-light image with minimal noise.</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Expected Output: Enhanced image with improved brightness, contrast, and visible details.</a:t>
            </a:r>
            <a:endParaRPr lang="en-US" alt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a:latin typeface="Arial" panose="020B0604020202020204" pitchFamily="34" charset="0"/>
                <a:cs typeface="Arial" panose="020B0604020202020204" pitchFamily="34" charset="0"/>
              </a:rPr>
              <a:t>Test Case 2: High-Noise Low-Light Image:</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Input: A low-light image with significant noise (e.g., grainy night photo).</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Expected Output: Enhanced image with reduced noise and improved clarity</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alt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a:latin typeface="Arial" panose="020B0604020202020204" pitchFamily="34" charset="0"/>
                <a:cs typeface="Arial" panose="020B0604020202020204" pitchFamily="34" charset="0"/>
              </a:rPr>
              <a:t>Test Case 3: Varying Illumination Levels:</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Input: Multiple images with varying levels of illumination (e.g., very dark, moderately dark, slightly dark).</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Expected Output: Consistent enhancement across all images, with improved visibility in all cases.</a:t>
            </a:r>
            <a:endParaRPr lang="en-US" alt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a:latin typeface="Arial" panose="020B0604020202020204" pitchFamily="34" charset="0"/>
                <a:cs typeface="Arial" panose="020B0604020202020204" pitchFamily="34" charset="0"/>
              </a:rPr>
              <a:t>Test Case 5: Real-Time Performance:</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Input: A low-light video stream.</a:t>
            </a:r>
            <a:endParaRPr lang="en-US" altLang="en-US" sz="160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altLang="en-US" sz="1600">
                <a:latin typeface="Arial" panose="020B0604020202020204" pitchFamily="34" charset="0"/>
                <a:cs typeface="Arial" panose="020B0604020202020204" pitchFamily="34" charset="0"/>
              </a:rPr>
              <a:t>Expected Output: Enhanced video with improved visibility and reduced noise in real-time.</a:t>
            </a:r>
            <a:endParaRPr lang="en-US" altLang="en-US" sz="160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dirty="0"/>
          </a:p>
        </p:txBody>
      </p:sp>
      <p:sp>
        <p:nvSpPr>
          <p:cNvPr id="8"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Implementation and Results</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TextBox 9"/>
          <p:cNvSpPr txBox="1"/>
          <p:nvPr/>
        </p:nvSpPr>
        <p:spPr>
          <a:xfrm>
            <a:off x="2545472" y="5258427"/>
            <a:ext cx="7100995" cy="337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600" b="1" dirty="0"/>
              <a:t>Fig 5:Before and After</a:t>
            </a:r>
            <a:r>
              <a:rPr lang="en-IN" altLang="en-US" sz="1600" b="1" dirty="0"/>
              <a:t> using Retinex Model</a:t>
            </a:r>
            <a:endParaRPr lang="en-IN" altLang="en-US" sz="1600" b="1" dirty="0"/>
          </a:p>
        </p:txBody>
      </p:sp>
      <p:pic>
        <p:nvPicPr>
          <p:cNvPr id="6" name="Picture Placeholder 5" descr="Screenshot_2025-02-05_151430-removebg-preview (1)"/>
          <p:cNvPicPr>
            <a:picLocks noChangeAspect="1"/>
          </p:cNvPicPr>
          <p:nvPr>
            <p:ph type="pic" idx="2"/>
          </p:nvPr>
        </p:nvPicPr>
        <p:blipFill>
          <a:blip r:embed="rId1"/>
          <a:stretch>
            <a:fillRect/>
          </a:stretch>
        </p:blipFill>
        <p:spPr>
          <a:xfrm>
            <a:off x="158750" y="1259840"/>
            <a:ext cx="11514455" cy="3820160"/>
          </a:xfrm>
          <a:prstGeom prst="rect">
            <a:avLst/>
          </a:prstGeom>
        </p:spPr>
      </p:pic>
      <p:sp>
        <p:nvSpPr>
          <p:cNvPr id="7" name="Text Box 6"/>
          <p:cNvSpPr txBox="1"/>
          <p:nvPr/>
        </p:nvSpPr>
        <p:spPr>
          <a:xfrm>
            <a:off x="1000125" y="1259840"/>
            <a:ext cx="6096000" cy="306705"/>
          </a:xfrm>
          <a:prstGeom prst="rect">
            <a:avLst/>
          </a:prstGeom>
          <a:noFill/>
        </p:spPr>
        <p:txBody>
          <a:bodyPr wrap="square" rtlCol="0" anchor="t">
            <a:spAutoFit/>
          </a:bodyPr>
          <a:p>
            <a:r>
              <a:rPr lang="en-IN" b="1" dirty="0">
                <a:latin typeface="Verdana" panose="020B0604030504040204" pitchFamily="34" charset="0"/>
                <a:ea typeface="Verdana" panose="020B0604030504040204" pitchFamily="34" charset="0"/>
                <a:sym typeface="+mn-ea"/>
              </a:rPr>
              <a:t>Iteration 1 : Results</a:t>
            </a:r>
            <a:endParaRPr lang="en-IN" b="1" dirty="0">
              <a:latin typeface="Verdana" panose="020B0604030504040204" pitchFamily="34" charset="0"/>
              <a:ea typeface="Verdana" panose="020B0604030504040204" pitchFamily="3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Picture 9" descr="714"/>
          <p:cNvPicPr>
            <a:picLocks noChangeAspect="1"/>
          </p:cNvPicPr>
          <p:nvPr/>
        </p:nvPicPr>
        <p:blipFill>
          <a:blip r:embed="rId1"/>
          <a:stretch>
            <a:fillRect/>
          </a:stretch>
        </p:blipFill>
        <p:spPr>
          <a:xfrm>
            <a:off x="1444625" y="1959610"/>
            <a:ext cx="4130040" cy="2753360"/>
          </a:xfrm>
          <a:prstGeom prst="rect">
            <a:avLst/>
          </a:prstGeom>
        </p:spPr>
      </p:pic>
      <p:sp>
        <p:nvSpPr>
          <p:cNvPr id="3" name="Slide Number Placeholder 2"/>
          <p:cNvSpPr>
            <a:spLocks noGrp="1"/>
          </p:cNvSpPr>
          <p:nvPr>
            <p:ph type="sldNum" idx="4294967295"/>
          </p:nvPr>
        </p:nvSpPr>
        <p:spPr>
          <a:xfrm>
            <a:off x="0" y="0"/>
            <a:ext cx="0" cy="0"/>
          </a:xfrm>
        </p:spPr>
        <p:txBody>
          <a:bodyPr/>
          <a:p>
            <a:pPr marL="0" lvl="0" indent="0" algn="r" rtl="0">
              <a:spcBef>
                <a:spcPts val="0"/>
              </a:spcBef>
              <a:spcAft>
                <a:spcPts val="0"/>
              </a:spcAft>
              <a:buNone/>
            </a:pPr>
            <a:fld id="{00000000-1234-1234-1234-123412341234}" type="slidenum">
              <a:rPr lang="en-US"/>
            </a:fld>
            <a:endParaRPr dirty="0"/>
          </a:p>
        </p:txBody>
      </p:sp>
      <p:pic>
        <p:nvPicPr>
          <p:cNvPr id="4" name="Picture Placeholder 3" descr="enhanced_"/>
          <p:cNvPicPr>
            <a:picLocks noChangeAspect="1"/>
          </p:cNvPicPr>
          <p:nvPr>
            <p:ph type="pic" idx="2"/>
          </p:nvPr>
        </p:nvPicPr>
        <p:blipFill>
          <a:blip r:embed="rId2"/>
          <a:stretch>
            <a:fillRect/>
          </a:stretch>
        </p:blipFill>
        <p:spPr>
          <a:xfrm>
            <a:off x="7096125" y="1971040"/>
            <a:ext cx="4109720" cy="2740025"/>
          </a:xfrm>
          <a:prstGeom prst="rect">
            <a:avLst/>
          </a:prstGeom>
        </p:spPr>
      </p:pic>
      <p:sp>
        <p:nvSpPr>
          <p:cNvPr id="13"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Implementation and Results</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Text Box 13"/>
          <p:cNvSpPr txBox="1"/>
          <p:nvPr/>
        </p:nvSpPr>
        <p:spPr>
          <a:xfrm>
            <a:off x="1000125" y="1259840"/>
            <a:ext cx="6096000" cy="306705"/>
          </a:xfrm>
          <a:prstGeom prst="rect">
            <a:avLst/>
          </a:prstGeom>
          <a:noFill/>
        </p:spPr>
        <p:txBody>
          <a:bodyPr wrap="square" rtlCol="0" anchor="t">
            <a:spAutoFit/>
          </a:bodyPr>
          <a:p>
            <a:r>
              <a:rPr lang="en-IN" b="1" dirty="0">
                <a:latin typeface="Verdana" panose="020B0604030504040204" pitchFamily="34" charset="0"/>
                <a:ea typeface="Verdana" panose="020B0604030504040204" pitchFamily="34" charset="0"/>
                <a:sym typeface="+mn-ea"/>
              </a:rPr>
              <a:t>Iteration 2 : Results</a:t>
            </a:r>
            <a:endParaRPr lang="en-IN" b="1" dirty="0">
              <a:latin typeface="Verdana" panose="020B0604030504040204" pitchFamily="34" charset="0"/>
              <a:ea typeface="Verdana" panose="020B0604030504040204" pitchFamily="34" charset="0"/>
              <a:sym typeface="+mn-ea"/>
            </a:endParaRPr>
          </a:p>
        </p:txBody>
      </p:sp>
      <p:sp>
        <p:nvSpPr>
          <p:cNvPr id="15" name="TextBox 8"/>
          <p:cNvSpPr txBox="1"/>
          <p:nvPr/>
        </p:nvSpPr>
        <p:spPr>
          <a:xfrm>
            <a:off x="2707397" y="5106027"/>
            <a:ext cx="7100995" cy="337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p>
            <a:pPr algn="ctr"/>
            <a:r>
              <a:rPr lang="en-US" sz="1600" b="1" dirty="0"/>
              <a:t>Fig 4:Original and Enhanced Image</a:t>
            </a:r>
            <a:r>
              <a:rPr lang="en-IN" altLang="en-US" sz="1600" b="1" dirty="0"/>
              <a:t> using  BHSD</a:t>
            </a:r>
            <a:endParaRPr lang="en-IN" altLang="en-US" sz="16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4294967295"/>
          </p:nvPr>
        </p:nvSpPr>
        <p:spPr>
          <a:xfrm>
            <a:off x="0" y="0"/>
            <a:ext cx="0" cy="0"/>
          </a:xfrm>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Implementation and Results</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TextBox 8"/>
          <p:cNvSpPr txBox="1"/>
          <p:nvPr/>
        </p:nvSpPr>
        <p:spPr>
          <a:xfrm>
            <a:off x="2707397" y="5106027"/>
            <a:ext cx="7100995" cy="337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600" b="1" dirty="0"/>
              <a:t>Fig 4:</a:t>
            </a:r>
            <a:r>
              <a:rPr lang="en-IN" altLang="en-US" sz="1600" b="1" dirty="0"/>
              <a:t>After the fusion of two images</a:t>
            </a:r>
            <a:endParaRPr lang="en-IN" altLang="en-US" sz="1600" b="1" dirty="0"/>
          </a:p>
        </p:txBody>
      </p:sp>
      <p:sp>
        <p:nvSpPr>
          <p:cNvPr id="7" name="Text Box 6"/>
          <p:cNvSpPr txBox="1"/>
          <p:nvPr/>
        </p:nvSpPr>
        <p:spPr>
          <a:xfrm>
            <a:off x="1000125" y="1259840"/>
            <a:ext cx="6096000" cy="306705"/>
          </a:xfrm>
          <a:prstGeom prst="rect">
            <a:avLst/>
          </a:prstGeom>
          <a:noFill/>
        </p:spPr>
        <p:txBody>
          <a:bodyPr wrap="square" rtlCol="0" anchor="t">
            <a:spAutoFit/>
          </a:bodyPr>
          <a:p>
            <a:r>
              <a:rPr lang="en-IN" b="1" dirty="0">
                <a:latin typeface="Verdana" panose="020B0604030504040204" pitchFamily="34" charset="0"/>
                <a:ea typeface="Verdana" panose="020B0604030504040204" pitchFamily="34" charset="0"/>
                <a:sym typeface="+mn-ea"/>
              </a:rPr>
              <a:t>Iteration 3 : Results</a:t>
            </a:r>
            <a:endParaRPr lang="en-IN" b="1" dirty="0">
              <a:latin typeface="Verdana" panose="020B0604030504040204" pitchFamily="34" charset="0"/>
              <a:ea typeface="Verdana" panose="020B0604030504040204" pitchFamily="34" charset="0"/>
              <a:sym typeface="+mn-ea"/>
            </a:endParaRPr>
          </a:p>
        </p:txBody>
      </p:sp>
      <p:pic>
        <p:nvPicPr>
          <p:cNvPr id="11" name="Picture Placeholder 1" descr="Screenshot 2025-02-05 151114"/>
          <p:cNvPicPr>
            <a:picLocks noChangeAspect="1"/>
          </p:cNvPicPr>
          <p:nvPr>
            <p:ph type="pic" idx="2"/>
          </p:nvPr>
        </p:nvPicPr>
        <p:blipFill>
          <a:blip r:embed="rId1"/>
          <a:stretch>
            <a:fillRect/>
          </a:stretch>
        </p:blipFill>
        <p:spPr>
          <a:xfrm>
            <a:off x="7096125" y="1714500"/>
            <a:ext cx="4116705" cy="2768600"/>
          </a:xfrm>
          <a:prstGeom prst="rect">
            <a:avLst/>
          </a:prstGeom>
          <a:solidFill>
            <a:srgbClr val="F2F2F2"/>
          </a:solidFill>
          <a:ln>
            <a:noFill/>
          </a:ln>
        </p:spPr>
      </p:pic>
      <p:pic>
        <p:nvPicPr>
          <p:cNvPr id="12" name="Picture 11" descr="714"/>
          <p:cNvPicPr>
            <a:picLocks noChangeAspect="1"/>
          </p:cNvPicPr>
          <p:nvPr/>
        </p:nvPicPr>
        <p:blipFill>
          <a:blip r:embed="rId2"/>
          <a:stretch>
            <a:fillRect/>
          </a:stretch>
        </p:blipFill>
        <p:spPr>
          <a:xfrm>
            <a:off x="1379220" y="1785620"/>
            <a:ext cx="4152900" cy="2768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Conclusion &amp; Future Work</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endParaRPr lang="en-IN" b="1" dirty="0">
              <a:latin typeface="Verdana" panose="020B0604030504040204" pitchFamily="34" charset="0"/>
              <a:ea typeface="Verdana" panose="020B0604030504040204" pitchFamily="34" charset="0"/>
            </a:endParaRPr>
          </a:p>
          <a:p>
            <a:endParaRPr lang="en-IN" b="1" dirty="0">
              <a:latin typeface="Verdana" panose="020B0604030504040204"/>
              <a:ea typeface="Verdana" panose="020B0604030504040204"/>
            </a:endParaRPr>
          </a:p>
          <a:p>
            <a:endParaRPr lang="en-IN" b="1" dirty="0">
              <a:latin typeface="Verdana" panose="020B0604030504040204"/>
              <a:ea typeface="Verdana" panose="020B0604030504040204"/>
            </a:endParaRPr>
          </a:p>
          <a:p>
            <a:r>
              <a:rPr lang="en-IN" sz="1600" dirty="0">
                <a:latin typeface="Calibri" panose="020F0502020204030204"/>
                <a:ea typeface="Calibri" panose="020F0502020204030204"/>
                <a:cs typeface="Calibri" panose="020F0502020204030204"/>
              </a:rPr>
              <a:t>The development of the Low-Illumination Image Enhancement Algorithm Based on </a:t>
            </a:r>
            <a:r>
              <a:rPr lang="en-IN" sz="1600" dirty="0" err="1">
                <a:latin typeface="Calibri" panose="020F0502020204030204"/>
                <a:ea typeface="Calibri" panose="020F0502020204030204"/>
                <a:cs typeface="Calibri" panose="020F0502020204030204"/>
              </a:rPr>
              <a:t>Retinex</a:t>
            </a:r>
            <a:r>
              <a:rPr lang="en-IN" sz="1600" dirty="0">
                <a:latin typeface="Calibri" panose="020F0502020204030204"/>
                <a:ea typeface="Calibri" panose="020F0502020204030204"/>
                <a:cs typeface="Calibri" panose="020F0502020204030204"/>
              </a:rPr>
              <a:t> Theory marks a significant advancement in the field of low-light image processing. By addressing the inherent challenges of enhancing images captured in poorly lit environments, the algorithm demonstrates superior performance compared to traditional methods and existing literature. In conclusion, this project provides a valuable contribution to the field of image enhancement by presenting a comprehensive approach that combines </a:t>
            </a:r>
            <a:r>
              <a:rPr lang="en-IN" sz="1600" dirty="0" err="1">
                <a:latin typeface="Calibri" panose="020F0502020204030204"/>
                <a:ea typeface="Calibri" panose="020F0502020204030204"/>
                <a:cs typeface="Calibri" panose="020F0502020204030204"/>
              </a:rPr>
              <a:t>retinex</a:t>
            </a:r>
            <a:r>
              <a:rPr lang="en-IN" sz="1600" dirty="0">
                <a:latin typeface="Calibri" panose="020F0502020204030204"/>
                <a:ea typeface="Calibri" panose="020F0502020204030204"/>
                <a:cs typeface="Calibri" panose="020F0502020204030204"/>
              </a:rPr>
              <a:t> model with iterative refinement. The results not only advance the understanding of low-light image processing but also pave the way for future innovations in this area.</a:t>
            </a:r>
            <a:endParaRPr lang="en-IN" dirty="0"/>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endParaRPr lang="en-IN" b="1" dirty="0">
              <a:latin typeface="Verdana" panose="020B0604030504040204" pitchFamily="34" charset="0"/>
              <a:ea typeface="Verdana" panose="020B0604030504040204" pitchFamily="34" charset="0"/>
            </a:endParaRPr>
          </a:p>
          <a:p>
            <a:endParaRPr lang="en-IN" b="1" dirty="0">
              <a:latin typeface="Verdana" panose="020B0604030504040204"/>
              <a:ea typeface="Verdana" panose="020B0604030504040204"/>
            </a:endParaRPr>
          </a:p>
          <a:p>
            <a:pPr algn="just"/>
            <a:r>
              <a:rPr lang="en-IN" sz="1600" b="1" dirty="0">
                <a:latin typeface="Calibri" panose="020F0502020204030204"/>
                <a:ea typeface="Calibri" panose="020F0502020204030204"/>
                <a:cs typeface="Calibri" panose="020F0502020204030204"/>
              </a:rPr>
              <a:t>Integration with Deep Learning Techniques</a:t>
            </a:r>
            <a:r>
              <a:rPr lang="en-IN" sz="1600" dirty="0">
                <a:latin typeface="Calibri" panose="020F0502020204030204"/>
                <a:ea typeface="Calibri" panose="020F0502020204030204"/>
                <a:cs typeface="Calibri" panose="020F0502020204030204"/>
              </a:rPr>
              <a:t>: Future research could explore the combination of the physical lighting model with deep learning approaches to enhance computational efficiency and effectiveness. Using convolutional neural networks (CNNs) could automate the process of parameter estimation and improve the algorithm's adaptability to various low-light conditions.</a:t>
            </a:r>
            <a:endParaRPr lang="en-US" sz="1600">
              <a:latin typeface="Calibri" panose="020F0502020204030204"/>
              <a:ea typeface="Calibri" panose="020F0502020204030204"/>
              <a:cs typeface="Calibri" panose="020F0502020204030204"/>
            </a:endParaRPr>
          </a:p>
          <a:p>
            <a:pPr algn="just"/>
            <a:endParaRPr lang="en-US" sz="1600" dirty="0">
              <a:latin typeface="Calibri" panose="020F0502020204030204"/>
              <a:ea typeface="Calibri" panose="020F0502020204030204"/>
              <a:cs typeface="Calibri" panose="020F0502020204030204"/>
            </a:endParaRPr>
          </a:p>
          <a:p>
            <a:pPr algn="just"/>
            <a:r>
              <a:rPr lang="en-US" sz="1600" b="1" dirty="0">
                <a:latin typeface="Calibri" panose="020F0502020204030204"/>
                <a:ea typeface="Calibri" panose="020F0502020204030204"/>
                <a:cs typeface="Calibri" panose="020F0502020204030204"/>
              </a:rPr>
              <a:t>Real-Time Processing Capabilities</a:t>
            </a:r>
            <a:r>
              <a:rPr lang="en-US" sz="1600" dirty="0">
                <a:latin typeface="Calibri" panose="020F0502020204030204"/>
                <a:ea typeface="Calibri" panose="020F0502020204030204"/>
                <a:cs typeface="Calibri" panose="020F0502020204030204"/>
              </a:rPr>
              <a:t>: Further development could focus on optimizing the algorithm for real-time applications. Techniques such as model pruning, quantization, or utilizing efficient hardware (like GPUs or specialized accelerators) could be explored to reduce computational overhead while maintaining performance.</a:t>
            </a:r>
            <a:endParaRPr lang="en-US" sz="1600" dirty="0">
              <a:latin typeface="Calibri" panose="020F0502020204030204"/>
              <a:ea typeface="Calibri" panose="020F0502020204030204"/>
              <a:cs typeface="Calibri" panose="020F0502020204030204"/>
            </a:endParaRPr>
          </a:p>
          <a:p>
            <a:endParaRPr lang="en-IN" b="1" dirty="0">
              <a:latin typeface="Verdana" panose="020B0604030504040204" pitchFamily="34" charset="0"/>
              <a:ea typeface="Verdana" panose="020B0604030504040204" pitchFamily="34" charset="0"/>
            </a:endParaRPr>
          </a:p>
          <a:p>
            <a:pPr marR="0" lvl="0">
              <a:lnSpc>
                <a:spcPct val="100000"/>
              </a:lnSpc>
              <a:spcBef>
                <a:spcPts val="0"/>
              </a:spcBef>
              <a:spcAft>
                <a:spcPts val="0"/>
              </a:spcAft>
            </a:pPr>
            <a:endParaRPr lang="en-IN" b="1"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panose="020B0604020202020204"/>
              <a:buNone/>
            </a:pPr>
            <a:r>
              <a:rPr lang="en-US" sz="11500" b="1" i="0" u="none" strike="noStrike" cap="none">
                <a:solidFill>
                  <a:srgbClr val="007069"/>
                </a:solidFill>
                <a:latin typeface="Open Sans" panose="020B0606030504020204"/>
                <a:ea typeface="Open Sans" panose="020B0606030504020204"/>
                <a:cs typeface="Open Sans" panose="020B0606030504020204"/>
                <a:sym typeface="Open Sans" panose="020B0606030504020204"/>
              </a:rPr>
              <a:t>THANK </a:t>
            </a:r>
            <a:r>
              <a:rPr lang="en-US" sz="11500" b="1" i="0" u="none" strike="noStrike" cap="none">
                <a:solidFill>
                  <a:srgbClr val="A5A5A5"/>
                </a:solidFill>
                <a:latin typeface="Open Sans" panose="020B0606030504020204"/>
                <a:ea typeface="Open Sans" panose="020B0606030504020204"/>
                <a:cs typeface="Open Sans" panose="020B0606030504020204"/>
                <a:sym typeface="Open Sans" panose="020B0606030504020204"/>
              </a:rPr>
              <a:t>YOU</a:t>
            </a:r>
            <a:endPara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dirty="0">
                <a:solidFill>
                  <a:srgbClr val="7F7F7F"/>
                </a:solidFill>
                <a:latin typeface="Open Sans" panose="020B0606030504020204"/>
                <a:ea typeface="Open Sans" panose="020B0606030504020204"/>
                <a:cs typeface="Open Sans" panose="020B0606030504020204"/>
                <a:sym typeface="Open Sans" panose="020B0606030504020204"/>
              </a:rPr>
              <a:t>Have a Great Day ! </a:t>
            </a:r>
            <a:endParaRPr sz="1400" b="0" i="0" u="none" strike="noStrike" cap="none" dirty="0">
              <a:solidFill>
                <a:srgbClr val="000000"/>
              </a:solidFill>
              <a:latin typeface="Aharoni" panose="02010803020104030203"/>
              <a:ea typeface="Aharoni" panose="02010803020104030203"/>
              <a:cs typeface="Aharoni" panose="02010803020104030203"/>
              <a:sym typeface="Aharoni" panose="02010803020104030203"/>
            </a:endParaRPr>
          </a:p>
        </p:txBody>
      </p:sp>
    </p:spTree>
  </p:cSld>
  <p:clrMapOvr>
    <a:masterClrMapping/>
  </p:clrMapOvr>
</p:sld>
</file>

<file path=ppt/tags/tag1.xml><?xml version="1.0" encoding="utf-8"?>
<p:tagLst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8760</Words>
  <Application>WPS Presentation</Application>
  <PresentationFormat>Widescreen</PresentationFormat>
  <Paragraphs>266</Paragraphs>
  <Slides>16</Slides>
  <Notes>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16</vt:i4>
      </vt:variant>
    </vt:vector>
  </HeadingPairs>
  <TitlesOfParts>
    <vt:vector size="36" baseType="lpstr">
      <vt:lpstr>Arial</vt:lpstr>
      <vt:lpstr>SimSun</vt:lpstr>
      <vt:lpstr>Wingdings</vt:lpstr>
      <vt:lpstr>Arial</vt:lpstr>
      <vt:lpstr>Open Sans</vt:lpstr>
      <vt:lpstr>Calibri</vt:lpstr>
      <vt:lpstr>Poppins SemiBold</vt:lpstr>
      <vt:lpstr>Segoe Print</vt:lpstr>
      <vt:lpstr>Aharoni</vt:lpstr>
      <vt:lpstr>Plus Jakarta Sans</vt:lpstr>
      <vt:lpstr>Montserrat Medium</vt:lpstr>
      <vt:lpstr>Verdana</vt:lpstr>
      <vt:lpstr>Montserrat</vt:lpstr>
      <vt:lpstr>Arial,Sans-Serif</vt:lpstr>
      <vt:lpstr>Verdana</vt:lpstr>
      <vt:lpstr>Arial,Sans-Serif</vt:lpstr>
      <vt:lpstr>Roboto</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GITAM</dc:creator>
  <cp:lastModifiedBy>mdash</cp:lastModifiedBy>
  <cp:revision>183</cp:revision>
  <dcterms:created xsi:type="dcterms:W3CDTF">2022-05-23T07:15:00Z</dcterms:created>
  <dcterms:modified xsi:type="dcterms:W3CDTF">2025-03-19T00:58:30Z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FF7829F019FD49C5A28F43F17F4B5F3C_12</vt:lpwstr>
  </property>
  <property fmtid="{D5CDD505-2E9C-101B-9397-08002B2CF9AE}" pid="3" name="KSOProductBuildVer">
    <vt:lpwstr>1033-12.2.0.20326</vt:lpwstr>
  </property>
</Properties>
</file>