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257" r:id="rId3"/>
    <p:sldId id="316" r:id="rId4"/>
    <p:sldId id="289" r:id="rId5"/>
    <p:sldId id="310" r:id="rId6"/>
    <p:sldId id="265" r:id="rId7"/>
    <p:sldId id="308" r:id="rId8"/>
    <p:sldId id="294" r:id="rId9"/>
    <p:sldId id="296" r:id="rId10"/>
    <p:sldId id="311" r:id="rId11"/>
    <p:sldId id="313" r:id="rId12"/>
    <p:sldId id="301" r:id="rId13"/>
    <p:sldId id="302" r:id="rId14"/>
    <p:sldId id="303" r:id="rId15"/>
    <p:sldId id="317" r:id="rId16"/>
    <p:sldId id="318" r:id="rId17"/>
    <p:sldId id="319" r:id="rId18"/>
    <p:sldId id="266" r:id="rId19"/>
  </p:sldIdLst>
  <p:sldSz cx="12192000" cy="6858000"/>
  <p:notesSz cx="6858000" cy="9144000"/>
  <p:embeddedFontLst>
    <p:embeddedFont>
      <p:font typeface="Fira Sans Extra Condensed Medium" panose="020B060402020202020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Montserrat Medium" panose="00000600000000000000" pitchFamily="2" charset="0"/>
      <p:regular r:id="rId29"/>
      <p:bold r:id="rId30"/>
      <p:italic r:id="rId31"/>
      <p:boldItalic r:id="rId32"/>
    </p:embeddedFont>
    <p:embeddedFont>
      <p:font typeface="Roboto" panose="02000000000000000000" pitchFamily="2"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1" roundtripDataSignature="AMtx7mgzBJLxcvjvx6joxQV1xTs+4JFv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85DD0D-3B8F-C286-67C0-1300713C327E}" v="359" dt="2024-10-18T01:09:18.333"/>
    <p1510:client id="{DA9AAFC3-AD34-6C0C-50B7-8539E56DAFE5}" v="106" dt="2024-10-17T06:43:45.275"/>
  </p1510:revLst>
</p1510:revInfo>
</file>

<file path=ppt/tableStyles.xml><?xml version="1.0" encoding="utf-8"?>
<a:tblStyleLst xmlns:a="http://schemas.openxmlformats.org/drawingml/2006/main" def="{487C13AC-C4EB-4B75-A16E-F28B5C2F6171}">
  <a:tblStyle styleId="{487C13AC-C4EB-4B75-A16E-F28B5C2F617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microsoft.com/office/2015/10/relationships/revisionInfo" Target="revisionInfo.xml"/><Relationship Id="rId20" Type="http://schemas.openxmlformats.org/officeDocument/2006/relationships/notesMaster" Target="notesMasters/notesMaster1.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Vertical Title and Text" userDrawn="1">
  <p:cSld name="1_Vertical Title and Text">
    <p:spTree>
      <p:nvGrpSpPr>
        <p:cNvPr id="1" name="Shape 15"/>
        <p:cNvGrpSpPr/>
        <p:nvPr/>
      </p:nvGrpSpPr>
      <p:grpSpPr>
        <a:xfrm>
          <a:off x="0" y="0"/>
          <a:ext cx="0" cy="0"/>
          <a:chOff x="0" y="0"/>
          <a:chExt cx="0" cy="0"/>
        </a:xfrm>
      </p:grpSpPr>
      <p:sp>
        <p:nvSpPr>
          <p:cNvPr id="2" name="Google Shape;14;p38">
            <a:extLst>
              <a:ext uri="{FF2B5EF4-FFF2-40B4-BE49-F238E27FC236}">
                <a16:creationId xmlns:a16="http://schemas.microsoft.com/office/drawing/2014/main" id="{90F13E69-CB14-9187-6460-E802780AAC93}"/>
              </a:ext>
            </a:extLst>
          </p:cNvPr>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 name="Google Shape;11;p38">
            <a:extLst>
              <a:ext uri="{FF2B5EF4-FFF2-40B4-BE49-F238E27FC236}">
                <a16:creationId xmlns:a16="http://schemas.microsoft.com/office/drawing/2014/main" id="{A8FFA602-AB20-78D1-ED2C-24B9CEE2B061}"/>
              </a:ext>
            </a:extLst>
          </p:cNvPr>
          <p:cNvSpPr txBox="1">
            <a:spLocks noGrp="1"/>
          </p:cNvSpPr>
          <p:nvPr>
            <p:ph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6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5"/>
          <p:cNvSpPr txBox="1">
            <a:spLocks noGrp="1"/>
          </p:cNvSpPr>
          <p:nvPr>
            <p:ph type="sldNum" idx="12"/>
          </p:nvPr>
        </p:nvSpPr>
        <p:spPr>
          <a:xfrm>
            <a:off x="9448800" y="651308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6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7"/>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8"/>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6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9"/>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0"/>
          <p:cNvSpPr txBox="1">
            <a:spLocks noGrp="1"/>
          </p:cNvSpPr>
          <p:nvPr>
            <p:ph type="sldNum" idx="12"/>
          </p:nvPr>
        </p:nvSpPr>
        <p:spPr>
          <a:xfrm>
            <a:off x="944880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7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7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2"/>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7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73"/>
          <p:cNvSpPr>
            <a:spLocks noGrp="1"/>
          </p:cNvSpPr>
          <p:nvPr>
            <p:ph type="pic" idx="2"/>
          </p:nvPr>
        </p:nvSpPr>
        <p:spPr>
          <a:xfrm>
            <a:off x="5183188" y="987425"/>
            <a:ext cx="6172200" cy="4873625"/>
          </a:xfrm>
          <a:prstGeom prst="rect">
            <a:avLst/>
          </a:prstGeom>
          <a:noFill/>
          <a:ln>
            <a:noFill/>
          </a:ln>
        </p:spPr>
      </p:sp>
      <p:sp>
        <p:nvSpPr>
          <p:cNvPr id="67" name="Google Shape;67;p7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3"/>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7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4"/>
          <p:cNvSpPr txBox="1">
            <a:spLocks noGrp="1"/>
          </p:cNvSpPr>
          <p:nvPr>
            <p:ph type="sldNum" idx="12"/>
          </p:nvPr>
        </p:nvSpPr>
        <p:spPr>
          <a:xfrm>
            <a:off x="9448800" y="6476134"/>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7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7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5"/>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4041265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2238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38"/>
          <p:cNvSpPr txBox="1">
            <a:spLocks noGrp="1"/>
          </p:cNvSpPr>
          <p:nvPr>
            <p:ph type="body"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934951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pic>
        <p:nvPicPr>
          <p:cNvPr id="2" name="Google Shape;111;p76">
            <a:extLst>
              <a:ext uri="{FF2B5EF4-FFF2-40B4-BE49-F238E27FC236}">
                <a16:creationId xmlns:a16="http://schemas.microsoft.com/office/drawing/2014/main" id="{28B1863E-FEC0-1850-DEEC-798DDCBBF47B}"/>
              </a:ext>
            </a:extLst>
          </p:cNvPr>
          <p:cNvPicPr preferRelativeResize="0"/>
          <p:nvPr userDrawn="1"/>
        </p:nvPicPr>
        <p:blipFill rotWithShape="1">
          <a:blip r:embed="rId15">
            <a:alphaModFix/>
          </a:blip>
          <a:srcRect l="22326" t="32664" r="11836" b="35101"/>
          <a:stretch/>
        </p:blipFill>
        <p:spPr>
          <a:xfrm>
            <a:off x="262467" y="258234"/>
            <a:ext cx="1504951" cy="423333"/>
          </a:xfrm>
          <a:prstGeom prst="rect">
            <a:avLst/>
          </a:prstGeom>
          <a:noFill/>
          <a:ln>
            <a:noFill/>
          </a:ln>
        </p:spPr>
      </p:pic>
      <p:grpSp>
        <p:nvGrpSpPr>
          <p:cNvPr id="3" name="Google Shape;112;p76">
            <a:extLst>
              <a:ext uri="{FF2B5EF4-FFF2-40B4-BE49-F238E27FC236}">
                <a16:creationId xmlns:a16="http://schemas.microsoft.com/office/drawing/2014/main" id="{17E3BD69-F425-10D3-474C-86ECFE2A4F0F}"/>
              </a:ext>
            </a:extLst>
          </p:cNvPr>
          <p:cNvGrpSpPr/>
          <p:nvPr userDrawn="1"/>
        </p:nvGrpSpPr>
        <p:grpSpPr>
          <a:xfrm>
            <a:off x="11856720" y="140636"/>
            <a:ext cx="223520" cy="990718"/>
            <a:chOff x="11856720" y="140636"/>
            <a:chExt cx="223520" cy="990718"/>
          </a:xfrm>
        </p:grpSpPr>
        <p:grpSp>
          <p:nvGrpSpPr>
            <p:cNvPr id="4" name="Google Shape;113;p76">
              <a:extLst>
                <a:ext uri="{FF2B5EF4-FFF2-40B4-BE49-F238E27FC236}">
                  <a16:creationId xmlns:a16="http://schemas.microsoft.com/office/drawing/2014/main" id="{14FEC19D-E791-0250-9E87-5AA9896BF4A1}"/>
                </a:ext>
              </a:extLst>
            </p:cNvPr>
            <p:cNvGrpSpPr/>
            <p:nvPr/>
          </p:nvGrpSpPr>
          <p:grpSpPr>
            <a:xfrm>
              <a:off x="11856720" y="660278"/>
              <a:ext cx="223520" cy="471076"/>
              <a:chOff x="9734551" y="3138055"/>
              <a:chExt cx="2457449" cy="1328450"/>
            </a:xfrm>
          </p:grpSpPr>
          <p:sp>
            <p:nvSpPr>
              <p:cNvPr id="8" name="Google Shape;114;p76">
                <a:extLst>
                  <a:ext uri="{FF2B5EF4-FFF2-40B4-BE49-F238E27FC236}">
                    <a16:creationId xmlns:a16="http://schemas.microsoft.com/office/drawing/2014/main" id="{B6BFFDC3-06AC-5703-18E9-A57519E04846}"/>
                  </a:ext>
                </a:extLst>
              </p:cNvPr>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9" name="Google Shape;115;p76">
                <a:extLst>
                  <a:ext uri="{FF2B5EF4-FFF2-40B4-BE49-F238E27FC236}">
                    <a16:creationId xmlns:a16="http://schemas.microsoft.com/office/drawing/2014/main" id="{D650CC1D-4942-5654-E087-1C070702087B}"/>
                  </a:ext>
                </a:extLst>
              </p:cNvPr>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5" name="Google Shape;116;p76">
              <a:extLst>
                <a:ext uri="{FF2B5EF4-FFF2-40B4-BE49-F238E27FC236}">
                  <a16:creationId xmlns:a16="http://schemas.microsoft.com/office/drawing/2014/main" id="{48321EEF-DE7D-28B5-6E9D-BC407D829594}"/>
                </a:ext>
              </a:extLst>
            </p:cNvPr>
            <p:cNvGrpSpPr/>
            <p:nvPr/>
          </p:nvGrpSpPr>
          <p:grpSpPr>
            <a:xfrm>
              <a:off x="11856720" y="140636"/>
              <a:ext cx="223520" cy="471076"/>
              <a:chOff x="9734551" y="3138055"/>
              <a:chExt cx="2457449" cy="1328450"/>
            </a:xfrm>
          </p:grpSpPr>
          <p:sp>
            <p:nvSpPr>
              <p:cNvPr id="6" name="Google Shape;117;p76">
                <a:extLst>
                  <a:ext uri="{FF2B5EF4-FFF2-40B4-BE49-F238E27FC236}">
                    <a16:creationId xmlns:a16="http://schemas.microsoft.com/office/drawing/2014/main" id="{74AAC7DD-6A02-D8D6-D1CB-5BBCDAC1774F}"/>
                  </a:ext>
                </a:extLst>
              </p:cNvPr>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7" name="Google Shape;118;p76">
                <a:extLst>
                  <a:ext uri="{FF2B5EF4-FFF2-40B4-BE49-F238E27FC236}">
                    <a16:creationId xmlns:a16="http://schemas.microsoft.com/office/drawing/2014/main" id="{91DD3646-1FFE-8816-7209-ACCFCCC1BC16}"/>
                  </a:ext>
                </a:extLst>
              </p:cNvPr>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15" name="Picture 14" descr="A logo with text overlay&#10;&#10;Description automatically generated">
            <a:extLst>
              <a:ext uri="{FF2B5EF4-FFF2-40B4-BE49-F238E27FC236}">
                <a16:creationId xmlns:a16="http://schemas.microsoft.com/office/drawing/2014/main" id="{52139B2A-ECE2-1B1E-7C02-2BF0D3F2D340}"/>
              </a:ext>
            </a:extLst>
          </p:cNvPr>
          <p:cNvPicPr>
            <a:picLocks noChangeAspect="1"/>
          </p:cNvPicPr>
          <p:nvPr userDrawn="1"/>
        </p:nvPicPr>
        <p:blipFill rotWithShape="1">
          <a:blip r:embed="rId16"/>
          <a:srcRect l="37906" t="34096" r="9606" b="36394"/>
          <a:stretch/>
        </p:blipFill>
        <p:spPr>
          <a:xfrm>
            <a:off x="11125200" y="11945"/>
            <a:ext cx="1066800" cy="599768"/>
          </a:xfrm>
          <a:prstGeom prst="rect">
            <a:avLst/>
          </a:prstGeom>
        </p:spPr>
      </p:pic>
      <p:sp>
        <p:nvSpPr>
          <p:cNvPr id="16" name="Google Shape;125;p3">
            <a:extLst>
              <a:ext uri="{FF2B5EF4-FFF2-40B4-BE49-F238E27FC236}">
                <a16:creationId xmlns:a16="http://schemas.microsoft.com/office/drawing/2014/main" id="{9C92DD54-17A7-636B-3D4B-C20DD0F68A2F}"/>
              </a:ext>
            </a:extLst>
          </p:cNvPr>
          <p:cNvSpPr txBox="1"/>
          <p:nvPr userDrawn="1"/>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Verdana" panose="020B0604030504040204" pitchFamily="34" charset="0"/>
          <a:ea typeface="Verdana" panose="020B060403050404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n.docworkspace.com/d/sIDPogtzyAfeTwLYG" TargetMode="External"/><Relationship Id="rId2" Type="http://schemas.openxmlformats.org/officeDocument/2006/relationships/hyperlink" Target="https://in.docworkspace.com/d/sIJTogtzyAcqTwLYG"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hyperlink" Target="https://in.docworkspace.com/d/sIKHogtzyAcuYwLYG"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in.docworkspace.com/d/sIBi8tLWAAteQm7YG" TargetMode="External"/><Relationship Id="rId2" Type="http://schemas.openxmlformats.org/officeDocument/2006/relationships/hyperlink" Target="https://in.docworkspace.com/d/sILm8tLWAAqeQm7YG" TargetMode="External"/><Relationship Id="rId1" Type="http://schemas.openxmlformats.org/officeDocument/2006/relationships/slideLayout" Target="../slideLayouts/slideLayout2.xml"/><Relationship Id="rId5" Type="http://schemas.openxmlformats.org/officeDocument/2006/relationships/hyperlink" Target="https://github.com/mohammedashraf11/Capstone-Project" TargetMode="External"/><Relationship Id="rId4" Type="http://schemas.openxmlformats.org/officeDocument/2006/relationships/hyperlink" Target="https://in.docworkspace.com/d/sIEy8tLWAAomRm7Y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
          <p:cNvPicPr preferRelativeResize="0"/>
          <p:nvPr/>
        </p:nvPicPr>
        <p:blipFill rotWithShape="1">
          <a:blip r:embed="rId3">
            <a:alphaModFix amt="20000"/>
          </a:blip>
          <a:srcRect l="1514" r="2310" b="19493"/>
          <a:stretch/>
        </p:blipFill>
        <p:spPr>
          <a:xfrm>
            <a:off x="-1235" y="36346"/>
            <a:ext cx="12272787" cy="6858000"/>
          </a:xfrm>
          <a:prstGeom prst="rect">
            <a:avLst/>
          </a:prstGeom>
          <a:noFill/>
          <a:ln>
            <a:noFill/>
          </a:ln>
        </p:spPr>
      </p:pic>
      <p:sp>
        <p:nvSpPr>
          <p:cNvPr id="88" name="Google Shape;88;p1"/>
          <p:cNvSpPr txBox="1"/>
          <p:nvPr/>
        </p:nvSpPr>
        <p:spPr>
          <a:xfrm>
            <a:off x="2904067" y="3139018"/>
            <a:ext cx="6383867"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8C212C"/>
                </a:solidFill>
                <a:latin typeface="Arial"/>
                <a:ea typeface="Arial"/>
                <a:cs typeface="Arial"/>
                <a:sym typeface="Arial"/>
              </a:rPr>
              <a:t>GITAM UNIVERSITY</a:t>
            </a:r>
            <a:endParaRPr sz="1400" b="0" i="0" u="none" strike="noStrike" cap="none">
              <a:solidFill>
                <a:srgbClr val="000000"/>
              </a:solidFill>
              <a:latin typeface="Arial"/>
              <a:ea typeface="Arial"/>
              <a:cs typeface="Arial"/>
              <a:sym typeface="Arial"/>
            </a:endParaRPr>
          </a:p>
        </p:txBody>
      </p:sp>
      <p:grpSp>
        <p:nvGrpSpPr>
          <p:cNvPr id="89" name="Google Shape;89;p1"/>
          <p:cNvGrpSpPr/>
          <p:nvPr/>
        </p:nvGrpSpPr>
        <p:grpSpPr>
          <a:xfrm>
            <a:off x="0" y="3139018"/>
            <a:ext cx="12192000" cy="594783"/>
            <a:chOff x="0" y="3138055"/>
            <a:chExt cx="12192000" cy="595746"/>
          </a:xfrm>
        </p:grpSpPr>
        <p:sp>
          <p:nvSpPr>
            <p:cNvPr id="90" name="Google Shape;90;p1"/>
            <p:cNvSpPr/>
            <p:nvPr/>
          </p:nvSpPr>
          <p:spPr>
            <a:xfrm>
              <a:off x="0" y="3138055"/>
              <a:ext cx="2432051"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0" b="0" i="0" u="none" strike="noStrike" cap="none">
                  <a:solidFill>
                    <a:schemeClr val="lt1"/>
                  </a:solidFill>
                  <a:latin typeface="Calibri"/>
                  <a:ea typeface="Calibri"/>
                  <a:cs typeface="Calibri"/>
                  <a:sym typeface="Calibri"/>
                </a:rPr>
                <a:t>AY </a:t>
              </a:r>
              <a:r>
                <a:rPr lang="en-US" sz="1350">
                  <a:solidFill>
                    <a:schemeClr val="lt1"/>
                  </a:solidFill>
                  <a:latin typeface="Calibri"/>
                  <a:ea typeface="Calibri"/>
                  <a:cs typeface="Calibri"/>
                  <a:sym typeface="Calibri"/>
                </a:rPr>
                <a:t>2021-25</a:t>
              </a:r>
              <a:endParaRPr sz="1351" b="0" i="0" u="none" strike="noStrike" cap="none">
                <a:solidFill>
                  <a:schemeClr val="lt1"/>
                </a:solidFill>
                <a:latin typeface="Calibri"/>
                <a:ea typeface="Calibri"/>
                <a:cs typeface="Calibri"/>
                <a:sym typeface="Calibri"/>
              </a:endParaRPr>
            </a:p>
          </p:txBody>
        </p:sp>
        <p:sp>
          <p:nvSpPr>
            <p:cNvPr id="91" name="Google Shape;91;p1"/>
            <p:cNvSpPr/>
            <p:nvPr/>
          </p:nvSpPr>
          <p:spPr>
            <a:xfrm>
              <a:off x="9734551" y="3138055"/>
              <a:ext cx="2457449"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0" b="0" i="0" u="none" strike="noStrike" cap="none">
                  <a:solidFill>
                    <a:schemeClr val="lt1"/>
                  </a:solidFill>
                  <a:latin typeface="Calibri"/>
                  <a:ea typeface="Calibri"/>
                  <a:cs typeface="Calibri"/>
                  <a:sym typeface="Calibri"/>
                </a:rPr>
                <a:t>Major Project</a:t>
              </a:r>
            </a:p>
            <a:p>
              <a:pPr marL="0" marR="0" lvl="0" indent="0" algn="ctr" rtl="0">
                <a:lnSpc>
                  <a:spcPct val="100000"/>
                </a:lnSpc>
                <a:spcBef>
                  <a:spcPts val="0"/>
                </a:spcBef>
                <a:spcAft>
                  <a:spcPts val="0"/>
                </a:spcAft>
                <a:buClr>
                  <a:srgbClr val="000000"/>
                </a:buClr>
                <a:buSzPts val="1351"/>
                <a:buFont typeface="Arial"/>
                <a:buNone/>
              </a:pPr>
              <a:r>
                <a:rPr lang="en-US" sz="1350">
                  <a:solidFill>
                    <a:schemeClr val="lt1"/>
                  </a:solidFill>
                  <a:latin typeface="Calibri"/>
                  <a:ea typeface="Calibri"/>
                  <a:cs typeface="Calibri"/>
                  <a:sym typeface="Calibri"/>
                </a:rPr>
                <a:t>Project ID: CS9</a:t>
              </a:r>
              <a:endParaRPr sz="1350" b="0" i="0" u="none" strike="noStrike" cap="none">
                <a:solidFill>
                  <a:schemeClr val="lt1"/>
                </a:solidFill>
                <a:latin typeface="Calibri"/>
                <a:ea typeface="Calibri"/>
                <a:cs typeface="Calibri"/>
                <a:sym typeface="Calibri"/>
              </a:endParaRPr>
            </a:p>
          </p:txBody>
        </p:sp>
      </p:grpSp>
      <p:sp>
        <p:nvSpPr>
          <p:cNvPr id="92" name="Google Shape;92;p1"/>
          <p:cNvSpPr/>
          <p:nvPr/>
        </p:nvSpPr>
        <p:spPr>
          <a:xfrm>
            <a:off x="3060700" y="3797300"/>
            <a:ext cx="609600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Montserrat Medium"/>
                <a:ea typeface="Montserrat Medium"/>
                <a:cs typeface="Montserrat Medium"/>
                <a:sym typeface="Montserrat Medium"/>
              </a:rPr>
              <a:t>A University should be a place of light, of liberty, and of learning.</a:t>
            </a:r>
            <a:endParaRPr sz="1400" b="0" i="0" u="none" strike="noStrike" cap="none">
              <a:solidFill>
                <a:srgbClr val="000000"/>
              </a:solidFill>
              <a:latin typeface="Arial"/>
              <a:ea typeface="Arial"/>
              <a:cs typeface="Arial"/>
              <a:sym typeface="Arial"/>
            </a:endParaRPr>
          </a:p>
        </p:txBody>
      </p:sp>
      <p:sp>
        <p:nvSpPr>
          <p:cNvPr id="93" name="Google Shape;93;p1"/>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7F7F7F"/>
                </a:solidFill>
                <a:latin typeface="Montserrat Medium"/>
                <a:ea typeface="Montserrat Medium"/>
                <a:cs typeface="Montserrat Medium"/>
                <a:sym typeface="Montserrat Medium"/>
              </a:rPr>
              <a:t>www.gitamedu.com</a:t>
            </a:r>
            <a:endParaRPr sz="1200" b="0" i="0" u="none" strike="noStrike" cap="none">
              <a:solidFill>
                <a:srgbClr val="7F7F7F"/>
              </a:solidFill>
              <a:latin typeface="Montserrat Medium"/>
              <a:ea typeface="Montserrat Medium"/>
              <a:cs typeface="Montserrat Medium"/>
              <a:sym typeface="Montserrat Medium"/>
            </a:endParaRPr>
          </a:p>
        </p:txBody>
      </p:sp>
      <p:grpSp>
        <p:nvGrpSpPr>
          <p:cNvPr id="94" name="Google Shape;94;p1"/>
          <p:cNvGrpSpPr/>
          <p:nvPr/>
        </p:nvGrpSpPr>
        <p:grpSpPr>
          <a:xfrm rot="2700000">
            <a:off x="5984712" y="5183993"/>
            <a:ext cx="231043" cy="225933"/>
            <a:chOff x="11087593" y="13905"/>
            <a:chExt cx="1085533" cy="1061509"/>
          </a:xfrm>
        </p:grpSpPr>
        <p:sp>
          <p:nvSpPr>
            <p:cNvPr id="95" name="Google Shape;95;p1"/>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96" name="Google Shape;96;p1"/>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pic>
        <p:nvPicPr>
          <p:cNvPr id="97" name="Google Shape;97;p1"/>
          <p:cNvPicPr preferRelativeResize="0"/>
          <p:nvPr/>
        </p:nvPicPr>
        <p:blipFill rotWithShape="1">
          <a:blip r:embed="rId4">
            <a:alphaModFix/>
          </a:blip>
          <a:srcRect l="22328" t="32664" r="61002" b="35101"/>
          <a:stretch/>
        </p:blipFill>
        <p:spPr>
          <a:xfrm>
            <a:off x="5367867" y="1325034"/>
            <a:ext cx="1534584" cy="1699684"/>
          </a:xfrm>
          <a:prstGeom prst="rect">
            <a:avLst/>
          </a:prstGeom>
          <a:noFill/>
          <a:ln>
            <a:noFill/>
          </a:ln>
        </p:spPr>
      </p:pic>
      <p:sp>
        <p:nvSpPr>
          <p:cNvPr id="104" name="Google Shape;104;p1"/>
          <p:cNvSpPr/>
          <p:nvPr/>
        </p:nvSpPr>
        <p:spPr>
          <a:xfrm>
            <a:off x="2904067" y="4430594"/>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a:solidFill>
                <a:schemeClr val="dk1"/>
              </a:solidFill>
              <a:latin typeface="Arial"/>
              <a:ea typeface="Arial"/>
              <a:cs typeface="Arial"/>
              <a:sym typeface="Arial"/>
            </a:endParaRPr>
          </a:p>
        </p:txBody>
      </p:sp>
      <p:sp>
        <p:nvSpPr>
          <p:cNvPr id="105" name="Google Shape;105;p1"/>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06" name="Google Shape;106;p1"/>
          <p:cNvSpPr/>
          <p:nvPr/>
        </p:nvSpPr>
        <p:spPr>
          <a:xfrm>
            <a:off x="3467790" y="432083"/>
            <a:ext cx="4917595" cy="594783"/>
          </a:xfrm>
          <a:prstGeom prst="rect">
            <a:avLst/>
          </a:prstGeom>
          <a:solidFill>
            <a:schemeClr val="accent4"/>
          </a:solidFill>
          <a:ln>
            <a:noFill/>
          </a:ln>
        </p:spPr>
        <p:txBody>
          <a:bodyPr spcFirstLastPara="1" wrap="square" lIns="91425" tIns="45700" rIns="91425" bIns="45700" anchor="ctr" anchorCtr="0">
            <a:noAutofit/>
          </a:bodyPr>
          <a:lstStyle/>
          <a:p>
            <a:pPr algn="ctr">
              <a:buSzPts val="1800"/>
            </a:pPr>
            <a:r>
              <a:rPr lang="en-US" sz="1800" b="1">
                <a:solidFill>
                  <a:schemeClr val="dk1"/>
                </a:solidFill>
                <a:latin typeface="Times New Roman"/>
                <a:ea typeface="Montserrat"/>
                <a:cs typeface="Times New Roman"/>
              </a:rPr>
              <a:t>Low Light Image Enhancement Using Homomorphic Filtering Approach</a:t>
            </a:r>
            <a:endParaRPr lang="en-US" sz="1800" b="1" i="0" u="none" strike="noStrike" cap="none">
              <a:solidFill>
                <a:schemeClr val="dk1"/>
              </a:solidFill>
              <a:latin typeface="Times New Roman"/>
              <a:ea typeface="Montserrat"/>
              <a:cs typeface="Times New Roman"/>
            </a:endParaRPr>
          </a:p>
        </p:txBody>
      </p:sp>
      <p:sp>
        <p:nvSpPr>
          <p:cNvPr id="2" name="Google Shape;111;p1">
            <a:extLst>
              <a:ext uri="{FF2B5EF4-FFF2-40B4-BE49-F238E27FC236}">
                <a16:creationId xmlns:a16="http://schemas.microsoft.com/office/drawing/2014/main" id="{9D6E9948-A142-7B28-3C91-30F0929BCAEC}"/>
              </a:ext>
            </a:extLst>
          </p:cNvPr>
          <p:cNvSpPr/>
          <p:nvPr/>
        </p:nvSpPr>
        <p:spPr>
          <a:xfrm>
            <a:off x="66260" y="5253329"/>
            <a:ext cx="2926946" cy="1169511"/>
          </a:xfrm>
          <a:prstGeom prst="rect">
            <a:avLst/>
          </a:prstGeom>
          <a:noFill/>
          <a:ln>
            <a:noFill/>
          </a:ln>
        </p:spPr>
        <p:txBody>
          <a:bodyPr spcFirstLastPara="1" wrap="square" lIns="91425" tIns="45700" rIns="91425" bIns="45700" anchor="t" anchorCtr="0">
            <a:spAutoFit/>
          </a:bodyPr>
          <a:lstStyle/>
          <a:p>
            <a:pPr>
              <a:buSzPts val="1400"/>
            </a:pPr>
            <a:r>
              <a:rPr lang="en-US" sz="1400" b="1" i="0" u="none" strike="noStrike" cap="none">
                <a:solidFill>
                  <a:schemeClr val="dk1"/>
                </a:solidFill>
                <a:latin typeface="Montserrat Medium"/>
                <a:ea typeface="Montserrat Medium"/>
                <a:cs typeface="Montserrat Medium"/>
                <a:sym typeface="Montserrat Medium"/>
              </a:rPr>
              <a:t>Project Team: </a:t>
            </a:r>
            <a:endParaRPr lang="en-US">
              <a:solidFill>
                <a:schemeClr val="dk1"/>
              </a:solidFill>
            </a:endParaRPr>
          </a:p>
          <a:p>
            <a:pPr marL="285750" marR="0" lvl="0" indent="-285750" rtl="0">
              <a:lnSpc>
                <a:spcPct val="100000"/>
              </a:lnSpc>
              <a:spcBef>
                <a:spcPts val="0"/>
              </a:spcBef>
              <a:spcAft>
                <a:spcPts val="0"/>
              </a:spcAft>
              <a:buSzPts val="1400"/>
              <a:buChar char="•"/>
            </a:pPr>
            <a:r>
              <a:rPr lang="en-US" b="1">
                <a:solidFill>
                  <a:schemeClr val="dk1"/>
                </a:solidFill>
                <a:latin typeface="Montserrat Medium"/>
              </a:rPr>
              <a:t>Mohammed Ashraf Razvi</a:t>
            </a:r>
            <a:endParaRPr lang="en-US">
              <a:solidFill>
                <a:schemeClr val="dk1"/>
              </a:solidFill>
            </a:endParaRPr>
          </a:p>
          <a:p>
            <a:pPr marL="285750" indent="-285750">
              <a:buSzPts val="1400"/>
              <a:buChar char="•"/>
            </a:pPr>
            <a:r>
              <a:rPr lang="en-US" b="1">
                <a:solidFill>
                  <a:schemeClr val="dk1"/>
                </a:solidFill>
                <a:latin typeface="Montserrat Medium"/>
              </a:rPr>
              <a:t>Shaik Kashida Jabeen </a:t>
            </a:r>
            <a:endParaRPr lang="en-US">
              <a:solidFill>
                <a:schemeClr val="dk1"/>
              </a:solidFill>
            </a:endParaRPr>
          </a:p>
          <a:p>
            <a:pPr marL="285750" indent="-285750">
              <a:buSzPts val="1400"/>
              <a:buChar char="•"/>
            </a:pPr>
            <a:r>
              <a:rPr lang="en-US" b="1">
                <a:solidFill>
                  <a:schemeClr val="dk1"/>
                </a:solidFill>
                <a:latin typeface="Montserrat Medium"/>
              </a:rPr>
              <a:t>Avva Praveen Babu</a:t>
            </a:r>
            <a:endParaRPr lang="en-US">
              <a:solidFill>
                <a:schemeClr val="dk1"/>
              </a:solidFill>
            </a:endParaRPr>
          </a:p>
          <a:p>
            <a:pPr marL="285750" indent="-285750" algn="ctr">
              <a:buSzPts val="1400"/>
              <a:buFont typeface="Arial" panose="020B0604020202020204" pitchFamily="34" charset="0"/>
              <a:buChar char="•"/>
            </a:pPr>
            <a:endParaRPr sz="1400" b="1" i="0" u="none" strike="noStrike" cap="none">
              <a:solidFill>
                <a:schemeClr val="dk1"/>
              </a:solidFill>
              <a:latin typeface="Arial"/>
              <a:ea typeface="Arial"/>
              <a:cs typeface="Arial"/>
              <a:sym typeface="Arial"/>
            </a:endParaRPr>
          </a:p>
        </p:txBody>
      </p:sp>
      <p:sp>
        <p:nvSpPr>
          <p:cNvPr id="3" name="Google Shape;111;p1">
            <a:extLst>
              <a:ext uri="{FF2B5EF4-FFF2-40B4-BE49-F238E27FC236}">
                <a16:creationId xmlns:a16="http://schemas.microsoft.com/office/drawing/2014/main" id="{17A4430A-651A-8136-68E4-294987EE07F8}"/>
              </a:ext>
            </a:extLst>
          </p:cNvPr>
          <p:cNvSpPr/>
          <p:nvPr/>
        </p:nvSpPr>
        <p:spPr>
          <a:xfrm>
            <a:off x="9449802" y="5295901"/>
            <a:ext cx="2926946" cy="523180"/>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Montserrat Medium"/>
                <a:ea typeface="Montserrat Medium"/>
                <a:cs typeface="Montserrat Medium"/>
                <a:sym typeface="Montserrat Medium"/>
              </a:rPr>
              <a:t>Project Mentor: </a:t>
            </a:r>
          </a:p>
          <a:p>
            <a:pPr marL="285750" indent="-285750">
              <a:buSzPts val="1400"/>
              <a:buFont typeface="Arial" panose="020B0604020202020204" pitchFamily="34" charset="0"/>
              <a:buChar char="•"/>
            </a:pPr>
            <a:r>
              <a:rPr lang="en-US" b="1">
                <a:solidFill>
                  <a:schemeClr val="dk1"/>
                </a:solidFill>
                <a:latin typeface="Montserrat Medium"/>
              </a:rPr>
              <a:t>Pankaj </a:t>
            </a:r>
            <a:r>
              <a:rPr lang="en-US" b="1" err="1">
                <a:solidFill>
                  <a:schemeClr val="dk1"/>
                </a:solidFill>
                <a:latin typeface="Montserrat Medium"/>
              </a:rPr>
              <a:t>Kandhway</a:t>
            </a:r>
            <a:endParaRPr lang="en-US" sz="1400" b="1" i="0" u="none" strike="noStrike" cap="none" err="1">
              <a:solidFill>
                <a:schemeClr val="dk1"/>
              </a:solidFill>
              <a:latin typeface="Montserrat Medium"/>
              <a:ea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76"/>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p:cNvGrpSpPr/>
          <p:nvPr/>
        </p:nvGrpSpPr>
        <p:grpSpPr>
          <a:xfrm>
            <a:off x="11856720" y="140636"/>
            <a:ext cx="223520" cy="990718"/>
            <a:chOff x="11856720" y="140636"/>
            <a:chExt cx="223520" cy="990718"/>
          </a:xfrm>
        </p:grpSpPr>
        <p:grpSp>
          <p:nvGrpSpPr>
            <p:cNvPr id="113" name="Google Shape;113;p76"/>
            <p:cNvGrpSpPr/>
            <p:nvPr/>
          </p:nvGrpSpPr>
          <p:grpSpPr>
            <a:xfrm>
              <a:off x="11856720" y="660278"/>
              <a:ext cx="223520" cy="471076"/>
              <a:chOff x="9734551" y="3138055"/>
              <a:chExt cx="2457449" cy="1328450"/>
            </a:xfrm>
          </p:grpSpPr>
          <p:sp>
            <p:nvSpPr>
              <p:cNvPr id="114" name="Google Shape;114;p76"/>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p:cNvGrpSpPr/>
            <p:nvPr/>
          </p:nvGrpSpPr>
          <p:grpSpPr>
            <a:xfrm>
              <a:off x="11856720" y="140636"/>
              <a:ext cx="223520" cy="471076"/>
              <a:chOff x="9734551" y="3138055"/>
              <a:chExt cx="2457449" cy="1328450"/>
            </a:xfrm>
          </p:grpSpPr>
          <p:sp>
            <p:nvSpPr>
              <p:cNvPr id="117" name="Google Shape;117;p76"/>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1FDBF49F-EBC8-595E-8495-305F025C20F6}"/>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8" name="Google Shape;125;p3">
            <a:extLst>
              <a:ext uri="{FF2B5EF4-FFF2-40B4-BE49-F238E27FC236}">
                <a16:creationId xmlns:a16="http://schemas.microsoft.com/office/drawing/2014/main" id="{80C5FE84-A4F7-9B31-B0D9-70C0F0AE2C47}"/>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Montserrat"/>
                <a:ea typeface="Montserrat"/>
                <a:cs typeface="Montserrat"/>
                <a:sym typeface="Montserrat"/>
              </a:rPr>
              <a:t>Project Group – Details</a:t>
            </a:r>
            <a:endParaRPr/>
          </a:p>
        </p:txBody>
      </p:sp>
      <p:grpSp>
        <p:nvGrpSpPr>
          <p:cNvPr id="16" name="Group 15">
            <a:extLst>
              <a:ext uri="{FF2B5EF4-FFF2-40B4-BE49-F238E27FC236}">
                <a16:creationId xmlns:a16="http://schemas.microsoft.com/office/drawing/2014/main" id="{3214F0F0-0070-3598-A718-7B19F2871B93}"/>
              </a:ext>
            </a:extLst>
          </p:cNvPr>
          <p:cNvGrpSpPr/>
          <p:nvPr/>
        </p:nvGrpSpPr>
        <p:grpSpPr>
          <a:xfrm>
            <a:off x="550606" y="762414"/>
            <a:ext cx="10965118" cy="305674"/>
            <a:chOff x="550606" y="762414"/>
            <a:chExt cx="10965118" cy="305674"/>
          </a:xfrm>
          <a:solidFill>
            <a:schemeClr val="tx2">
              <a:lumMod val="10000"/>
            </a:schemeClr>
          </a:solidFill>
        </p:grpSpPr>
        <p:sp>
          <p:nvSpPr>
            <p:cNvPr id="2" name="Google Shape;120;p76">
              <a:extLst>
                <a:ext uri="{FF2B5EF4-FFF2-40B4-BE49-F238E27FC236}">
                  <a16:creationId xmlns:a16="http://schemas.microsoft.com/office/drawing/2014/main" id="{73BC9062-DCB3-7306-E819-DCC861C0023D}"/>
                </a:ext>
              </a:extLst>
            </p:cNvPr>
            <p:cNvSpPr/>
            <p:nvPr/>
          </p:nvSpPr>
          <p:spPr>
            <a:xfrm>
              <a:off x="550606" y="765905"/>
              <a:ext cx="2114338" cy="302183"/>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Photo </a:t>
              </a:r>
              <a:endParaRPr sz="1000" b="1" i="0" u="none" strike="noStrike" cap="none">
                <a:solidFill>
                  <a:srgbClr val="000000"/>
                </a:solidFill>
                <a:latin typeface="Arial"/>
                <a:ea typeface="Arial"/>
                <a:cs typeface="Arial"/>
                <a:sym typeface="Arial"/>
              </a:endParaRPr>
            </a:p>
          </p:txBody>
        </p:sp>
        <p:sp>
          <p:nvSpPr>
            <p:cNvPr id="9" name="Google Shape;120;p76">
              <a:extLst>
                <a:ext uri="{FF2B5EF4-FFF2-40B4-BE49-F238E27FC236}">
                  <a16:creationId xmlns:a16="http://schemas.microsoft.com/office/drawing/2014/main" id="{9B2C7E98-36BC-7E80-D761-7674F1BB1290}"/>
                </a:ext>
              </a:extLst>
            </p:cNvPr>
            <p:cNvSpPr/>
            <p:nvPr/>
          </p:nvSpPr>
          <p:spPr>
            <a:xfrm>
              <a:off x="2759165" y="762415"/>
              <a:ext cx="187182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Track</a:t>
              </a:r>
              <a:endParaRPr sz="1000" b="1" i="0" u="none" strike="noStrike" cap="none">
                <a:solidFill>
                  <a:srgbClr val="000000"/>
                </a:solidFill>
                <a:latin typeface="Arial"/>
                <a:ea typeface="Arial"/>
                <a:cs typeface="Arial"/>
                <a:sym typeface="Arial"/>
              </a:endParaRPr>
            </a:p>
          </p:txBody>
        </p:sp>
        <p:sp>
          <p:nvSpPr>
            <p:cNvPr id="10" name="Google Shape;120;p76">
              <a:extLst>
                <a:ext uri="{FF2B5EF4-FFF2-40B4-BE49-F238E27FC236}">
                  <a16:creationId xmlns:a16="http://schemas.microsoft.com/office/drawing/2014/main" id="{727B01B2-826E-A9BE-9114-38D3502E330D}"/>
                </a:ext>
              </a:extLst>
            </p:cNvPr>
            <p:cNvSpPr/>
            <p:nvPr/>
          </p:nvSpPr>
          <p:spPr>
            <a:xfrm>
              <a:off x="4799359" y="772109"/>
              <a:ext cx="2004564"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Roll No</a:t>
              </a:r>
              <a:endParaRPr sz="1000" b="1" i="0" u="none" strike="noStrike" cap="none">
                <a:solidFill>
                  <a:srgbClr val="000000"/>
                </a:solidFill>
                <a:latin typeface="Arial"/>
                <a:ea typeface="Arial"/>
                <a:cs typeface="Arial"/>
                <a:sym typeface="Arial"/>
              </a:endParaRPr>
            </a:p>
          </p:txBody>
        </p:sp>
        <p:sp>
          <p:nvSpPr>
            <p:cNvPr id="11" name="Google Shape;120;p76">
              <a:extLst>
                <a:ext uri="{FF2B5EF4-FFF2-40B4-BE49-F238E27FC236}">
                  <a16:creationId xmlns:a16="http://schemas.microsoft.com/office/drawing/2014/main" id="{25926E8D-BD84-A2C1-48C0-4E0D30CE99A8}"/>
                </a:ext>
              </a:extLst>
            </p:cNvPr>
            <p:cNvSpPr/>
            <p:nvPr/>
          </p:nvSpPr>
          <p:spPr>
            <a:xfrm>
              <a:off x="6937875" y="762414"/>
              <a:ext cx="457784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Name</a:t>
              </a:r>
              <a:endParaRPr lang="en-US" sz="1000" b="1">
                <a:ea typeface="Verdana"/>
              </a:endParaRPr>
            </a:p>
          </p:txBody>
        </p:sp>
      </p:grpSp>
      <p:grpSp>
        <p:nvGrpSpPr>
          <p:cNvPr id="15" name="Group 14">
            <a:extLst>
              <a:ext uri="{FF2B5EF4-FFF2-40B4-BE49-F238E27FC236}">
                <a16:creationId xmlns:a16="http://schemas.microsoft.com/office/drawing/2014/main" id="{7A25B51E-0316-3A04-0D09-C9B5A893FEEF}"/>
              </a:ext>
            </a:extLst>
          </p:cNvPr>
          <p:cNvGrpSpPr/>
          <p:nvPr/>
        </p:nvGrpSpPr>
        <p:grpSpPr>
          <a:xfrm>
            <a:off x="2759164" y="1839212"/>
            <a:ext cx="8756560" cy="369096"/>
            <a:chOff x="2759164" y="1557376"/>
            <a:chExt cx="8756560" cy="369096"/>
          </a:xfrm>
        </p:grpSpPr>
        <p:sp>
          <p:nvSpPr>
            <p:cNvPr id="12" name="Google Shape;120;p76">
              <a:extLst>
                <a:ext uri="{FF2B5EF4-FFF2-40B4-BE49-F238E27FC236}">
                  <a16:creationId xmlns:a16="http://schemas.microsoft.com/office/drawing/2014/main" id="{C3480FF3-25F3-638F-C9B0-ED60F7818170}"/>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 </a:t>
              </a:r>
              <a:endParaRPr sz="900" b="0" i="0" u="none" strike="noStrike" cap="none">
                <a:solidFill>
                  <a:schemeClr val="lt1"/>
                </a:solidFill>
                <a:latin typeface="Arial"/>
                <a:ea typeface="Arial"/>
                <a:cs typeface="Arial"/>
                <a:sym typeface="Arial"/>
              </a:endParaRPr>
            </a:p>
          </p:txBody>
        </p:sp>
        <p:sp>
          <p:nvSpPr>
            <p:cNvPr id="13" name="Google Shape;120;p76">
              <a:extLst>
                <a:ext uri="{FF2B5EF4-FFF2-40B4-BE49-F238E27FC236}">
                  <a16:creationId xmlns:a16="http://schemas.microsoft.com/office/drawing/2014/main" id="{062AA0B2-B833-6559-2A32-970A49C4976B}"/>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a:solidFill>
                    <a:schemeClr val="lt1"/>
                  </a:solidFill>
                  <a:latin typeface="Verdana"/>
                  <a:ea typeface="Verdana"/>
                </a:rPr>
                <a:t>BU21EECE0100149</a:t>
              </a:r>
              <a:endParaRPr lang="en-US" b="0" i="0" u="none" strike="noStrike" cap="none">
                <a:solidFill>
                  <a:schemeClr val="lt1"/>
                </a:solidFill>
                <a:latin typeface="Verdana"/>
                <a:ea typeface="Verdana"/>
              </a:endParaRPr>
            </a:p>
          </p:txBody>
        </p:sp>
        <p:sp>
          <p:nvSpPr>
            <p:cNvPr id="14" name="Google Shape;120;p76">
              <a:extLst>
                <a:ext uri="{FF2B5EF4-FFF2-40B4-BE49-F238E27FC236}">
                  <a16:creationId xmlns:a16="http://schemas.microsoft.com/office/drawing/2014/main" id="{24798C12-632D-B1A2-C441-76E8952EACEA}"/>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buSzPts val="3600"/>
              </a:pPr>
              <a:r>
                <a:rPr lang="en-US" sz="1800">
                  <a:solidFill>
                    <a:schemeClr val="lt1"/>
                  </a:solidFill>
                  <a:latin typeface="Verdana"/>
                  <a:ea typeface="Verdana"/>
                </a:rPr>
                <a:t>MOHAMMED ASHRAF RAZVI</a:t>
              </a:r>
              <a:endParaRPr lang="en-US" sz="1800" b="0" i="0" u="none" strike="noStrike" cap="none">
                <a:solidFill>
                  <a:schemeClr val="lt1"/>
                </a:solidFill>
                <a:latin typeface="Verdana"/>
                <a:ea typeface="Verdana"/>
              </a:endParaRPr>
            </a:p>
          </p:txBody>
        </p:sp>
      </p:grpSp>
      <p:grpSp>
        <p:nvGrpSpPr>
          <p:cNvPr id="17" name="Group 16">
            <a:extLst>
              <a:ext uri="{FF2B5EF4-FFF2-40B4-BE49-F238E27FC236}">
                <a16:creationId xmlns:a16="http://schemas.microsoft.com/office/drawing/2014/main" id="{C61F5C13-96AD-11F8-724A-587975F3FBAF}"/>
              </a:ext>
            </a:extLst>
          </p:cNvPr>
          <p:cNvGrpSpPr/>
          <p:nvPr/>
        </p:nvGrpSpPr>
        <p:grpSpPr>
          <a:xfrm>
            <a:off x="2759164" y="3714066"/>
            <a:ext cx="8756560" cy="369096"/>
            <a:chOff x="2759164" y="1557376"/>
            <a:chExt cx="8756560" cy="369096"/>
          </a:xfrm>
        </p:grpSpPr>
        <p:sp>
          <p:nvSpPr>
            <p:cNvPr id="19" name="Google Shape;120;p76">
              <a:extLst>
                <a:ext uri="{FF2B5EF4-FFF2-40B4-BE49-F238E27FC236}">
                  <a16:creationId xmlns:a16="http://schemas.microsoft.com/office/drawing/2014/main" id="{453EAC09-D32E-7EED-F68B-2E1E43446A90}"/>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 </a:t>
              </a:r>
              <a:endParaRPr sz="900" b="0" i="0" u="none" strike="noStrike" cap="none">
                <a:solidFill>
                  <a:schemeClr val="lt1"/>
                </a:solidFill>
                <a:latin typeface="Arial"/>
                <a:ea typeface="Arial"/>
                <a:cs typeface="Arial"/>
                <a:sym typeface="Arial"/>
              </a:endParaRPr>
            </a:p>
          </p:txBody>
        </p:sp>
        <p:sp>
          <p:nvSpPr>
            <p:cNvPr id="20" name="Google Shape;120;p76">
              <a:extLst>
                <a:ext uri="{FF2B5EF4-FFF2-40B4-BE49-F238E27FC236}">
                  <a16:creationId xmlns:a16="http://schemas.microsoft.com/office/drawing/2014/main" id="{BB107C69-9B8B-7B95-CD41-FC6D1BDA3C8A}"/>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endParaRPr lang="en-US">
                <a:solidFill>
                  <a:schemeClr val="lt1"/>
                </a:solidFill>
                <a:latin typeface="Verdana"/>
                <a:ea typeface="Verdana"/>
                <a:sym typeface="Verdana"/>
              </a:endParaRPr>
            </a:p>
            <a:p>
              <a:pPr algn="ctr"/>
              <a:r>
                <a:rPr lang="en-US">
                  <a:solidFill>
                    <a:schemeClr val="lt1"/>
                  </a:solidFill>
                  <a:latin typeface="Verdana"/>
                  <a:ea typeface="Verdana"/>
                  <a:sym typeface="Verdana"/>
                </a:rPr>
                <a:t>BU21EECE0100512</a:t>
              </a:r>
              <a:endParaRPr lang="en-US">
                <a:solidFill>
                  <a:schemeClr val="lt1"/>
                </a:solidFill>
              </a:endParaRPr>
            </a:p>
            <a:p>
              <a:pPr marL="0" marR="0" lvl="0" indent="0" algn="ctr">
                <a:lnSpc>
                  <a:spcPct val="100000"/>
                </a:lnSpc>
                <a:spcBef>
                  <a:spcPts val="0"/>
                </a:spcBef>
                <a:spcAft>
                  <a:spcPts val="0"/>
                </a:spcAft>
                <a:buSzPts val="3600"/>
                <a:buFont typeface="Arial"/>
                <a:buNone/>
              </a:pPr>
              <a:endParaRPr lang="en-US" sz="1800" b="0" i="0" u="none" strike="noStrike" cap="none">
                <a:solidFill>
                  <a:schemeClr val="lt1"/>
                </a:solidFill>
                <a:latin typeface="Verdana"/>
                <a:ea typeface="Verdana"/>
              </a:endParaRPr>
            </a:p>
          </p:txBody>
        </p:sp>
        <p:sp>
          <p:nvSpPr>
            <p:cNvPr id="21" name="Google Shape;120;p76">
              <a:extLst>
                <a:ext uri="{FF2B5EF4-FFF2-40B4-BE49-F238E27FC236}">
                  <a16:creationId xmlns:a16="http://schemas.microsoft.com/office/drawing/2014/main" id="{DE56DF2B-5335-AE58-398A-10B30B744F1E}"/>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buSzPts val="3600"/>
              </a:pPr>
              <a:r>
                <a:rPr lang="en-US" sz="1800">
                  <a:solidFill>
                    <a:schemeClr val="lt1"/>
                  </a:solidFill>
                  <a:latin typeface="Verdana"/>
                  <a:ea typeface="Verdana"/>
                </a:rPr>
                <a:t>SHAIK KASHIDA JABEEN</a:t>
              </a:r>
              <a:endParaRPr lang="en-US" sz="1800" b="0" i="0" u="none" strike="noStrike" cap="none">
                <a:solidFill>
                  <a:schemeClr val="lt1"/>
                </a:solidFill>
                <a:latin typeface="Verdana"/>
                <a:ea typeface="Verdana"/>
              </a:endParaRPr>
            </a:p>
          </p:txBody>
        </p:sp>
      </p:grpSp>
      <p:grpSp>
        <p:nvGrpSpPr>
          <p:cNvPr id="22" name="Group 21">
            <a:extLst>
              <a:ext uri="{FF2B5EF4-FFF2-40B4-BE49-F238E27FC236}">
                <a16:creationId xmlns:a16="http://schemas.microsoft.com/office/drawing/2014/main" id="{F7DCE4E5-0271-1BA1-0E5E-99E9BFDC0095}"/>
              </a:ext>
            </a:extLst>
          </p:cNvPr>
          <p:cNvGrpSpPr/>
          <p:nvPr/>
        </p:nvGrpSpPr>
        <p:grpSpPr>
          <a:xfrm>
            <a:off x="2756351" y="5463704"/>
            <a:ext cx="8756560" cy="369096"/>
            <a:chOff x="2759164" y="1557376"/>
            <a:chExt cx="8756560" cy="369096"/>
          </a:xfrm>
        </p:grpSpPr>
        <p:sp>
          <p:nvSpPr>
            <p:cNvPr id="24" name="Google Shape;120;p76">
              <a:extLst>
                <a:ext uri="{FF2B5EF4-FFF2-40B4-BE49-F238E27FC236}">
                  <a16:creationId xmlns:a16="http://schemas.microsoft.com/office/drawing/2014/main" id="{3D317F98-521D-0A8B-87B6-C44AAC328168}"/>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 </a:t>
              </a:r>
              <a:endParaRPr sz="900" b="0" i="0" u="none" strike="noStrike" cap="none">
                <a:solidFill>
                  <a:schemeClr val="lt1"/>
                </a:solidFill>
                <a:latin typeface="Arial"/>
                <a:ea typeface="Arial"/>
                <a:cs typeface="Arial"/>
                <a:sym typeface="Arial"/>
              </a:endParaRPr>
            </a:p>
          </p:txBody>
        </p:sp>
        <p:sp>
          <p:nvSpPr>
            <p:cNvPr id="25" name="Google Shape;120;p76">
              <a:extLst>
                <a:ext uri="{FF2B5EF4-FFF2-40B4-BE49-F238E27FC236}">
                  <a16:creationId xmlns:a16="http://schemas.microsoft.com/office/drawing/2014/main" id="{D386AA56-F2F5-56F4-0B77-077184791E12}"/>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endParaRPr lang="en-US">
                <a:solidFill>
                  <a:schemeClr val="lt1"/>
                </a:solidFill>
                <a:latin typeface="Verdana"/>
                <a:ea typeface="Verdana"/>
                <a:sym typeface="Verdana"/>
              </a:endParaRPr>
            </a:p>
            <a:p>
              <a:pPr algn="ctr"/>
              <a:r>
                <a:rPr lang="en-US">
                  <a:solidFill>
                    <a:schemeClr val="lt1"/>
                  </a:solidFill>
                  <a:latin typeface="Verdana"/>
                  <a:ea typeface="Verdana"/>
                  <a:sym typeface="Verdana"/>
                </a:rPr>
                <a:t>BU21EECE0100527</a:t>
              </a:r>
              <a:endParaRPr lang="en-US">
                <a:solidFill>
                  <a:schemeClr val="lt1"/>
                </a:solidFill>
                <a:latin typeface="Verdana"/>
                <a:ea typeface="Verdana"/>
              </a:endParaRPr>
            </a:p>
            <a:p>
              <a:pPr marL="0" marR="0" lvl="0" indent="0" algn="ctr">
                <a:lnSpc>
                  <a:spcPct val="100000"/>
                </a:lnSpc>
                <a:spcBef>
                  <a:spcPts val="0"/>
                </a:spcBef>
                <a:spcAft>
                  <a:spcPts val="0"/>
                </a:spcAft>
                <a:buSzPts val="3600"/>
                <a:buFont typeface="Arial"/>
                <a:buNone/>
              </a:pPr>
              <a:endParaRPr lang="en-US" sz="1800" b="0" i="0" u="none" strike="noStrike" cap="none">
                <a:solidFill>
                  <a:schemeClr val="lt1"/>
                </a:solidFill>
                <a:latin typeface="Verdana"/>
                <a:ea typeface="Verdana"/>
              </a:endParaRPr>
            </a:p>
          </p:txBody>
        </p:sp>
        <p:sp>
          <p:nvSpPr>
            <p:cNvPr id="26" name="Google Shape;120;p76">
              <a:extLst>
                <a:ext uri="{FF2B5EF4-FFF2-40B4-BE49-F238E27FC236}">
                  <a16:creationId xmlns:a16="http://schemas.microsoft.com/office/drawing/2014/main" id="{49905DAB-27F0-0BFC-C243-04C498A04B7C}"/>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buSzPts val="3600"/>
              </a:pPr>
              <a:r>
                <a:rPr lang="en-US" sz="1800">
                  <a:solidFill>
                    <a:schemeClr val="lt1"/>
                  </a:solidFill>
                  <a:latin typeface="Verdana"/>
                  <a:ea typeface="Verdana"/>
                </a:rPr>
                <a:t>AVVA PRAVEEN BABU</a:t>
              </a:r>
              <a:endParaRPr lang="en-US" sz="1800" b="0" i="0" u="none" strike="noStrike" cap="none">
                <a:solidFill>
                  <a:schemeClr val="lt1"/>
                </a:solidFill>
                <a:latin typeface="Verdana"/>
                <a:ea typeface="Verdana"/>
              </a:endParaRPr>
            </a:p>
          </p:txBody>
        </p:sp>
      </p:grpSp>
      <p:sp>
        <p:nvSpPr>
          <p:cNvPr id="33" name="Slide Number Placeholder 32">
            <a:extLst>
              <a:ext uri="{FF2B5EF4-FFF2-40B4-BE49-F238E27FC236}">
                <a16:creationId xmlns:a16="http://schemas.microsoft.com/office/drawing/2014/main" id="{2D7765F4-D938-C625-7541-CDC9FD9AC3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pic>
        <p:nvPicPr>
          <p:cNvPr id="3" name="Picture 2" descr="A person with a mustache and a red shirt&#10;&#10;Description automatically generated">
            <a:extLst>
              <a:ext uri="{FF2B5EF4-FFF2-40B4-BE49-F238E27FC236}">
                <a16:creationId xmlns:a16="http://schemas.microsoft.com/office/drawing/2014/main" id="{BDB1AEB9-8BEF-893C-B5A1-B3121D49AE25}"/>
              </a:ext>
            </a:extLst>
          </p:cNvPr>
          <p:cNvPicPr>
            <a:picLocks noChangeAspect="1"/>
          </p:cNvPicPr>
          <p:nvPr/>
        </p:nvPicPr>
        <p:blipFill>
          <a:blip r:embed="rId5"/>
          <a:srcRect l="1881" t="5316" r="1881" b="3161"/>
          <a:stretch/>
        </p:blipFill>
        <p:spPr>
          <a:xfrm>
            <a:off x="799348" y="5092101"/>
            <a:ext cx="1349559" cy="1495551"/>
          </a:xfrm>
          <a:prstGeom prst="rect">
            <a:avLst/>
          </a:prstGeom>
        </p:spPr>
      </p:pic>
      <p:pic>
        <p:nvPicPr>
          <p:cNvPr id="5" name="Picture 4" descr="A person with a mustache&#10;&#10;Description automatically generated">
            <a:extLst>
              <a:ext uri="{FF2B5EF4-FFF2-40B4-BE49-F238E27FC236}">
                <a16:creationId xmlns:a16="http://schemas.microsoft.com/office/drawing/2014/main" id="{DC0E7E8A-F664-D9F6-15A0-0E511606489D}"/>
              </a:ext>
            </a:extLst>
          </p:cNvPr>
          <p:cNvPicPr>
            <a:picLocks noChangeAspect="1"/>
          </p:cNvPicPr>
          <p:nvPr/>
        </p:nvPicPr>
        <p:blipFill>
          <a:blip r:embed="rId6"/>
          <a:stretch>
            <a:fillRect/>
          </a:stretch>
        </p:blipFill>
        <p:spPr>
          <a:xfrm>
            <a:off x="794808" y="1278467"/>
            <a:ext cx="1341967" cy="1496484"/>
          </a:xfrm>
          <a:prstGeom prst="rect">
            <a:avLst/>
          </a:prstGeom>
        </p:spPr>
      </p:pic>
      <p:pic>
        <p:nvPicPr>
          <p:cNvPr id="6" name="Picture 5" descr="A person wearing a purple head scarf and glasses&#10;&#10;Description automatically generated">
            <a:extLst>
              <a:ext uri="{FF2B5EF4-FFF2-40B4-BE49-F238E27FC236}">
                <a16:creationId xmlns:a16="http://schemas.microsoft.com/office/drawing/2014/main" id="{7E86ADB2-5D66-305D-896F-C71B32E37966}"/>
              </a:ext>
            </a:extLst>
          </p:cNvPr>
          <p:cNvPicPr>
            <a:picLocks noChangeAspect="1"/>
          </p:cNvPicPr>
          <p:nvPr/>
        </p:nvPicPr>
        <p:blipFill>
          <a:blip r:embed="rId7"/>
          <a:stretch>
            <a:fillRect/>
          </a:stretch>
        </p:blipFill>
        <p:spPr>
          <a:xfrm flipH="1">
            <a:off x="796093" y="3153833"/>
            <a:ext cx="1338186" cy="14922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47930E-2C02-0144-3ADD-D66F045290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3</a:t>
            </a:fld>
            <a:endParaRPr lang="en-US"/>
          </a:p>
        </p:txBody>
      </p:sp>
      <p:pic>
        <p:nvPicPr>
          <p:cNvPr id="7" name="Picture Placeholder 6" descr="A graph with multiple colored bars&#10;&#10;Description automatically generated">
            <a:extLst>
              <a:ext uri="{FF2B5EF4-FFF2-40B4-BE49-F238E27FC236}">
                <a16:creationId xmlns:a16="http://schemas.microsoft.com/office/drawing/2014/main" id="{6F531F47-9C07-F3BE-3A49-0F277EF1BB48}"/>
              </a:ext>
            </a:extLst>
          </p:cNvPr>
          <p:cNvPicPr>
            <a:picLocks noGrp="1" noChangeAspect="1"/>
          </p:cNvPicPr>
          <p:nvPr>
            <p:ph type="pic" idx="2"/>
          </p:nvPr>
        </p:nvPicPr>
        <p:blipFill>
          <a:blip r:embed="rId2"/>
          <a:srcRect t="5342" b="5342"/>
          <a:stretch/>
        </p:blipFill>
        <p:spPr/>
      </p:pic>
    </p:spTree>
    <p:extLst>
      <p:ext uri="{BB962C8B-B14F-4D97-AF65-F5344CB8AC3E}">
        <p14:creationId xmlns:p14="http://schemas.microsoft.com/office/powerpoint/2010/main" val="2172958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pic>
        <p:nvPicPr>
          <p:cNvPr id="111" name="Google Shape;111;p76">
            <a:extLst>
              <a:ext uri="{FF2B5EF4-FFF2-40B4-BE49-F238E27FC236}">
                <a16:creationId xmlns:a16="http://schemas.microsoft.com/office/drawing/2014/main" id="{CD36C4A8-2052-7C84-C39A-3CBDF0046CFF}"/>
              </a:ext>
            </a:extLst>
          </p:cNvPr>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a:extLst>
              <a:ext uri="{FF2B5EF4-FFF2-40B4-BE49-F238E27FC236}">
                <a16:creationId xmlns:a16="http://schemas.microsoft.com/office/drawing/2014/main" id="{C57379A0-1397-F4C2-2A88-69D07BFBDBCC}"/>
              </a:ext>
            </a:extLst>
          </p:cNvPr>
          <p:cNvGrpSpPr/>
          <p:nvPr/>
        </p:nvGrpSpPr>
        <p:grpSpPr>
          <a:xfrm>
            <a:off x="11856720" y="140636"/>
            <a:ext cx="223520" cy="990718"/>
            <a:chOff x="11856720" y="140636"/>
            <a:chExt cx="223520" cy="990718"/>
          </a:xfrm>
        </p:grpSpPr>
        <p:grpSp>
          <p:nvGrpSpPr>
            <p:cNvPr id="113" name="Google Shape;113;p76">
              <a:extLst>
                <a:ext uri="{FF2B5EF4-FFF2-40B4-BE49-F238E27FC236}">
                  <a16:creationId xmlns:a16="http://schemas.microsoft.com/office/drawing/2014/main" id="{53AE2AB2-2208-8436-C088-F8E1EE56ACDD}"/>
                </a:ext>
              </a:extLst>
            </p:cNvPr>
            <p:cNvGrpSpPr/>
            <p:nvPr/>
          </p:nvGrpSpPr>
          <p:grpSpPr>
            <a:xfrm>
              <a:off x="11856720" y="660278"/>
              <a:ext cx="223520" cy="471076"/>
              <a:chOff x="9734551" y="3138055"/>
              <a:chExt cx="2457449" cy="1328450"/>
            </a:xfrm>
          </p:grpSpPr>
          <p:sp>
            <p:nvSpPr>
              <p:cNvPr id="114" name="Google Shape;114;p76">
                <a:extLst>
                  <a:ext uri="{FF2B5EF4-FFF2-40B4-BE49-F238E27FC236}">
                    <a16:creationId xmlns:a16="http://schemas.microsoft.com/office/drawing/2014/main" id="{126353FF-E161-736B-FDA4-930AD7B61009}"/>
                  </a:ext>
                </a:extLst>
              </p:cNvPr>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a:extLst>
                  <a:ext uri="{FF2B5EF4-FFF2-40B4-BE49-F238E27FC236}">
                    <a16:creationId xmlns:a16="http://schemas.microsoft.com/office/drawing/2014/main" id="{D7A00F2C-490F-D555-A227-E7BC946DE9EF}"/>
                  </a:ext>
                </a:extLst>
              </p:cNvPr>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a:extLst>
                <a:ext uri="{FF2B5EF4-FFF2-40B4-BE49-F238E27FC236}">
                  <a16:creationId xmlns:a16="http://schemas.microsoft.com/office/drawing/2014/main" id="{740B92F7-BB3E-7287-0CA2-E608AD95E6D9}"/>
                </a:ext>
              </a:extLst>
            </p:cNvPr>
            <p:cNvGrpSpPr/>
            <p:nvPr/>
          </p:nvGrpSpPr>
          <p:grpSpPr>
            <a:xfrm>
              <a:off x="11856720" y="140636"/>
              <a:ext cx="223520" cy="471076"/>
              <a:chOff x="9734551" y="3138055"/>
              <a:chExt cx="2457449" cy="1328450"/>
            </a:xfrm>
          </p:grpSpPr>
          <p:sp>
            <p:nvSpPr>
              <p:cNvPr id="117" name="Google Shape;117;p76">
                <a:extLst>
                  <a:ext uri="{FF2B5EF4-FFF2-40B4-BE49-F238E27FC236}">
                    <a16:creationId xmlns:a16="http://schemas.microsoft.com/office/drawing/2014/main" id="{F2686511-1B84-2C77-7126-3491538F7EAA}"/>
                  </a:ext>
                </a:extLst>
              </p:cNvPr>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a:extLst>
                  <a:ext uri="{FF2B5EF4-FFF2-40B4-BE49-F238E27FC236}">
                    <a16:creationId xmlns:a16="http://schemas.microsoft.com/office/drawing/2014/main" id="{09541A36-FA09-469A-29B5-F0C693E6FDDF}"/>
                  </a:ext>
                </a:extLst>
              </p:cNvPr>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237F7F33-9CF1-F18A-D2EB-579E4AE1E481}"/>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a:solidFill>
                  <a:srgbClr val="000000"/>
                </a:solidFill>
                <a:latin typeface="Montserrat"/>
                <a:ea typeface="Montserrat"/>
                <a:cs typeface="Montserrat"/>
                <a:sym typeface="Montserrat"/>
              </a:rPr>
              <a:t>Objective and Goals</a:t>
            </a:r>
            <a:endParaRPr/>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Objective </a:t>
            </a:r>
            <a:endParaRPr sz="1000" b="1" i="0" u="none" strike="noStrike" cap="none">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585882"/>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Goals</a:t>
            </a:r>
            <a:endParaRPr sz="1000" b="1" i="0" u="none" strike="noStrike" cap="none">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68361"/>
            <a:ext cx="9943179" cy="2677656"/>
          </a:xfrm>
          <a:prstGeom prst="rect">
            <a:avLst/>
          </a:prstGeom>
          <a:noFill/>
        </p:spPr>
        <p:txBody>
          <a:bodyPr wrap="square" lIns="91440" tIns="45720" rIns="91440" bIns="45720" rtlCol="0" anchor="t">
            <a:spAutoFit/>
          </a:bodyPr>
          <a:lstStyle/>
          <a:p>
            <a:r>
              <a:rPr lang="en-IN" b="1" dirty="0">
                <a:latin typeface="Verdana"/>
                <a:ea typeface="Verdana"/>
              </a:rPr>
              <a:t>Brief Description:</a:t>
            </a:r>
          </a:p>
          <a:p>
            <a:endParaRPr lang="en-IN" b="1">
              <a:latin typeface="Verdana"/>
              <a:ea typeface="Verdana"/>
            </a:endParaRPr>
          </a:p>
          <a:p>
            <a:pPr marL="285750" indent="-285750" algn="just">
              <a:buChar char="•"/>
            </a:pPr>
            <a:r>
              <a:rPr lang="en-IN" sz="1600" dirty="0">
                <a:latin typeface="Calibri"/>
                <a:ea typeface="Verdana"/>
              </a:rPr>
              <a:t>Low-illumination images are typically taken in environments with limited light and may be affected by fluctuating lighting from sources like bright lights or bulbs.</a:t>
            </a:r>
            <a:endParaRPr lang="en-IN" sz="1600">
              <a:latin typeface="Calibri"/>
            </a:endParaRPr>
          </a:p>
          <a:p>
            <a:pPr marL="285750" indent="-285750" algn="just">
              <a:buChar char="•"/>
            </a:pPr>
            <a:r>
              <a:rPr lang="en-IN" sz="1600" dirty="0">
                <a:latin typeface="Calibri"/>
                <a:ea typeface="Verdana"/>
              </a:rPr>
              <a:t>Previous enhancement methods often result in halo artifacts, unnatural colours, and loss of information.</a:t>
            </a:r>
            <a:endParaRPr lang="en-IN" sz="1600">
              <a:latin typeface="Calibri"/>
            </a:endParaRPr>
          </a:p>
          <a:p>
            <a:pPr marL="285750" indent="-285750" algn="just">
              <a:buChar char="•"/>
            </a:pPr>
            <a:r>
              <a:rPr lang="en-IN" sz="1600" dirty="0">
                <a:latin typeface="Calibri"/>
                <a:ea typeface="Verdana"/>
              </a:rPr>
              <a:t>Retinex theory, which applies a homomorphic light filtering approach, assumes the incident component can be obtained using a Gaussian technique, based on primary ambient light.</a:t>
            </a:r>
            <a:endParaRPr lang="en-IN" sz="1600">
              <a:latin typeface="Calibri"/>
            </a:endParaRPr>
          </a:p>
          <a:p>
            <a:pPr marL="285750" indent="-285750" algn="just">
              <a:buChar char="•"/>
            </a:pPr>
            <a:r>
              <a:rPr lang="en-IN" sz="1600" dirty="0">
                <a:latin typeface="Calibri"/>
                <a:ea typeface="Verdana"/>
              </a:rPr>
              <a:t>Atmospheric scattering attenuation rate is adjusted according to information loss constraints.</a:t>
            </a:r>
            <a:endParaRPr lang="en-IN" sz="1600">
              <a:latin typeface="Calibri"/>
            </a:endParaRPr>
          </a:p>
          <a:p>
            <a:pPr marL="285750" indent="-285750" algn="just">
              <a:buChar char="•"/>
            </a:pPr>
            <a:r>
              <a:rPr lang="en-IN" sz="1600" dirty="0">
                <a:latin typeface="Calibri"/>
                <a:ea typeface="Verdana"/>
              </a:rPr>
              <a:t>A weighted guided filter is used to refine two parameters and reduce halo block effects.</a:t>
            </a:r>
            <a:endParaRPr lang="en-IN" sz="1600" dirty="0">
              <a:latin typeface="Calibri"/>
            </a:endParaRPr>
          </a:p>
          <a:p>
            <a:pPr marL="285750" indent="-285750">
              <a:buChar char="•"/>
            </a:pPr>
            <a:endParaRPr lang="en-IN" dirty="0">
              <a:latin typeface="Calibri"/>
              <a:ea typeface="Verdana"/>
            </a:endParaRPr>
          </a:p>
          <a:p>
            <a:endParaRPr lang="en-IN" b="1">
              <a:latin typeface="Verdana"/>
              <a:ea typeface="Verdana"/>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14942" y="4062203"/>
            <a:ext cx="9943179" cy="2092881"/>
          </a:xfrm>
          <a:prstGeom prst="rect">
            <a:avLst/>
          </a:prstGeom>
          <a:noFill/>
        </p:spPr>
        <p:txBody>
          <a:bodyPr wrap="square" lIns="91440" tIns="45720" rIns="91440" bIns="45720" rtlCol="0" anchor="t">
            <a:spAutoFit/>
          </a:bodyPr>
          <a:lstStyle/>
          <a:p>
            <a:r>
              <a:rPr lang="en-IN" b="1" dirty="0">
                <a:latin typeface="Verdana"/>
                <a:ea typeface="Verdana"/>
              </a:rPr>
              <a:t>Main Goals :</a:t>
            </a:r>
          </a:p>
          <a:p>
            <a:pPr marL="285750" indent="-285750">
              <a:buChar char="•"/>
            </a:pPr>
            <a:r>
              <a:rPr lang="en-IN" dirty="0">
                <a:latin typeface="Calibri"/>
                <a:ea typeface="Verdana"/>
              </a:rPr>
              <a:t>Use of Retinex theory to improve image.</a:t>
            </a:r>
            <a:endParaRPr lang="en-IN" dirty="0">
              <a:latin typeface="Calibri"/>
              <a:ea typeface="Verdana" panose="020B0604030504040204" pitchFamily="34" charset="0"/>
            </a:endParaRPr>
          </a:p>
          <a:p>
            <a:pPr marL="285750" indent="-285750">
              <a:buChar char="•"/>
            </a:pPr>
            <a:r>
              <a:rPr lang="en-IN" dirty="0">
                <a:latin typeface="Calibri"/>
                <a:ea typeface="Verdana"/>
              </a:rPr>
              <a:t>Increase illuminance of low light images.</a:t>
            </a:r>
            <a:endParaRPr lang="en-IN" dirty="0">
              <a:latin typeface="Calibri"/>
              <a:ea typeface="Verdana" panose="020B0604030504040204" pitchFamily="34" charset="0"/>
            </a:endParaRPr>
          </a:p>
          <a:p>
            <a:pPr marL="285750" indent="-285750">
              <a:buChar char="•"/>
            </a:pPr>
            <a:endParaRPr lang="en-IN">
              <a:latin typeface="Verdana" panose="020B0604030504040204" pitchFamily="34" charset="0"/>
              <a:ea typeface="Verdana" panose="020B0604030504040204" pitchFamily="34" charset="0"/>
            </a:endParaRPr>
          </a:p>
          <a:p>
            <a:r>
              <a:rPr lang="en-IN" b="1" dirty="0">
                <a:latin typeface="Verdana"/>
                <a:ea typeface="Verdana"/>
              </a:rPr>
              <a:t>Additional Goals:</a:t>
            </a:r>
            <a:endParaRPr lang="en-IN"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600" dirty="0">
                <a:latin typeface="Calibri"/>
                <a:ea typeface="Verdana"/>
              </a:rPr>
              <a:t>Learning programming in MATLAB</a:t>
            </a:r>
            <a:endParaRPr lang="en-IN" sz="1600">
              <a:latin typeface="Calibri"/>
              <a:ea typeface="Verdana" panose="020B0604030504040204" pitchFamily="34" charset="0"/>
            </a:endParaRPr>
          </a:p>
          <a:p>
            <a:pPr marL="285750" indent="-285750">
              <a:buFont typeface="Arial" panose="020B0604020202020204" pitchFamily="34" charset="0"/>
              <a:buChar char="•"/>
            </a:pPr>
            <a:r>
              <a:rPr lang="en-IN" sz="1600" dirty="0">
                <a:latin typeface="Calibri"/>
                <a:ea typeface="Verdana"/>
              </a:rPr>
              <a:t>Use of algorithms, Fourier transforms for image enhancement.</a:t>
            </a:r>
            <a:endParaRPr lang="en-IN" sz="1600" dirty="0">
              <a:latin typeface="Calibri"/>
              <a:ea typeface="Verdana" panose="020B0604030504040204" pitchFamily="34" charset="0"/>
            </a:endParaRPr>
          </a:p>
          <a:p>
            <a:r>
              <a:rPr lang="en-IN" dirty="0">
                <a:latin typeface="Verdana"/>
                <a:ea typeface="Verdana"/>
              </a:rPr>
              <a:t> </a:t>
            </a:r>
          </a:p>
          <a:p>
            <a:endParaRPr lang="en-IN">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1429641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482BA9-2174-6F00-4737-2F02F36AA0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a:t>
            </a:fld>
            <a:endParaRPr lang="en-US"/>
          </a:p>
        </p:txBody>
      </p:sp>
      <p:sp>
        <p:nvSpPr>
          <p:cNvPr id="5" name="TextBox 4">
            <a:extLst>
              <a:ext uri="{FF2B5EF4-FFF2-40B4-BE49-F238E27FC236}">
                <a16:creationId xmlns:a16="http://schemas.microsoft.com/office/drawing/2014/main" id="{4018E97F-3623-6599-E5CF-FAD64147EBEA}"/>
              </a:ext>
            </a:extLst>
          </p:cNvPr>
          <p:cNvSpPr txBox="1"/>
          <p:nvPr/>
        </p:nvSpPr>
        <p:spPr>
          <a:xfrm>
            <a:off x="480385" y="1902999"/>
            <a:ext cx="1124002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sz="2000" baseline="0" dirty="0">
                <a:latin typeface="Calibri"/>
              </a:rPr>
              <a:t>Low illumination images are usually captured in low light conditions which are often subjected to inconsistent environmental lighting which may include overly bright light or artificial light. The enhancement result obtained by existing techniques are prone to halo artifacts, colour unnaturalness, and information loss. To solve these problems, an algorithm represents a physical lighting model that describes the degradation of poor illumination images. In this model, the environment light is a point wise variable and changes with the local light source as long as the parameters in the model are effectively estimated the low illumination images can be directly recovered by solving the model. In</a:t>
            </a:r>
            <a:r>
              <a:rPr lang="en-IN" sz="2000" dirty="0">
                <a:latin typeface="Calibri"/>
              </a:rPr>
              <a:t> </a:t>
            </a:r>
            <a:r>
              <a:rPr lang="en-IN" sz="2000" baseline="0" dirty="0">
                <a:latin typeface="Calibri"/>
              </a:rPr>
              <a:t> </a:t>
            </a:r>
            <a:r>
              <a:rPr lang="en-IN" sz="2000" dirty="0">
                <a:latin typeface="Calibri"/>
              </a:rPr>
              <a:t>Retinex</a:t>
            </a:r>
            <a:r>
              <a:rPr lang="en-IN" sz="2000" baseline="0" dirty="0">
                <a:latin typeface="Calibri"/>
              </a:rPr>
              <a:t> theory</a:t>
            </a:r>
            <a:r>
              <a:rPr lang="en-IN" sz="2000" dirty="0">
                <a:latin typeface="Calibri"/>
              </a:rPr>
              <a:t>,</a:t>
            </a:r>
            <a:r>
              <a:rPr lang="en-IN" sz="2000" baseline="0" dirty="0">
                <a:latin typeface="Calibri"/>
              </a:rPr>
              <a:t> the initial environmental light is considered to obtain the incident component using Gaussian approach. Secondly, the environmental light scattering attenuation rate is adjusted with the information laws constant. Finally, to restrain the halo block effects, the two parameters are refined by the weighted guided filter. The experimental results indicate the algorithm can improve low illumination images that are captured in different scenes, this increases richness of visible edges and reproduces the colour quality and naturalness.</a:t>
            </a:r>
            <a:r>
              <a:rPr lang="en-IN" sz="2000" dirty="0">
                <a:latin typeface="Calibri"/>
                <a:ea typeface="Calibri"/>
                <a:cs typeface="Calibri"/>
              </a:rPr>
              <a:t>​</a:t>
            </a:r>
            <a:endParaRPr lang="en-US" sz="2000">
              <a:latin typeface="Calibri"/>
            </a:endParaRPr>
          </a:p>
        </p:txBody>
      </p:sp>
      <p:sp>
        <p:nvSpPr>
          <p:cNvPr id="6" name="TextBox 5">
            <a:extLst>
              <a:ext uri="{FF2B5EF4-FFF2-40B4-BE49-F238E27FC236}">
                <a16:creationId xmlns:a16="http://schemas.microsoft.com/office/drawing/2014/main" id="{1D1CFA03-674C-9036-971D-84AB87F8B1BB}"/>
              </a:ext>
            </a:extLst>
          </p:cNvPr>
          <p:cNvSpPr txBox="1"/>
          <p:nvPr/>
        </p:nvSpPr>
        <p:spPr>
          <a:xfrm>
            <a:off x="144817" y="1254275"/>
            <a:ext cx="509633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Abstract</a:t>
            </a:r>
          </a:p>
        </p:txBody>
      </p:sp>
    </p:spTree>
    <p:extLst>
      <p:ext uri="{BB962C8B-B14F-4D97-AF65-F5344CB8AC3E}">
        <p14:creationId xmlns:p14="http://schemas.microsoft.com/office/powerpoint/2010/main" val="417469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55571472"/>
              </p:ext>
            </p:extLst>
          </p:nvPr>
        </p:nvGraphicFramePr>
        <p:xfrm>
          <a:off x="-20876" y="20876"/>
          <a:ext cx="12211912" cy="8680681"/>
        </p:xfrm>
        <a:graphic>
          <a:graphicData uri="http://schemas.openxmlformats.org/drawingml/2006/table">
            <a:tbl>
              <a:tblPr firstRow="1" bandRow="1">
                <a:tableStyleId>{5C22544A-7EE6-4342-B048-85BDC9FD1C3A}</a:tableStyleId>
              </a:tblPr>
              <a:tblGrid>
                <a:gridCol w="602314">
                  <a:extLst>
                    <a:ext uri="{9D8B030D-6E8A-4147-A177-3AD203B41FA5}">
                      <a16:colId xmlns:a16="http://schemas.microsoft.com/office/drawing/2014/main" val="20000"/>
                    </a:ext>
                  </a:extLst>
                </a:gridCol>
                <a:gridCol w="2479300">
                  <a:extLst>
                    <a:ext uri="{9D8B030D-6E8A-4147-A177-3AD203B41FA5}">
                      <a16:colId xmlns:a16="http://schemas.microsoft.com/office/drawing/2014/main" val="20001"/>
                    </a:ext>
                  </a:extLst>
                </a:gridCol>
                <a:gridCol w="1148601">
                  <a:extLst>
                    <a:ext uri="{9D8B030D-6E8A-4147-A177-3AD203B41FA5}">
                      <a16:colId xmlns:a16="http://schemas.microsoft.com/office/drawing/2014/main" val="20002"/>
                    </a:ext>
                  </a:extLst>
                </a:gridCol>
                <a:gridCol w="2241176">
                  <a:extLst>
                    <a:ext uri="{9D8B030D-6E8A-4147-A177-3AD203B41FA5}">
                      <a16:colId xmlns:a16="http://schemas.microsoft.com/office/drawing/2014/main" val="20003"/>
                    </a:ext>
                  </a:extLst>
                </a:gridCol>
                <a:gridCol w="3277720">
                  <a:extLst>
                    <a:ext uri="{9D8B030D-6E8A-4147-A177-3AD203B41FA5}">
                      <a16:colId xmlns:a16="http://schemas.microsoft.com/office/drawing/2014/main" val="20004"/>
                    </a:ext>
                  </a:extLst>
                </a:gridCol>
                <a:gridCol w="2462801">
                  <a:extLst>
                    <a:ext uri="{9D8B030D-6E8A-4147-A177-3AD203B41FA5}">
                      <a16:colId xmlns:a16="http://schemas.microsoft.com/office/drawing/2014/main" val="20005"/>
                    </a:ext>
                  </a:extLst>
                </a:gridCol>
              </a:tblGrid>
              <a:tr h="573001">
                <a:tc>
                  <a:txBody>
                    <a:bodyPr/>
                    <a:lstStyle/>
                    <a:p>
                      <a:pPr fontAlgn="base"/>
                      <a:r>
                        <a:rPr lang="en-US" sz="1400">
                          <a:effectLst/>
                        </a:rPr>
                        <a:t>Ref No.​</a:t>
                      </a:r>
                      <a:endParaRPr lang="en-US" b="1">
                        <a:solidFill>
                          <a:srgbClr val="FFFFFF"/>
                        </a:solidFill>
                        <a:effectLst/>
                      </a:endParaRPr>
                    </a:p>
                  </a:txBody>
                  <a:tcPr/>
                </a:tc>
                <a:tc>
                  <a:txBody>
                    <a:bodyPr/>
                    <a:lstStyle/>
                    <a:p>
                      <a:pPr fontAlgn="base"/>
                      <a:r>
                        <a:rPr lang="en-US" sz="1400">
                          <a:effectLst/>
                        </a:rPr>
                        <a:t>Title of paper​</a:t>
                      </a:r>
                      <a:endParaRPr lang="en-US" b="1">
                        <a:solidFill>
                          <a:srgbClr val="FFFFFF"/>
                        </a:solidFill>
                        <a:effectLst/>
                      </a:endParaRPr>
                    </a:p>
                  </a:txBody>
                  <a:tcPr/>
                </a:tc>
                <a:tc>
                  <a:txBody>
                    <a:bodyPr/>
                    <a:lstStyle/>
                    <a:p>
                      <a:pPr fontAlgn="base"/>
                      <a:r>
                        <a:rPr lang="en-US" sz="1400">
                          <a:effectLst/>
                        </a:rPr>
                        <a:t>Year</a:t>
                      </a:r>
                    </a:p>
                  </a:txBody>
                  <a:tcPr/>
                </a:tc>
                <a:tc>
                  <a:txBody>
                    <a:bodyPr/>
                    <a:lstStyle/>
                    <a:p>
                      <a:pPr fontAlgn="base"/>
                      <a:r>
                        <a:rPr lang="en-US" sz="1400">
                          <a:effectLst/>
                        </a:rPr>
                        <a:t>Author</a:t>
                      </a:r>
                    </a:p>
                  </a:txBody>
                  <a:tcPr/>
                </a:tc>
                <a:tc>
                  <a:txBody>
                    <a:bodyPr/>
                    <a:lstStyle/>
                    <a:p>
                      <a:pPr fontAlgn="base"/>
                      <a:r>
                        <a:rPr lang="en-US" sz="1400">
                          <a:effectLst/>
                        </a:rPr>
                        <a:t>Key Findings</a:t>
                      </a:r>
                    </a:p>
                  </a:txBody>
                  <a:tcPr/>
                </a:tc>
                <a:tc>
                  <a:txBody>
                    <a:bodyPr/>
                    <a:lstStyle/>
                    <a:p>
                      <a:pPr fontAlgn="base"/>
                      <a:r>
                        <a:rPr lang="en-US" sz="1400">
                          <a:effectLst/>
                        </a:rPr>
                        <a:t>Research gap​</a:t>
                      </a:r>
                      <a:endParaRPr lang="en-US" b="1">
                        <a:solidFill>
                          <a:srgbClr val="FFFFFF"/>
                        </a:solidFill>
                        <a:effectLst/>
                      </a:endParaRPr>
                    </a:p>
                  </a:txBody>
                  <a:tcPr/>
                </a:tc>
                <a:extLst>
                  <a:ext uri="{0D108BD9-81ED-4DB2-BD59-A6C34878D82A}">
                    <a16:rowId xmlns:a16="http://schemas.microsoft.com/office/drawing/2014/main" val="10000"/>
                  </a:ext>
                </a:extLst>
              </a:tr>
              <a:tr h="3838222">
                <a:tc>
                  <a:txBody>
                    <a:bodyPr/>
                    <a:lstStyle/>
                    <a:p>
                      <a:pPr fontAlgn="base"/>
                      <a:r>
                        <a:rPr lang="en-US" sz="1400" b="1">
                          <a:effectLst/>
                        </a:rPr>
                        <a:t>1.</a:t>
                      </a:r>
                    </a:p>
                  </a:txBody>
                  <a:tcPr/>
                </a:tc>
                <a:tc>
                  <a:txBody>
                    <a:bodyPr/>
                    <a:lstStyle/>
                    <a:p>
                      <a:pPr lvl="0">
                        <a:buNone/>
                      </a:pPr>
                      <a:r>
                        <a:rPr lang="en-IN" altLang="en-US" sz="1800" b="0" i="0" u="none" strike="noStrike" noProof="0">
                          <a:effectLst/>
                          <a:latin typeface="Calibri" panose="020F0502020204030204"/>
                          <a:cs typeface="Calibri" panose="020F0502020204030204"/>
                          <a:hlinkClick r:id="rId2"/>
                        </a:rPr>
                        <a:t>"Readability Enhancement of Displayed Images Under Ambient Light."</a:t>
                      </a:r>
                      <a:endParaRPr lang="en-IN" altLang="en-US" sz="1800" b="0" i="0" u="none" strike="noStrike" noProof="0">
                        <a:effectLst/>
                        <a:latin typeface="Calibri" panose="020F0502020204030204"/>
                        <a:cs typeface="Calibri" panose="020F0502020204030204"/>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a:rPr>
                        <a:t>2018,July.</a:t>
                      </a:r>
                    </a:p>
                  </a:txBody>
                  <a:tcPr/>
                </a:tc>
                <a:tc>
                  <a:txBody>
                    <a:bodyPr/>
                    <a:lstStyle/>
                    <a:p>
                      <a:pPr lvl="0" algn="l">
                        <a:lnSpc>
                          <a:spcPct val="100000"/>
                        </a:lnSpc>
                        <a:spcBef>
                          <a:spcPts val="0"/>
                        </a:spcBef>
                        <a:spcAft>
                          <a:spcPts val="0"/>
                        </a:spcAft>
                        <a:buNone/>
                      </a:pPr>
                      <a:r>
                        <a:rPr lang="en-IN" sz="1800" b="0" i="0" u="none" strike="noStrike" kern="1200" noProof="0" err="1">
                          <a:solidFill>
                            <a:srgbClr val="000000"/>
                          </a:solidFill>
                          <a:effectLst/>
                          <a:latin typeface="Calibri" panose="020F0502020204030204"/>
                        </a:rPr>
                        <a:t>Haonan</a:t>
                      </a:r>
                      <a:r>
                        <a:rPr lang="en-IN" sz="1800" b="0" i="0" u="none" strike="noStrike" kern="1200" noProof="0">
                          <a:solidFill>
                            <a:srgbClr val="000000"/>
                          </a:solidFill>
                          <a:effectLst/>
                          <a:latin typeface="Calibri" panose="020F0502020204030204"/>
                        </a:rPr>
                        <a:t> Su, </a:t>
                      </a:r>
                      <a:r>
                        <a:rPr lang="en-IN" sz="1800" b="0" i="0" u="none" strike="noStrike" kern="1200" noProof="0" err="1">
                          <a:solidFill>
                            <a:srgbClr val="000000"/>
                          </a:solidFill>
                          <a:effectLst/>
                          <a:latin typeface="Calibri" panose="020F0502020204030204"/>
                        </a:rPr>
                        <a:t>Cheolkon</a:t>
                      </a:r>
                      <a:r>
                        <a:rPr lang="en-IN" sz="1800" b="0" i="0" u="none" strike="noStrike" kern="1200" noProof="0">
                          <a:solidFill>
                            <a:srgbClr val="000000"/>
                          </a:solidFill>
                          <a:effectLst/>
                          <a:latin typeface="Calibri" panose="020F0502020204030204"/>
                        </a:rPr>
                        <a:t> Jung, Member, IEEE, Shuyao Wang and </a:t>
                      </a:r>
                      <a:r>
                        <a:rPr lang="en-IN" sz="1800" b="0" i="0" u="none" strike="noStrike" kern="1200" noProof="0" err="1">
                          <a:solidFill>
                            <a:srgbClr val="000000"/>
                          </a:solidFill>
                          <a:effectLst/>
                          <a:latin typeface="Calibri" panose="020F0502020204030204"/>
                        </a:rPr>
                        <a:t>Yuanjia</a:t>
                      </a:r>
                      <a:r>
                        <a:rPr lang="en-IN" sz="1800" b="0" i="0" u="none" strike="noStrike" kern="1200" noProof="0">
                          <a:solidFill>
                            <a:srgbClr val="000000"/>
                          </a:solidFill>
                          <a:effectLst/>
                          <a:latin typeface="Calibri" panose="020F0502020204030204"/>
                        </a:rPr>
                        <a:t> Du.</a:t>
                      </a:r>
                      <a:endParaRPr lang="en-US" sz="1800" b="0" i="0" u="none" strike="noStrike" kern="1200" noProof="0">
                        <a:solidFill>
                          <a:srgbClr val="000000"/>
                        </a:solidFill>
                        <a:effectLst/>
                        <a:latin typeface="Calibri" panose="020F0502020204030204"/>
                      </a:endParaRPr>
                    </a:p>
                    <a:p>
                      <a:pPr lvl="0" algn="just">
                        <a:buNone/>
                      </a:pPr>
                      <a:endParaRPr lang="en-US" sz="1600" b="0" i="0" u="none" strike="noStrike" kern="1200" noProof="0">
                        <a:solidFill>
                          <a:schemeClr val="dk1"/>
                        </a:solidFill>
                        <a:effectLst/>
                        <a:latin typeface="Calibri" panose="020F0502020204030204"/>
                      </a:endParaRPr>
                    </a:p>
                  </a:txBody>
                  <a:tcPr/>
                </a:tc>
                <a:tc>
                  <a:txBody>
                    <a:bodyPr/>
                    <a:lstStyle/>
                    <a:p>
                      <a:pPr lvl="0" algn="just">
                        <a:lnSpc>
                          <a:spcPct val="100000"/>
                        </a:lnSpc>
                        <a:spcBef>
                          <a:spcPts val="0"/>
                        </a:spcBef>
                        <a:spcAft>
                          <a:spcPts val="0"/>
                        </a:spcAft>
                        <a:buNone/>
                      </a:pPr>
                      <a:r>
                        <a:rPr lang="en-US" sz="1800" b="0" i="0" u="none" strike="noStrike" noProof="0">
                          <a:solidFill>
                            <a:srgbClr val="231F20"/>
                          </a:solidFill>
                          <a:effectLst/>
                          <a:latin typeface="Calibri" panose="020F0502020204030204"/>
                        </a:rPr>
                        <a:t>Image quality in mobile displays is considerably influenced by ambient light. In the daylight condition, images on mobile displays are darkly perceived by the human visual system due to the limited dynamic range of display, which causes loss of luminance and details. In this paper, we propose readability </a:t>
                      </a:r>
                      <a:endParaRPr lang="en-US" sz="1800" b="0" i="0" u="none" strike="noStrike" noProof="0">
                        <a:solidFill>
                          <a:srgbClr val="000000"/>
                        </a:solidFill>
                        <a:effectLst/>
                        <a:latin typeface="Calibri" panose="020F0502020204030204"/>
                      </a:endParaRPr>
                    </a:p>
                    <a:p>
                      <a:pPr lvl="0" algn="just">
                        <a:lnSpc>
                          <a:spcPct val="100000"/>
                        </a:lnSpc>
                        <a:spcBef>
                          <a:spcPts val="0"/>
                        </a:spcBef>
                        <a:spcAft>
                          <a:spcPts val="0"/>
                        </a:spcAft>
                        <a:buNone/>
                      </a:pPr>
                      <a:r>
                        <a:rPr lang="en-US" sz="1800" b="0" i="0" u="none" strike="noStrike" noProof="0">
                          <a:solidFill>
                            <a:srgbClr val="231F20"/>
                          </a:solidFill>
                          <a:effectLst/>
                          <a:latin typeface="Calibri" panose="020F0502020204030204"/>
                        </a:rPr>
                        <a:t>enhancement of displayed images under ambient light by enhancing both luminance and details.</a:t>
                      </a:r>
                      <a:r>
                        <a:rPr lang="en-US" sz="1600" b="0" i="0" u="none" strike="noStrike" noProof="0">
                          <a:effectLst/>
                          <a:latin typeface="Calibri" panose="020F0502020204030204"/>
                        </a:rPr>
                        <a:t> </a:t>
                      </a:r>
                      <a:endParaRPr lang="en-US" sz="1600">
                        <a:latin typeface="Calibri" panose="020F0502020204030204"/>
                      </a:endParaRPr>
                    </a:p>
                  </a:txBody>
                  <a:tcPr/>
                </a:tc>
                <a:tc>
                  <a:txBody>
                    <a:bodyPr/>
                    <a:lstStyle/>
                    <a:p>
                      <a:pPr lvl="0" algn="just">
                        <a:lnSpc>
                          <a:spcPct val="100000"/>
                        </a:lnSpc>
                        <a:spcBef>
                          <a:spcPct val="0"/>
                        </a:spcBef>
                        <a:spcAft>
                          <a:spcPct val="0"/>
                        </a:spcAft>
                        <a:buNone/>
                      </a:pPr>
                      <a:r>
                        <a:rPr lang="en-US" sz="1800" b="0" i="0" u="none" strike="noStrike" noProof="0">
                          <a:latin typeface="Calibri"/>
                        </a:rPr>
                        <a:t>Exploration of the broader applicability of this framework to different types of displays beyond mobile screens, such as larger displays used in outdoor billboards or automotive screens, where ambient light conditions and viewing distances vary significantly. </a:t>
                      </a:r>
                    </a:p>
                  </a:txBody>
                  <a:tcPr marL="45720" marR="45720"/>
                </a:tc>
                <a:extLst>
                  <a:ext uri="{0D108BD9-81ED-4DB2-BD59-A6C34878D82A}">
                    <a16:rowId xmlns:a16="http://schemas.microsoft.com/office/drawing/2014/main" val="10001"/>
                  </a:ext>
                </a:extLst>
              </a:tr>
              <a:tr h="3151654">
                <a:tc>
                  <a:txBody>
                    <a:bodyPr/>
                    <a:lstStyle/>
                    <a:p>
                      <a:pPr fontAlgn="base"/>
                      <a:r>
                        <a:rPr lang="en-US" sz="1400" b="1">
                          <a:effectLst/>
                        </a:rPr>
                        <a:t>2​.</a:t>
                      </a:r>
                      <a:endParaRPr lang="en-US" b="1">
                        <a:effectLst/>
                      </a:endParaRPr>
                    </a:p>
                  </a:txBody>
                  <a:tcPr/>
                </a:tc>
                <a:tc>
                  <a:txBody>
                    <a:bodyPr/>
                    <a:lstStyle/>
                    <a:p>
                      <a:pPr fontAlgn="base"/>
                      <a:r>
                        <a:rPr lang="en-US" sz="1800">
                          <a:effectLst/>
                          <a:cs typeface="+mn-lt"/>
                        </a:rPr>
                        <a:t>​</a:t>
                      </a:r>
                      <a:r>
                        <a:rPr lang="en-US" sz="1800">
                          <a:effectLst/>
                          <a:cs typeface="+mn-lt"/>
                          <a:hlinkClick r:id="rId3"/>
                        </a:rPr>
                        <a:t>"Structure-Revealing Low-Light Image Enhancement Via Robust Retinex Model."</a:t>
                      </a:r>
                      <a:endParaRPr lang="en-IN" sz="1800" b="0" i="0" u="none" strike="noStrike" noProof="0">
                        <a:solidFill>
                          <a:srgbClr val="000000"/>
                        </a:solidFill>
                        <a:effectLst/>
                        <a:latin typeface="Calibri"/>
                      </a:endParaRPr>
                    </a:p>
                  </a:txBody>
                  <a:tcPr/>
                </a:tc>
                <a:tc>
                  <a:txBody>
                    <a:bodyPr/>
                    <a:lstStyle/>
                    <a:p>
                      <a:pPr lvl="0" algn="l">
                        <a:lnSpc>
                          <a:spcPct val="100000"/>
                        </a:lnSpc>
                        <a:spcBef>
                          <a:spcPct val="0"/>
                        </a:spcBef>
                        <a:spcAft>
                          <a:spcPct val="0"/>
                        </a:spcAft>
                        <a:buNone/>
                      </a:pPr>
                      <a:r>
                        <a:rPr lang="en-US" sz="1600" b="0" i="0" u="none" strike="noStrike" kern="1200" noProof="0">
                          <a:solidFill>
                            <a:schemeClr val="dk1"/>
                          </a:solidFill>
                          <a:effectLst/>
                        </a:rPr>
                        <a:t>2018,June.</a:t>
                      </a:r>
                    </a:p>
                  </a:txBody>
                  <a:tcPr/>
                </a:tc>
                <a:tc>
                  <a:txBody>
                    <a:bodyPr/>
                    <a:lstStyle/>
                    <a:p>
                      <a:pPr lvl="0" algn="l">
                        <a:lnSpc>
                          <a:spcPct val="100000"/>
                        </a:lnSpc>
                        <a:spcBef>
                          <a:spcPts val="0"/>
                        </a:spcBef>
                        <a:spcAft>
                          <a:spcPts val="0"/>
                        </a:spcAft>
                        <a:buNone/>
                      </a:pPr>
                      <a:r>
                        <a:rPr lang="en-US" sz="1800" b="0" i="0" u="none" strike="noStrike" kern="1200" noProof="0">
                          <a:solidFill>
                            <a:srgbClr val="231F20"/>
                          </a:solidFill>
                          <a:effectLst/>
                          <a:latin typeface="Calibri"/>
                        </a:rPr>
                        <a:t>Mading Li, Jiaying Liu , </a:t>
                      </a:r>
                      <a:r>
                        <a:rPr lang="en-US" sz="1800" b="0" i="1" u="none" strike="noStrike" kern="1200" noProof="0">
                          <a:solidFill>
                            <a:srgbClr val="231F20"/>
                          </a:solidFill>
                          <a:effectLst/>
                          <a:latin typeface="Calibri"/>
                        </a:rPr>
                        <a:t>Senior Member, IEEE</a:t>
                      </a:r>
                      <a:r>
                        <a:rPr lang="en-US" sz="1800" b="0" i="0" u="none" strike="noStrike" kern="1200" noProof="0">
                          <a:solidFill>
                            <a:srgbClr val="231F20"/>
                          </a:solidFill>
                          <a:effectLst/>
                          <a:latin typeface="Calibri"/>
                        </a:rPr>
                        <a:t>, </a:t>
                      </a:r>
                      <a:r>
                        <a:rPr lang="en-US" sz="1800" b="0" i="0" u="none" strike="noStrike" kern="1200" noProof="0" err="1">
                          <a:solidFill>
                            <a:srgbClr val="231F20"/>
                          </a:solidFill>
                          <a:effectLst/>
                          <a:latin typeface="Calibri"/>
                        </a:rPr>
                        <a:t>Wenhan</a:t>
                      </a:r>
                      <a:r>
                        <a:rPr lang="en-US" sz="1800" b="0" i="0" u="none" strike="noStrike" kern="1200" noProof="0">
                          <a:solidFill>
                            <a:srgbClr val="231F20"/>
                          </a:solidFill>
                          <a:effectLst/>
                          <a:latin typeface="Calibri"/>
                        </a:rPr>
                        <a:t> Yang, Xiaoyan Sun, </a:t>
                      </a:r>
                      <a:r>
                        <a:rPr lang="en-US" sz="1800" b="0" i="1" u="none" strike="noStrike" kern="1200" noProof="0">
                          <a:solidFill>
                            <a:srgbClr val="231F20"/>
                          </a:solidFill>
                          <a:effectLst/>
                          <a:latin typeface="Calibri"/>
                        </a:rPr>
                        <a:t>Senior Member, IEEE</a:t>
                      </a:r>
                      <a:r>
                        <a:rPr lang="en-US" sz="1800" b="0" i="0" u="none" strike="noStrike" kern="1200" noProof="0">
                          <a:solidFill>
                            <a:srgbClr val="231F20"/>
                          </a:solidFill>
                          <a:effectLst/>
                          <a:latin typeface="Calibri"/>
                        </a:rPr>
                        <a:t>, </a:t>
                      </a:r>
                      <a:endParaRPr lang="en-US" sz="1800">
                        <a:latin typeface="Calibri"/>
                      </a:endParaRPr>
                    </a:p>
                    <a:p>
                      <a:pPr lvl="0" algn="l">
                        <a:lnSpc>
                          <a:spcPct val="100000"/>
                        </a:lnSpc>
                        <a:spcBef>
                          <a:spcPts val="0"/>
                        </a:spcBef>
                        <a:spcAft>
                          <a:spcPts val="0"/>
                        </a:spcAft>
                        <a:buNone/>
                      </a:pPr>
                      <a:r>
                        <a:rPr lang="en-US" sz="1800" b="0" i="0" u="none" strike="noStrike" kern="1200" noProof="0">
                          <a:solidFill>
                            <a:srgbClr val="231F20"/>
                          </a:solidFill>
                          <a:effectLst/>
                          <a:latin typeface="Calibri"/>
                        </a:rPr>
                        <a:t>and </a:t>
                      </a:r>
                      <a:r>
                        <a:rPr lang="en-US" sz="1800" b="0" i="0" u="none" strike="noStrike" kern="1200" noProof="0" err="1">
                          <a:solidFill>
                            <a:srgbClr val="231F20"/>
                          </a:solidFill>
                          <a:effectLst/>
                          <a:latin typeface="Calibri"/>
                        </a:rPr>
                        <a:t>Zongming</a:t>
                      </a:r>
                      <a:r>
                        <a:rPr lang="en-US" sz="1800" b="0" i="0" u="none" strike="noStrike" kern="1200" noProof="0">
                          <a:solidFill>
                            <a:srgbClr val="231F20"/>
                          </a:solidFill>
                          <a:effectLst/>
                          <a:latin typeface="Calibri"/>
                        </a:rPr>
                        <a:t> Guo, </a:t>
                      </a:r>
                      <a:r>
                        <a:rPr lang="en-US" sz="1800" b="0" i="1" u="none" strike="noStrike" kern="1200" noProof="0">
                          <a:solidFill>
                            <a:srgbClr val="231F20"/>
                          </a:solidFill>
                          <a:effectLst/>
                          <a:latin typeface="Calibri"/>
                        </a:rPr>
                        <a:t>Member, IEEE</a:t>
                      </a:r>
                      <a:endParaRPr lang="en-US" sz="1800">
                        <a:latin typeface="Calibri"/>
                      </a:endParaRPr>
                    </a:p>
                    <a:p>
                      <a:pPr lvl="0">
                        <a:buNone/>
                      </a:pPr>
                      <a:endParaRPr lang="en-US" sz="1600" b="0" i="0" u="none" strike="noStrike" kern="1200" noProof="0">
                        <a:solidFill>
                          <a:schemeClr val="dk1"/>
                        </a:solidFill>
                        <a:effectLst/>
                        <a:latin typeface="Calibri" panose="020F0502020204030204"/>
                      </a:endParaRPr>
                    </a:p>
                  </a:txBody>
                  <a:tcPr/>
                </a:tc>
                <a:tc>
                  <a:txBody>
                    <a:bodyPr/>
                    <a:lstStyle/>
                    <a:p>
                      <a:pPr marL="0" lvl="0" indent="0" algn="just">
                        <a:lnSpc>
                          <a:spcPct val="100000"/>
                        </a:lnSpc>
                        <a:spcBef>
                          <a:spcPct val="0"/>
                        </a:spcBef>
                        <a:spcAft>
                          <a:spcPct val="0"/>
                        </a:spcAft>
                        <a:buNone/>
                      </a:pPr>
                      <a:r>
                        <a:rPr lang="en-US" sz="1800" b="0" i="0" u="none" strike="noStrike" kern="1200" noProof="0">
                          <a:solidFill>
                            <a:schemeClr val="tx1"/>
                          </a:solidFill>
                          <a:latin typeface="Calibri" panose="020F0502020204030204"/>
                        </a:rPr>
                        <a:t>The method involves decomposing the image into reflectance and  illumination components and then adjusting the illumination to enhance the image. RRM it ensures that noise is handled appropriately during this process.</a:t>
                      </a:r>
                    </a:p>
                  </a:txBody>
                  <a:tcPr/>
                </a:tc>
                <a:tc>
                  <a:txBody>
                    <a:bodyPr/>
                    <a:lstStyle/>
                    <a:p>
                      <a:pPr lvl="0" indent="0" algn="just">
                        <a:buNone/>
                      </a:pPr>
                      <a:r>
                        <a:rPr lang="en-US" sz="1800" b="0" i="0" u="none" strike="noStrike" noProof="0">
                          <a:solidFill>
                            <a:schemeClr val="tx1"/>
                          </a:solidFill>
                          <a:effectLst/>
                          <a:latin typeface="Calibri"/>
                        </a:rPr>
                        <a:t>Traditional methods based on the Retinex model do not account for the noise inherent in low-light images, often leading to suboptimal enhancement results where noise is amplified or details are lost. Additionally, the use of logarithmic transformations in these methods can exacerbate the issue. </a:t>
                      </a:r>
                    </a:p>
                    <a:p>
                      <a:pPr lvl="0" indent="0">
                        <a:buNone/>
                      </a:pPr>
                      <a:endParaRPr lang="en-US" sz="1600" b="0" i="0" u="none" strike="noStrike" noProof="0">
                        <a:solidFill>
                          <a:schemeClr val="tx1"/>
                        </a:solidFill>
                        <a:effectLst/>
                        <a:latin typeface="Calibri"/>
                      </a:endParaRPr>
                    </a:p>
                  </a:txBody>
                  <a:tcPr marL="45720" marR="45720"/>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839447141"/>
              </p:ext>
            </p:extLst>
          </p:nvPr>
        </p:nvGraphicFramePr>
        <p:xfrm>
          <a:off x="0" y="22411"/>
          <a:ext cx="12217204" cy="10533348"/>
        </p:xfrm>
        <a:graphic>
          <a:graphicData uri="http://schemas.openxmlformats.org/drawingml/2006/table">
            <a:tbl>
              <a:tblPr firstRow="1" bandRow="1">
                <a:tableStyleId>{5C22544A-7EE6-4342-B048-85BDC9FD1C3A}</a:tableStyleId>
              </a:tblPr>
              <a:tblGrid>
                <a:gridCol w="578303">
                  <a:extLst>
                    <a:ext uri="{9D8B030D-6E8A-4147-A177-3AD203B41FA5}">
                      <a16:colId xmlns:a16="http://schemas.microsoft.com/office/drawing/2014/main" val="20000"/>
                    </a:ext>
                  </a:extLst>
                </a:gridCol>
                <a:gridCol w="2505982">
                  <a:extLst>
                    <a:ext uri="{9D8B030D-6E8A-4147-A177-3AD203B41FA5}">
                      <a16:colId xmlns:a16="http://schemas.microsoft.com/office/drawing/2014/main" val="20001"/>
                    </a:ext>
                  </a:extLst>
                </a:gridCol>
                <a:gridCol w="1184306">
                  <a:extLst>
                    <a:ext uri="{9D8B030D-6E8A-4147-A177-3AD203B41FA5}">
                      <a16:colId xmlns:a16="http://schemas.microsoft.com/office/drawing/2014/main" val="20002"/>
                    </a:ext>
                  </a:extLst>
                </a:gridCol>
                <a:gridCol w="1734909">
                  <a:extLst>
                    <a:ext uri="{9D8B030D-6E8A-4147-A177-3AD203B41FA5}">
                      <a16:colId xmlns:a16="http://schemas.microsoft.com/office/drawing/2014/main" val="20003"/>
                    </a:ext>
                  </a:extLst>
                </a:gridCol>
                <a:gridCol w="3254374">
                  <a:extLst>
                    <a:ext uri="{9D8B030D-6E8A-4147-A177-3AD203B41FA5}">
                      <a16:colId xmlns:a16="http://schemas.microsoft.com/office/drawing/2014/main" val="20004"/>
                    </a:ext>
                  </a:extLst>
                </a:gridCol>
                <a:gridCol w="2959330">
                  <a:extLst>
                    <a:ext uri="{9D8B030D-6E8A-4147-A177-3AD203B41FA5}">
                      <a16:colId xmlns:a16="http://schemas.microsoft.com/office/drawing/2014/main" val="20005"/>
                    </a:ext>
                  </a:extLst>
                </a:gridCol>
              </a:tblGrid>
              <a:tr h="588308">
                <a:tc>
                  <a:txBody>
                    <a:bodyPr/>
                    <a:lstStyle/>
                    <a:p>
                      <a:pPr lvl="0">
                        <a:buNone/>
                      </a:pPr>
                      <a:r>
                        <a:rPr lang="en-US" sz="1400" b="1" i="0" u="none" strike="noStrike" noProof="0">
                          <a:solidFill>
                            <a:srgbClr val="FFFFFF"/>
                          </a:solidFill>
                          <a:effectLst/>
                          <a:latin typeface="Arial"/>
                        </a:rPr>
                        <a:t>Ref No.</a:t>
                      </a:r>
                      <a:endParaRPr lang="en-US"/>
                    </a:p>
                  </a:txBody>
                  <a:tcPr/>
                </a:tc>
                <a:tc>
                  <a:txBody>
                    <a:bodyPr/>
                    <a:lstStyle/>
                    <a:p>
                      <a:pPr lvl="0">
                        <a:buNone/>
                      </a:pPr>
                      <a:r>
                        <a:rPr lang="en-US" sz="1400" b="1" i="0" u="none" strike="noStrike" noProof="0">
                          <a:solidFill>
                            <a:srgbClr val="FFFFFF"/>
                          </a:solidFill>
                          <a:effectLst/>
                          <a:latin typeface="Arial"/>
                        </a:rPr>
                        <a:t>     Title of paper  </a:t>
                      </a:r>
                      <a:endParaRPr lang="en-US"/>
                    </a:p>
                  </a:txBody>
                  <a:tcPr/>
                </a:tc>
                <a:tc>
                  <a:txBody>
                    <a:bodyPr/>
                    <a:lstStyle/>
                    <a:p>
                      <a:pPr lvl="0">
                        <a:buNone/>
                      </a:pPr>
                      <a:r>
                        <a:rPr lang="en-US" sz="1400" b="1" i="0" u="none" strike="noStrike" noProof="0">
                          <a:solidFill>
                            <a:srgbClr val="FFFFFF"/>
                          </a:solidFill>
                          <a:effectLst/>
                          <a:latin typeface="Arial"/>
                        </a:rPr>
                        <a:t>        Year</a:t>
                      </a:r>
                      <a:endParaRPr lang="en-US"/>
                    </a:p>
                  </a:txBody>
                  <a:tcPr/>
                </a:tc>
                <a:tc>
                  <a:txBody>
                    <a:bodyPr/>
                    <a:lstStyle/>
                    <a:p>
                      <a:pPr lvl="0">
                        <a:buNone/>
                      </a:pPr>
                      <a:r>
                        <a:rPr lang="en-US" sz="1400" b="1" i="0" u="none" strike="noStrike" noProof="0">
                          <a:solidFill>
                            <a:srgbClr val="FFFFFF"/>
                          </a:solidFill>
                          <a:effectLst/>
                          <a:latin typeface="Arial"/>
                        </a:rPr>
                        <a:t>      Author</a:t>
                      </a:r>
                      <a:endParaRPr lang="en-US"/>
                    </a:p>
                  </a:txBody>
                  <a:tcPr/>
                </a:tc>
                <a:tc>
                  <a:txBody>
                    <a:bodyPr/>
                    <a:lstStyle/>
                    <a:p>
                      <a:pPr lvl="0">
                        <a:buNone/>
                      </a:pPr>
                      <a:r>
                        <a:rPr lang="en-US" sz="1400" b="1" i="0" u="none" strike="noStrike" noProof="0">
                          <a:solidFill>
                            <a:srgbClr val="FFFFFF"/>
                          </a:solidFill>
                          <a:effectLst/>
                          <a:latin typeface="Arial"/>
                        </a:rPr>
                        <a:t>   Key Findings</a:t>
                      </a:r>
                      <a:endParaRPr lang="en-US"/>
                    </a:p>
                  </a:txBody>
                  <a:tcPr/>
                </a:tc>
                <a:tc>
                  <a:txBody>
                    <a:bodyPr/>
                    <a:lstStyle/>
                    <a:p>
                      <a:pPr lvl="0">
                        <a:buNone/>
                      </a:pPr>
                      <a:r>
                        <a:rPr lang="en-US" sz="1400" b="1" i="0" u="none" strike="noStrike" noProof="0">
                          <a:solidFill>
                            <a:srgbClr val="FFFFFF"/>
                          </a:solidFill>
                          <a:effectLst/>
                          <a:latin typeface="Arial"/>
                        </a:rPr>
                        <a:t>   Research gap</a:t>
                      </a:r>
                      <a:endParaRPr lang="en-US"/>
                    </a:p>
                  </a:txBody>
                  <a:tcPr/>
                </a:tc>
                <a:extLst>
                  <a:ext uri="{0D108BD9-81ED-4DB2-BD59-A6C34878D82A}">
                    <a16:rowId xmlns:a16="http://schemas.microsoft.com/office/drawing/2014/main" val="150457371"/>
                  </a:ext>
                </a:extLst>
              </a:tr>
              <a:tr h="3957410">
                <a:tc>
                  <a:txBody>
                    <a:bodyPr/>
                    <a:lstStyle/>
                    <a:p>
                      <a:pPr lvl="0" algn="l">
                        <a:lnSpc>
                          <a:spcPct val="100000"/>
                        </a:lnSpc>
                        <a:spcBef>
                          <a:spcPts val="0"/>
                        </a:spcBef>
                        <a:spcAft>
                          <a:spcPts val="0"/>
                        </a:spcAft>
                        <a:buNone/>
                      </a:pPr>
                      <a:r>
                        <a:rPr lang="en-US" sz="1400" b="1" i="0" u="none" strike="noStrike" noProof="0">
                          <a:solidFill>
                            <a:srgbClr val="000000"/>
                          </a:solidFill>
                          <a:latin typeface="Arial"/>
                        </a:rPr>
                        <a:t>3.</a:t>
                      </a:r>
                      <a:endParaRPr lang="en-US" sz="1400" b="0" i="0" u="none" strike="noStrike" noProof="0">
                        <a:solidFill>
                          <a:srgbClr val="000000"/>
                        </a:solidFill>
                        <a:latin typeface="Arial"/>
                      </a:endParaRPr>
                    </a:p>
                    <a:p>
                      <a:pPr lvl="0">
                        <a:buNone/>
                      </a:pPr>
                      <a:endParaRPr lang="en-US"/>
                    </a:p>
                  </a:txBody>
                  <a:tcPr/>
                </a:tc>
                <a:tc>
                  <a:txBody>
                    <a:bodyPr/>
                    <a:lstStyle/>
                    <a:p>
                      <a:pPr fontAlgn="base"/>
                      <a:r>
                        <a:rPr lang="en-US" sz="1400">
                          <a:effectLst/>
                          <a:hlinkClick r:id="rId2"/>
                        </a:rPr>
                        <a:t>Low-Illumination Image Enhancement Algorithm Based On a Physical Lighting Model.</a:t>
                      </a:r>
                      <a:endParaRPr lang="en-US" sz="1400">
                        <a:effectLst/>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a:rPr>
                        <a:t> JANUARY 2019</a:t>
                      </a:r>
                      <a:endParaRPr lang="en-US" sz="1800" b="0">
                        <a:latin typeface="Calibri"/>
                      </a:endParaRPr>
                    </a:p>
                    <a:p>
                      <a:pPr lvl="0">
                        <a:buNone/>
                      </a:pPr>
                      <a:endParaRPr lang="en-US" sz="1400">
                        <a:effectLst/>
                      </a:endParaRPr>
                    </a:p>
                  </a:txBody>
                  <a:tcPr/>
                </a:tc>
                <a:tc>
                  <a:txBody>
                    <a:bodyPr/>
                    <a:lstStyle/>
                    <a:p>
                      <a:pPr lvl="0" algn="l">
                        <a:lnSpc>
                          <a:spcPct val="100000"/>
                        </a:lnSpc>
                        <a:spcBef>
                          <a:spcPts val="0"/>
                        </a:spcBef>
                        <a:spcAft>
                          <a:spcPts val="0"/>
                        </a:spcAft>
                        <a:buNone/>
                      </a:pPr>
                      <a:r>
                        <a:rPr lang="en-US" sz="1800" b="0" i="0" u="none" strike="noStrike" noProof="0">
                          <a:solidFill>
                            <a:srgbClr val="231F20"/>
                          </a:solidFill>
                          <a:effectLst/>
                          <a:latin typeface="Calibri"/>
                        </a:rPr>
                        <a:t>Shun-Yuan Yu and Hong Zhu</a:t>
                      </a:r>
                      <a:endParaRPr lang="en-US" sz="1800">
                        <a:latin typeface="Calibri"/>
                      </a:endParaRPr>
                    </a:p>
                    <a:p>
                      <a:pPr lvl="0">
                        <a:buNone/>
                      </a:pPr>
                      <a:endParaRPr lang="en-US" sz="1400">
                        <a:effectLst/>
                      </a:endParaRPr>
                    </a:p>
                  </a:txBody>
                  <a:tcPr/>
                </a:tc>
                <a:tc>
                  <a:txBody>
                    <a:bodyPr/>
                    <a:lstStyle/>
                    <a:p>
                      <a:pPr lvl="0" algn="just">
                        <a:buNone/>
                      </a:pPr>
                      <a:r>
                        <a:rPr lang="en-US" sz="1800" b="0" i="0" u="none" strike="noStrike" noProof="0">
                          <a:solidFill>
                            <a:schemeClr val="tx1"/>
                          </a:solidFill>
                          <a:effectLst/>
                          <a:latin typeface="Calibri"/>
                        </a:rPr>
                        <a:t>The paper proposes a novel physical lighting model that accounts for the degradation of low-illumination images. This model considers environmental light as a point-wise variable that changes with the local light source.</a:t>
                      </a:r>
                      <a:endParaRPr lang="en-US"/>
                    </a:p>
                  </a:txBody>
                  <a:tcPr/>
                </a:tc>
                <a:tc>
                  <a:txBody>
                    <a:bodyPr/>
                    <a:lstStyle/>
                    <a:p>
                      <a:pPr lvl="0" algn="just">
                        <a:buNone/>
                      </a:pPr>
                      <a:r>
                        <a:rPr lang="en-US" sz="1800" b="0" i="0" u="none" strike="noStrike" noProof="0">
                          <a:effectLst/>
                          <a:latin typeface="Calibri"/>
                        </a:rPr>
                        <a:t>This paper seeks to bridge these gaps by proposing a physical lighting model that adapts to the variable lighting conditions of low-light environments, aiming to enhance image quality without introducing unwanted artifacts and maintaining accurate color reproduction.</a:t>
                      </a:r>
                      <a:endParaRPr lang="en-US" sz="1800">
                        <a:latin typeface="Calibri"/>
                      </a:endParaRPr>
                    </a:p>
                  </a:txBody>
                  <a:tcPr/>
                </a:tc>
                <a:extLst>
                  <a:ext uri="{0D108BD9-81ED-4DB2-BD59-A6C34878D82A}">
                    <a16:rowId xmlns:a16="http://schemas.microsoft.com/office/drawing/2014/main" val="10000"/>
                  </a:ext>
                </a:extLst>
              </a:tr>
              <a:tr h="3163275">
                <a:tc>
                  <a:txBody>
                    <a:bodyPr/>
                    <a:lstStyle/>
                    <a:p>
                      <a:pPr fontAlgn="base"/>
                      <a:endParaRPr lang="en-US" sz="1400" b="1">
                        <a:effectLst/>
                      </a:endParaRPr>
                    </a:p>
                  </a:txBody>
                  <a:tcPr/>
                </a:tc>
                <a:tc>
                  <a:txBody>
                    <a:bodyPr/>
                    <a:lstStyle/>
                    <a:p>
                      <a:pPr lvl="0">
                        <a:buNone/>
                      </a:pPr>
                      <a:endParaRPr lang="en-IN" altLang="en-US" sz="1800" b="0" i="0" u="none" strike="noStrike" noProof="0">
                        <a:effectLst/>
                        <a:latin typeface="Calibri" panose="020F0502020204030204"/>
                        <a:cs typeface="Calibri" panose="020F0502020204030204"/>
                      </a:endParaRPr>
                    </a:p>
                  </a:txBody>
                  <a:tcPr/>
                </a:tc>
                <a:tc>
                  <a:txBody>
                    <a:bodyPr/>
                    <a:lstStyle/>
                    <a:p>
                      <a:pPr lvl="0">
                        <a:buNone/>
                      </a:pPr>
                      <a:endParaRPr lang="en-US" sz="1600" b="0" i="0" u="none" strike="noStrike" noProof="0">
                        <a:effectLst/>
                        <a:latin typeface="Calibri"/>
                      </a:endParaRPr>
                    </a:p>
                  </a:txBody>
                  <a:tcPr/>
                </a:tc>
                <a:tc>
                  <a:txBody>
                    <a:bodyPr/>
                    <a:lstStyle/>
                    <a:p>
                      <a:pPr lvl="0" algn="just">
                        <a:buNone/>
                      </a:pPr>
                      <a:endParaRPr lang="en-US" sz="1600" b="0" i="0" u="none" strike="noStrike" kern="1200" noProof="0">
                        <a:solidFill>
                          <a:schemeClr val="dk1"/>
                        </a:solidFill>
                        <a:effectLst/>
                        <a:latin typeface="Calibri"/>
                      </a:endParaRPr>
                    </a:p>
                  </a:txBody>
                  <a:tcPr/>
                </a:tc>
                <a:tc>
                  <a:txBody>
                    <a:bodyPr/>
                    <a:lstStyle/>
                    <a:p>
                      <a:pPr marL="0" lvl="0" indent="0" algn="just">
                        <a:lnSpc>
                          <a:spcPct val="100000"/>
                        </a:lnSpc>
                        <a:spcBef>
                          <a:spcPct val="0"/>
                        </a:spcBef>
                        <a:spcAft>
                          <a:spcPct val="0"/>
                        </a:spcAft>
                        <a:buNone/>
                      </a:pPr>
                      <a:endParaRPr lang="en-US" sz="1600">
                        <a:latin typeface="Calibri" panose="020F0502020204030204"/>
                      </a:endParaRPr>
                    </a:p>
                  </a:txBody>
                  <a:tcPr/>
                </a:tc>
                <a:tc>
                  <a:txBody>
                    <a:bodyPr/>
                    <a:lstStyle/>
                    <a:p>
                      <a:pPr lvl="0" algn="just">
                        <a:lnSpc>
                          <a:spcPct val="100000"/>
                        </a:lnSpc>
                        <a:spcBef>
                          <a:spcPct val="0"/>
                        </a:spcBef>
                        <a:spcAft>
                          <a:spcPct val="0"/>
                        </a:spcAft>
                        <a:buNone/>
                      </a:pPr>
                      <a:endParaRPr lang="en-US" sz="1800" b="0" i="0" u="none" strike="noStrike" noProof="0"/>
                    </a:p>
                  </a:txBody>
                  <a:tcPr marL="45720" marR="45720"/>
                </a:tc>
                <a:extLst>
                  <a:ext uri="{0D108BD9-81ED-4DB2-BD59-A6C34878D82A}">
                    <a16:rowId xmlns:a16="http://schemas.microsoft.com/office/drawing/2014/main" val="10001"/>
                  </a:ext>
                </a:extLst>
              </a:tr>
              <a:tr h="2824355">
                <a:tc>
                  <a:txBody>
                    <a:bodyPr/>
                    <a:lstStyle/>
                    <a:p>
                      <a:pPr fontAlgn="base"/>
                      <a:endParaRPr lang="en-US" sz="1400" b="1">
                        <a:effectLst/>
                      </a:endParaRPr>
                    </a:p>
                  </a:txBody>
                  <a:tcPr/>
                </a:tc>
                <a:tc>
                  <a:txBody>
                    <a:bodyPr/>
                    <a:lstStyle/>
                    <a:p>
                      <a:pPr fontAlgn="base"/>
                      <a:r>
                        <a:rPr lang="en-US" sz="1800">
                          <a:effectLst/>
                          <a:cs typeface="+mn-lt"/>
                        </a:rPr>
                        <a:t>​</a:t>
                      </a:r>
                      <a:endParaRPr lang="en-US" sz="1800" b="0" i="0" u="none" strike="noStrike" noProof="0">
                        <a:solidFill>
                          <a:srgbClr val="222222"/>
                        </a:solidFill>
                        <a:effectLst/>
                        <a:cs typeface="+mn-lt"/>
                      </a:endParaRPr>
                    </a:p>
                  </a:txBody>
                  <a:tcPr/>
                </a:tc>
                <a:tc>
                  <a:txBody>
                    <a:bodyPr/>
                    <a:lstStyle/>
                    <a:p>
                      <a:pPr lvl="0" algn="l">
                        <a:lnSpc>
                          <a:spcPct val="100000"/>
                        </a:lnSpc>
                        <a:spcBef>
                          <a:spcPct val="0"/>
                        </a:spcBef>
                        <a:spcAft>
                          <a:spcPct val="0"/>
                        </a:spcAft>
                        <a:buNone/>
                      </a:pPr>
                      <a:endParaRPr lang="en-US" sz="1600" b="0" i="0" u="none" strike="noStrike" kern="1200" noProof="0">
                        <a:solidFill>
                          <a:schemeClr val="dk1"/>
                        </a:solidFill>
                        <a:effectLst/>
                      </a:endParaRPr>
                    </a:p>
                  </a:txBody>
                  <a:tcPr/>
                </a:tc>
                <a:tc>
                  <a:txBody>
                    <a:bodyPr/>
                    <a:lstStyle/>
                    <a:p>
                      <a:pPr lvl="0">
                        <a:buNone/>
                      </a:pPr>
                      <a:endParaRPr lang="en-US" sz="1600" b="0" i="0" u="none" strike="noStrike" kern="1200" noProof="0">
                        <a:solidFill>
                          <a:schemeClr val="dk1"/>
                        </a:solidFill>
                        <a:effectLst/>
                        <a:latin typeface="Calibri" panose="020F0502020204030204"/>
                      </a:endParaRPr>
                    </a:p>
                  </a:txBody>
                  <a:tcPr/>
                </a:tc>
                <a:tc>
                  <a:txBody>
                    <a:bodyPr/>
                    <a:lstStyle/>
                    <a:p>
                      <a:pPr lvl="0" indent="0" algn="l">
                        <a:lnSpc>
                          <a:spcPct val="100000"/>
                        </a:lnSpc>
                        <a:spcBef>
                          <a:spcPct val="0"/>
                        </a:spcBef>
                        <a:spcAft>
                          <a:spcPct val="0"/>
                        </a:spcAft>
                        <a:buNone/>
                      </a:pPr>
                      <a:endParaRPr lang="en-US" sz="1600" b="0" i="0" u="none" strike="noStrike" kern="1200" noProof="0">
                        <a:solidFill>
                          <a:schemeClr val="tx1"/>
                        </a:solidFill>
                        <a:latin typeface="Calibri" panose="020F0502020204030204"/>
                      </a:endParaRPr>
                    </a:p>
                  </a:txBody>
                  <a:tcPr/>
                </a:tc>
                <a:tc>
                  <a:txBody>
                    <a:bodyPr/>
                    <a:lstStyle/>
                    <a:p>
                      <a:pPr lvl="0">
                        <a:buFont typeface="Arial" panose="020B0604020202020204" pitchFamily="34" charset="0"/>
                        <a:buNone/>
                      </a:pPr>
                      <a:endParaRPr lang="en-US" sz="1600">
                        <a:solidFill>
                          <a:schemeClr val="tx1"/>
                        </a:solidFill>
                      </a:endParaRPr>
                    </a:p>
                  </a:txBody>
                  <a:tcPr marL="45720" marR="4572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9400902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a:latin typeface="Montserrat"/>
                <a:sym typeface="Montserrat"/>
              </a:rPr>
              <a:t>Literature Survey</a:t>
            </a:r>
            <a:endParaRPr/>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a:latin typeface="Verdana"/>
                <a:ea typeface="Verdana"/>
              </a:rPr>
              <a:t>Key Publications </a:t>
            </a:r>
          </a:p>
          <a:p>
            <a:pPr marL="285750" indent="-285750">
              <a:buFont typeface="Arial" panose="020B0604020202020204" pitchFamily="34" charset="0"/>
              <a:buChar char="•"/>
            </a:pPr>
            <a:r>
              <a:rPr lang="en-IN">
                <a:ea typeface="Verdana"/>
                <a:hlinkClick r:id="rId2"/>
              </a:rPr>
              <a:t>Research paper 1</a:t>
            </a:r>
            <a:endParaRPr lang="en-IN">
              <a:ea typeface="Verdana"/>
            </a:endParaRPr>
          </a:p>
          <a:p>
            <a:pPr marL="285750" indent="-285750">
              <a:buFont typeface="Arial" panose="020B0604020202020204" pitchFamily="34" charset="0"/>
              <a:buChar char="•"/>
            </a:pPr>
            <a:r>
              <a:rPr lang="en-IN">
                <a:ea typeface="Verdana"/>
                <a:hlinkClick r:id="rId3"/>
              </a:rPr>
              <a:t>Research paper 2</a:t>
            </a:r>
            <a:endParaRPr lang="en-IN">
              <a:ea typeface="Verdana"/>
            </a:endParaRPr>
          </a:p>
          <a:p>
            <a:pPr marL="285750" indent="-285750">
              <a:buFont typeface="Arial" panose="020B0604020202020204" pitchFamily="34" charset="0"/>
              <a:buChar char="•"/>
            </a:pPr>
            <a:r>
              <a:rPr lang="en-IN">
                <a:ea typeface="Verdana"/>
                <a:hlinkClick r:id="rId4"/>
              </a:rPr>
              <a:t>Research paper 3</a:t>
            </a:r>
            <a:endParaRPr lang="en-IN">
              <a:ea typeface="Verdana"/>
            </a:endParaRPr>
          </a:p>
          <a:p>
            <a:pPr marL="285750" indent="-285750">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b="1">
              <a:latin typeface="Verdana" panose="020B0604030504040204" pitchFamily="34" charset="0"/>
              <a:ea typeface="Verdana" panose="020B0604030504040204" pitchFamily="34" charset="0"/>
            </a:endParaRPr>
          </a:p>
          <a:p>
            <a:endParaRPr lang="en-IN" b="1">
              <a:latin typeface="Verdana" panose="020B0604030504040204" pitchFamily="34" charset="0"/>
              <a:ea typeface="Verdana" panose="020B0604030504040204" pitchFamily="34" charset="0"/>
            </a:endParaRPr>
          </a:p>
          <a:p>
            <a:pPr marR="0" lvl="0">
              <a:lnSpc>
                <a:spcPct val="100000"/>
              </a:lnSpc>
              <a:spcBef>
                <a:spcPts val="0"/>
              </a:spcBef>
              <a:spcAft>
                <a:spcPts val="0"/>
              </a:spcAft>
            </a:pPr>
            <a:r>
              <a:rPr lang="en-IN" b="1">
                <a:latin typeface="Verdana"/>
                <a:ea typeface="Verdana"/>
              </a:rPr>
              <a:t>Key Resources – Whitepaper| Application Notes |  Datasheet| Others</a:t>
            </a:r>
            <a:endParaRPr lang="en-IN">
              <a:latin typeface="Verdana"/>
              <a:ea typeface="Verdana"/>
            </a:endParaRPr>
          </a:p>
          <a:p>
            <a:pPr marL="285750" indent="-285750">
              <a:buFont typeface="Arial,Sans-Serif"/>
              <a:buChar char="•"/>
            </a:pPr>
            <a:r>
              <a:rPr lang="en-IN">
                <a:latin typeface="Verdana"/>
                <a:ea typeface="Verdana"/>
              </a:rPr>
              <a:t>Google Scholar.</a:t>
            </a:r>
          </a:p>
          <a:p>
            <a:pPr marL="285750" indent="-285750">
              <a:buFont typeface="Arial,Sans-Serif"/>
              <a:buChar char="•"/>
            </a:pPr>
            <a:r>
              <a:rPr lang="en-IN">
                <a:latin typeface="Verdana"/>
                <a:ea typeface="Verdana"/>
              </a:rPr>
              <a:t>IEEE</a:t>
            </a:r>
          </a:p>
          <a:p>
            <a:pPr marR="0" lvl="0">
              <a:lnSpc>
                <a:spcPct val="100000"/>
              </a:lnSpc>
              <a:spcBef>
                <a:spcPts val="0"/>
              </a:spcBef>
              <a:spcAft>
                <a:spcPts val="0"/>
              </a:spcAft>
            </a:pPr>
            <a:endParaRPr lang="en-IN">
              <a:latin typeface="Verdana"/>
              <a:ea typeface="Verdana"/>
            </a:endParaRPr>
          </a:p>
          <a:p>
            <a:pPr marR="0" lvl="0" rtl="0">
              <a:lnSpc>
                <a:spcPct val="100000"/>
              </a:lnSpc>
              <a:spcBef>
                <a:spcPts val="0"/>
              </a:spcBef>
              <a:spcAft>
                <a:spcPts val="0"/>
              </a:spcAft>
            </a:pPr>
            <a:endParaRPr lang="en-IN" b="1">
              <a:latin typeface="Verdana"/>
              <a:ea typeface="Verdana" panose="020B0604030504040204" pitchFamily="34" charset="0"/>
            </a:endParaRPr>
          </a:p>
          <a:p>
            <a:pPr marR="0" lvl="0" rtl="0">
              <a:lnSpc>
                <a:spcPct val="100000"/>
              </a:lnSpc>
              <a:spcBef>
                <a:spcPts val="0"/>
              </a:spcBef>
              <a:spcAft>
                <a:spcPts val="0"/>
              </a:spcAft>
            </a:pPr>
            <a:endParaRPr lang="en-IN">
              <a:ea typeface="Verdana" panose="020B0604030504040204" pitchFamily="34" charset="0"/>
            </a:endParaRPr>
          </a:p>
          <a:p>
            <a:pPr marL="285750" indent="-285750">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a:latin typeface="Verdana"/>
                <a:ea typeface="Verdana"/>
              </a:rPr>
              <a:t>Existing Implementations – Products| Opensource| GitHub etc </a:t>
            </a:r>
          </a:p>
          <a:p>
            <a:pPr marL="285750" marR="0" lvl="0" indent="-285750" rtl="0">
              <a:lnSpc>
                <a:spcPct val="100000"/>
              </a:lnSpc>
              <a:spcBef>
                <a:spcPts val="0"/>
              </a:spcBef>
              <a:spcAft>
                <a:spcPts val="0"/>
              </a:spcAft>
              <a:buFont typeface="Arial" panose="020B0604020202020204" pitchFamily="34" charset="0"/>
              <a:buChar char="•"/>
            </a:pPr>
            <a:r>
              <a:rPr lang="en-IN">
                <a:latin typeface="Verdana"/>
                <a:ea typeface="Verdana"/>
              </a:rPr>
              <a:t>MATLAB.</a:t>
            </a:r>
          </a:p>
          <a:p>
            <a:pPr marL="285750" indent="-285750">
              <a:buFont typeface="Arial" panose="020B0604020202020204" pitchFamily="34" charset="0"/>
              <a:buChar char="•"/>
            </a:pPr>
            <a:r>
              <a:rPr lang="en-IN">
                <a:latin typeface="Verdana"/>
                <a:ea typeface="Verdana"/>
                <a:hlinkClick r:id="rId5"/>
              </a:rPr>
              <a:t>Github</a:t>
            </a:r>
            <a:endParaRPr lang="en-IN">
              <a:latin typeface="Verdana"/>
              <a:ea typeface="Verdana"/>
            </a:endParaRPr>
          </a:p>
        </p:txBody>
      </p:sp>
    </p:spTree>
    <p:extLst>
      <p:ext uri="{BB962C8B-B14F-4D97-AF65-F5344CB8AC3E}">
        <p14:creationId xmlns:p14="http://schemas.microsoft.com/office/powerpoint/2010/main" val="2538241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44D3-0B34-E440-8562-0EBBCE6CD7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8D7664-2954-2DEE-0F36-EE6CFF1065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4" name="Google Shape;125;p3">
            <a:extLst>
              <a:ext uri="{FF2B5EF4-FFF2-40B4-BE49-F238E27FC236}">
                <a16:creationId xmlns:a16="http://schemas.microsoft.com/office/drawing/2014/main" id="{7C1DD96F-B851-93EE-E9EF-03723BCBDA7A}"/>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a:latin typeface="Montserrat"/>
                <a:sym typeface="Montserrat"/>
              </a:rPr>
              <a:t>Analysis - SWOT</a:t>
            </a:r>
            <a:endParaRPr/>
          </a:p>
        </p:txBody>
      </p:sp>
      <p:grpSp>
        <p:nvGrpSpPr>
          <p:cNvPr id="2" name="Google Shape;488;p10">
            <a:extLst>
              <a:ext uri="{FF2B5EF4-FFF2-40B4-BE49-F238E27FC236}">
                <a16:creationId xmlns:a16="http://schemas.microsoft.com/office/drawing/2014/main" id="{269C34FF-CDA4-B8DA-6F30-CF6FDF5266E1}"/>
              </a:ext>
            </a:extLst>
          </p:cNvPr>
          <p:cNvGrpSpPr/>
          <p:nvPr/>
        </p:nvGrpSpPr>
        <p:grpSpPr>
          <a:xfrm>
            <a:off x="213105" y="1087852"/>
            <a:ext cx="6735755" cy="3029576"/>
            <a:chOff x="928691" y="421011"/>
            <a:chExt cx="2812894" cy="2272239"/>
          </a:xfrm>
        </p:grpSpPr>
        <p:sp>
          <p:nvSpPr>
            <p:cNvPr id="6" name="Google Shape;489;p10">
              <a:extLst>
                <a:ext uri="{FF2B5EF4-FFF2-40B4-BE49-F238E27FC236}">
                  <a16:creationId xmlns:a16="http://schemas.microsoft.com/office/drawing/2014/main" id="{F9A37DA5-F2CD-1F6B-42EC-AAC693394F99}"/>
                </a:ext>
              </a:extLst>
            </p:cNvPr>
            <p:cNvSpPr/>
            <p:nvPr/>
          </p:nvSpPr>
          <p:spPr>
            <a:xfrm>
              <a:off x="2842986" y="1102623"/>
              <a:ext cx="898599" cy="431632"/>
            </a:xfrm>
            <a:custGeom>
              <a:avLst/>
              <a:gdLst/>
              <a:ahLst/>
              <a:cxnLst/>
              <a:rect l="l" t="t" r="r" b="b"/>
              <a:pathLst>
                <a:path w="52055" h="25004" fill="none" extrusionOk="0">
                  <a:moveTo>
                    <a:pt x="52055" y="25004"/>
                  </a:moveTo>
                  <a:lnTo>
                    <a:pt x="27052" y="1"/>
                  </a:lnTo>
                  <a:lnTo>
                    <a:pt x="1" y="1"/>
                  </a:lnTo>
                </a:path>
              </a:pathLst>
            </a:custGeom>
            <a:noFill/>
            <a:ln w="11025" cap="flat" cmpd="sng">
              <a:solidFill>
                <a:schemeClr val="accent6"/>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7" name="Google Shape;490;p10">
              <a:extLst>
                <a:ext uri="{FF2B5EF4-FFF2-40B4-BE49-F238E27FC236}">
                  <a16:creationId xmlns:a16="http://schemas.microsoft.com/office/drawing/2014/main" id="{3842D460-7852-7143-8294-DAE6FB2A59E6}"/>
                </a:ext>
              </a:extLst>
            </p:cNvPr>
            <p:cNvGrpSpPr/>
            <p:nvPr/>
          </p:nvGrpSpPr>
          <p:grpSpPr>
            <a:xfrm>
              <a:off x="928691" y="421011"/>
              <a:ext cx="1901510" cy="2272239"/>
              <a:chOff x="928691" y="421011"/>
              <a:chExt cx="1901510" cy="2272239"/>
            </a:xfrm>
          </p:grpSpPr>
          <p:sp>
            <p:nvSpPr>
              <p:cNvPr id="8" name="Google Shape;491;p10">
                <a:extLst>
                  <a:ext uri="{FF2B5EF4-FFF2-40B4-BE49-F238E27FC236}">
                    <a16:creationId xmlns:a16="http://schemas.microsoft.com/office/drawing/2014/main" id="{E5FE54F9-1A63-D277-24B9-BD4404A327F6}"/>
                  </a:ext>
                </a:extLst>
              </p:cNvPr>
              <p:cNvSpPr txBox="1"/>
              <p:nvPr/>
            </p:nvSpPr>
            <p:spPr>
              <a:xfrm>
                <a:off x="945601" y="1279050"/>
                <a:ext cx="1884600" cy="1414200"/>
              </a:xfrm>
              <a:prstGeom prst="rect">
                <a:avLst/>
              </a:prstGeom>
              <a:noFill/>
              <a:ln>
                <a:noFill/>
              </a:ln>
            </p:spPr>
            <p:txBody>
              <a:bodyPr spcFirstLastPara="1" wrap="square" lIns="121900" tIns="121900" rIns="121900" bIns="121900" anchor="ctr" anchorCtr="0">
                <a:noAutofit/>
              </a:bodyPr>
              <a:lstStyle/>
              <a:p>
                <a:pPr algn="just"/>
                <a:r>
                  <a:rPr lang="en-US" sz="1600">
                    <a:solidFill>
                      <a:srgbClr val="434343"/>
                    </a:solidFill>
                    <a:latin typeface="Roboto"/>
                    <a:ea typeface="Roboto"/>
                    <a:cs typeface="Roboto"/>
                    <a:sym typeface="Roboto"/>
                  </a:rPr>
                  <a:t>S1. Low light Image enhancement</a:t>
                </a:r>
              </a:p>
              <a:p>
                <a:r>
                  <a:rPr lang="en-US" sz="1600">
                    <a:solidFill>
                      <a:srgbClr val="434343"/>
                    </a:solidFill>
                    <a:latin typeface="Roboto"/>
                    <a:ea typeface="Roboto"/>
                    <a:cs typeface="Roboto"/>
                    <a:sym typeface="Roboto"/>
                  </a:rPr>
                  <a:t>S2. Noise Reduction</a:t>
                </a:r>
              </a:p>
              <a:p>
                <a:pPr algn="just"/>
                <a:r>
                  <a:rPr lang="en-US" sz="1600">
                    <a:solidFill>
                      <a:srgbClr val="434343"/>
                    </a:solidFill>
                    <a:latin typeface="Roboto"/>
                    <a:ea typeface="Roboto"/>
                    <a:cs typeface="Roboto"/>
                    <a:sym typeface="Roboto"/>
                  </a:rPr>
                  <a:t>S3. Detail Preservation</a:t>
                </a:r>
                <a:endParaRPr/>
              </a:p>
              <a:p>
                <a:pPr marL="0" marR="0" lvl="0" indent="0" algn="just" rtl="0">
                  <a:spcBef>
                    <a:spcPts val="0"/>
                  </a:spcBef>
                  <a:spcAft>
                    <a:spcPts val="0"/>
                  </a:spcAft>
                  <a:buNone/>
                </a:pPr>
                <a:endParaRPr sz="1600">
                  <a:solidFill>
                    <a:srgbClr val="434343"/>
                  </a:solidFill>
                  <a:latin typeface="Roboto"/>
                  <a:ea typeface="Roboto"/>
                  <a:cs typeface="Roboto"/>
                  <a:sym typeface="Roboto"/>
                </a:endParaRPr>
              </a:p>
            </p:txBody>
          </p:sp>
          <p:sp>
            <p:nvSpPr>
              <p:cNvPr id="9" name="Google Shape;492;p10">
                <a:extLst>
                  <a:ext uri="{FF2B5EF4-FFF2-40B4-BE49-F238E27FC236}">
                    <a16:creationId xmlns:a16="http://schemas.microsoft.com/office/drawing/2014/main" id="{E4482AD6-2715-CF44-0AD5-5E77FB24E6FD}"/>
                  </a:ext>
                </a:extLst>
              </p:cNvPr>
              <p:cNvSpPr txBox="1"/>
              <p:nvPr/>
            </p:nvSpPr>
            <p:spPr>
              <a:xfrm>
                <a:off x="928691" y="421011"/>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6"/>
                    </a:solidFill>
                    <a:latin typeface="Fira Sans Extra Condensed Medium"/>
                    <a:ea typeface="Fira Sans Extra Condensed Medium"/>
                    <a:cs typeface="Fira Sans Extra Condensed Medium"/>
                    <a:sym typeface="Fira Sans Extra Condensed Medium"/>
                  </a:rPr>
                  <a:t>Strengths</a:t>
                </a:r>
                <a:endParaRPr sz="2267" b="1">
                  <a:solidFill>
                    <a:schemeClr val="accent6"/>
                  </a:solidFill>
                  <a:latin typeface="Fira Sans Extra Condensed Medium"/>
                  <a:ea typeface="Fira Sans Extra Condensed Medium"/>
                  <a:cs typeface="Fira Sans Extra Condensed Medium"/>
                  <a:sym typeface="Fira Sans Extra Condensed Medium"/>
                </a:endParaRPr>
              </a:p>
            </p:txBody>
          </p:sp>
        </p:grpSp>
      </p:grpSp>
      <p:grpSp>
        <p:nvGrpSpPr>
          <p:cNvPr id="10" name="Google Shape;483;p10">
            <a:extLst>
              <a:ext uri="{FF2B5EF4-FFF2-40B4-BE49-F238E27FC236}">
                <a16:creationId xmlns:a16="http://schemas.microsoft.com/office/drawing/2014/main" id="{A77B6CF2-86FF-F242-427B-686D0329AF30}"/>
              </a:ext>
            </a:extLst>
          </p:cNvPr>
          <p:cNvGrpSpPr/>
          <p:nvPr/>
        </p:nvGrpSpPr>
        <p:grpSpPr>
          <a:xfrm>
            <a:off x="6918062" y="990975"/>
            <a:ext cx="5273935" cy="2767970"/>
            <a:chOff x="5188548" y="1062506"/>
            <a:chExt cx="3955451" cy="1459517"/>
          </a:xfrm>
        </p:grpSpPr>
        <p:sp>
          <p:nvSpPr>
            <p:cNvPr id="11" name="Google Shape;484;p10">
              <a:extLst>
                <a:ext uri="{FF2B5EF4-FFF2-40B4-BE49-F238E27FC236}">
                  <a16:creationId xmlns:a16="http://schemas.microsoft.com/office/drawing/2014/main" id="{6800CA5A-EB54-7A93-DB12-7831175802B6}"/>
                </a:ext>
              </a:extLst>
            </p:cNvPr>
            <p:cNvSpPr/>
            <p:nvPr/>
          </p:nvSpPr>
          <p:spPr>
            <a:xfrm>
              <a:off x="5188548" y="1644028"/>
              <a:ext cx="898599" cy="431632"/>
            </a:xfrm>
            <a:custGeom>
              <a:avLst/>
              <a:gdLst/>
              <a:ahLst/>
              <a:cxnLst/>
              <a:rect l="l" t="t" r="r" b="b"/>
              <a:pathLst>
                <a:path w="52055" h="25004" fill="none" extrusionOk="0">
                  <a:moveTo>
                    <a:pt x="0" y="25004"/>
                  </a:moveTo>
                  <a:lnTo>
                    <a:pt x="25003" y="1"/>
                  </a:lnTo>
                  <a:lnTo>
                    <a:pt x="52054" y="1"/>
                  </a:lnTo>
                </a:path>
              </a:pathLst>
            </a:custGeom>
            <a:noFill/>
            <a:ln w="11025"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2" name="Google Shape;485;p10">
              <a:extLst>
                <a:ext uri="{FF2B5EF4-FFF2-40B4-BE49-F238E27FC236}">
                  <a16:creationId xmlns:a16="http://schemas.microsoft.com/office/drawing/2014/main" id="{3A1B4FA6-53DA-BECD-B941-81C8CB1EFA80}"/>
                </a:ext>
              </a:extLst>
            </p:cNvPr>
            <p:cNvGrpSpPr/>
            <p:nvPr/>
          </p:nvGrpSpPr>
          <p:grpSpPr>
            <a:xfrm>
              <a:off x="6267501" y="1062506"/>
              <a:ext cx="2876498" cy="1459517"/>
              <a:chOff x="6267501" y="1062506"/>
              <a:chExt cx="2876498" cy="1459517"/>
            </a:xfrm>
          </p:grpSpPr>
          <p:sp>
            <p:nvSpPr>
              <p:cNvPr id="13" name="Google Shape;486;p10">
                <a:extLst>
                  <a:ext uri="{FF2B5EF4-FFF2-40B4-BE49-F238E27FC236}">
                    <a16:creationId xmlns:a16="http://schemas.microsoft.com/office/drawing/2014/main" id="{972EB651-2134-7EAB-B40B-35978B6FCF59}"/>
                  </a:ext>
                </a:extLst>
              </p:cNvPr>
              <p:cNvSpPr txBox="1"/>
              <p:nvPr/>
            </p:nvSpPr>
            <p:spPr>
              <a:xfrm>
                <a:off x="6551742" y="1062506"/>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1"/>
                    </a:solidFill>
                    <a:latin typeface="Fira Sans Extra Condensed Medium"/>
                    <a:ea typeface="Fira Sans Extra Condensed Medium"/>
                    <a:cs typeface="Fira Sans Extra Condensed Medium"/>
                    <a:sym typeface="Fira Sans Extra Condensed Medium"/>
                  </a:rPr>
                  <a:t>Weaknesses</a:t>
                </a:r>
                <a:endParaRPr sz="2267" b="1">
                  <a:solidFill>
                    <a:schemeClr val="accent1"/>
                  </a:solidFill>
                  <a:latin typeface="Fira Sans Extra Condensed Medium"/>
                  <a:ea typeface="Fira Sans Extra Condensed Medium"/>
                  <a:cs typeface="Fira Sans Extra Condensed Medium"/>
                  <a:sym typeface="Fira Sans Extra Condensed Medium"/>
                </a:endParaRPr>
              </a:p>
            </p:txBody>
          </p:sp>
          <p:sp>
            <p:nvSpPr>
              <p:cNvPr id="14" name="Google Shape;487;p10">
                <a:extLst>
                  <a:ext uri="{FF2B5EF4-FFF2-40B4-BE49-F238E27FC236}">
                    <a16:creationId xmlns:a16="http://schemas.microsoft.com/office/drawing/2014/main" id="{C0ADCA5D-65F3-914E-8EA9-6F13EA0D1DE6}"/>
                  </a:ext>
                </a:extLst>
              </p:cNvPr>
              <p:cNvSpPr txBox="1"/>
              <p:nvPr/>
            </p:nvSpPr>
            <p:spPr>
              <a:xfrm>
                <a:off x="6267501" y="1411722"/>
                <a:ext cx="2876498" cy="1110301"/>
              </a:xfrm>
              <a:prstGeom prst="rect">
                <a:avLst/>
              </a:prstGeom>
              <a:noFill/>
              <a:ln>
                <a:noFill/>
              </a:ln>
            </p:spPr>
            <p:txBody>
              <a:bodyPr spcFirstLastPara="1" wrap="square" lIns="121900" tIns="121900" rIns="121900" bIns="121900" anchor="ctr" anchorCtr="0">
                <a:noAutofit/>
              </a:bodyPr>
              <a:lstStyle/>
              <a:p>
                <a:r>
                  <a:rPr lang="en-US" sz="1600">
                    <a:solidFill>
                      <a:srgbClr val="434343"/>
                    </a:solidFill>
                    <a:latin typeface="Roboto"/>
                    <a:ea typeface="Roboto"/>
                    <a:cs typeface="Roboto"/>
                    <a:sym typeface="Roboto"/>
                  </a:rPr>
                  <a:t>W1. Complexity</a:t>
                </a:r>
              </a:p>
              <a:p>
                <a:r>
                  <a:rPr lang="en-US" sz="1600">
                    <a:solidFill>
                      <a:srgbClr val="434343"/>
                    </a:solidFill>
                    <a:latin typeface="Roboto"/>
                    <a:ea typeface="Roboto"/>
                    <a:cs typeface="Roboto"/>
                    <a:sym typeface="Roboto"/>
                  </a:rPr>
                  <a:t>W2. Color Distortion</a:t>
                </a:r>
                <a:endParaRPr sz="1600">
                  <a:solidFill>
                    <a:srgbClr val="434343"/>
                  </a:solidFill>
                  <a:latin typeface="Roboto"/>
                  <a:ea typeface="Roboto"/>
                  <a:cs typeface="Roboto"/>
                  <a:sym typeface="Roboto"/>
                </a:endParaRPr>
              </a:p>
              <a:p>
                <a:r>
                  <a:rPr lang="en-US" sz="1600">
                    <a:solidFill>
                      <a:srgbClr val="434343"/>
                    </a:solidFill>
                    <a:latin typeface="Roboto"/>
                    <a:ea typeface="Roboto"/>
                    <a:cs typeface="Roboto"/>
                    <a:sym typeface="Roboto"/>
                  </a:rPr>
                  <a:t>W3. Edge Artifacts</a:t>
                </a:r>
                <a:endParaRPr lang="en-US" sz="1600">
                  <a:solidFill>
                    <a:srgbClr val="434343"/>
                  </a:solidFill>
                  <a:latin typeface="Roboto"/>
                  <a:ea typeface="Roboto"/>
                  <a:cs typeface="Roboto"/>
                </a:endParaRPr>
              </a:p>
              <a:p>
                <a:pPr marL="0" marR="0" lvl="0" indent="0" rtl="0">
                  <a:spcBef>
                    <a:spcPts val="0"/>
                  </a:spcBef>
                  <a:spcAft>
                    <a:spcPts val="0"/>
                  </a:spcAft>
                  <a:buNone/>
                </a:pPr>
                <a:endParaRPr lang="en-US" sz="1600">
                  <a:solidFill>
                    <a:srgbClr val="434343"/>
                  </a:solidFill>
                  <a:latin typeface="Roboto"/>
                  <a:ea typeface="Roboto"/>
                  <a:cs typeface="Roboto"/>
                </a:endParaRPr>
              </a:p>
            </p:txBody>
          </p:sp>
        </p:grpSp>
      </p:grpSp>
      <p:grpSp>
        <p:nvGrpSpPr>
          <p:cNvPr id="15" name="Google Shape;493;p10">
            <a:extLst>
              <a:ext uri="{FF2B5EF4-FFF2-40B4-BE49-F238E27FC236}">
                <a16:creationId xmlns:a16="http://schemas.microsoft.com/office/drawing/2014/main" id="{851F0995-F55B-90A8-117C-17925C68C4C1}"/>
              </a:ext>
            </a:extLst>
          </p:cNvPr>
          <p:cNvGrpSpPr/>
          <p:nvPr/>
        </p:nvGrpSpPr>
        <p:grpSpPr>
          <a:xfrm>
            <a:off x="7146965" y="3874138"/>
            <a:ext cx="4833875" cy="1829818"/>
            <a:chOff x="5188548" y="2952300"/>
            <a:chExt cx="3670368" cy="1372398"/>
          </a:xfrm>
        </p:grpSpPr>
        <p:sp>
          <p:nvSpPr>
            <p:cNvPr id="16" name="Google Shape;494;p10">
              <a:extLst>
                <a:ext uri="{FF2B5EF4-FFF2-40B4-BE49-F238E27FC236}">
                  <a16:creationId xmlns:a16="http://schemas.microsoft.com/office/drawing/2014/main" id="{B778ABFC-F572-C69A-D4CA-CCE0E3C52B75}"/>
                </a:ext>
              </a:extLst>
            </p:cNvPr>
            <p:cNvSpPr/>
            <p:nvPr/>
          </p:nvSpPr>
          <p:spPr>
            <a:xfrm>
              <a:off x="5188548" y="3381901"/>
              <a:ext cx="898599" cy="431632"/>
            </a:xfrm>
            <a:custGeom>
              <a:avLst/>
              <a:gdLst/>
              <a:ahLst/>
              <a:cxnLst/>
              <a:rect l="l" t="t" r="r" b="b"/>
              <a:pathLst>
                <a:path w="52055" h="25004" fill="none" extrusionOk="0">
                  <a:moveTo>
                    <a:pt x="0" y="1"/>
                  </a:moveTo>
                  <a:lnTo>
                    <a:pt x="25003" y="25004"/>
                  </a:lnTo>
                  <a:lnTo>
                    <a:pt x="52054" y="25004"/>
                  </a:lnTo>
                </a:path>
              </a:pathLst>
            </a:custGeom>
            <a:noFill/>
            <a:ln w="11025" cap="flat" cmpd="sng">
              <a:solidFill>
                <a:schemeClr val="accent5"/>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7" name="Google Shape;495;p10">
              <a:extLst>
                <a:ext uri="{FF2B5EF4-FFF2-40B4-BE49-F238E27FC236}">
                  <a16:creationId xmlns:a16="http://schemas.microsoft.com/office/drawing/2014/main" id="{5EAB7177-C39F-1239-7629-99522C12A496}"/>
                </a:ext>
              </a:extLst>
            </p:cNvPr>
            <p:cNvGrpSpPr/>
            <p:nvPr/>
          </p:nvGrpSpPr>
          <p:grpSpPr>
            <a:xfrm>
              <a:off x="6340416" y="2952300"/>
              <a:ext cx="2518500" cy="1372398"/>
              <a:chOff x="6340416" y="2952300"/>
              <a:chExt cx="2518500" cy="1372398"/>
            </a:xfrm>
          </p:grpSpPr>
          <p:sp>
            <p:nvSpPr>
              <p:cNvPr id="18" name="Google Shape;496;p10">
                <a:extLst>
                  <a:ext uri="{FF2B5EF4-FFF2-40B4-BE49-F238E27FC236}">
                    <a16:creationId xmlns:a16="http://schemas.microsoft.com/office/drawing/2014/main" id="{5212DB45-A20F-41FD-6D1A-C0A3D72DE187}"/>
                  </a:ext>
                </a:extLst>
              </p:cNvPr>
              <p:cNvSpPr txBox="1"/>
              <p:nvPr/>
            </p:nvSpPr>
            <p:spPr>
              <a:xfrm>
                <a:off x="6524669" y="2952300"/>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5"/>
                    </a:solidFill>
                    <a:latin typeface="Fira Sans Extra Condensed Medium"/>
                    <a:ea typeface="Fira Sans Extra Condensed Medium"/>
                    <a:cs typeface="Fira Sans Extra Condensed Medium"/>
                    <a:sym typeface="Fira Sans Extra Condensed Medium"/>
                  </a:rPr>
                  <a:t>Threats</a:t>
                </a:r>
                <a:endParaRPr sz="2267" b="1">
                  <a:solidFill>
                    <a:schemeClr val="accent5"/>
                  </a:solidFill>
                  <a:latin typeface="Fira Sans Extra Condensed Medium"/>
                  <a:ea typeface="Fira Sans Extra Condensed Medium"/>
                  <a:cs typeface="Fira Sans Extra Condensed Medium"/>
                  <a:sym typeface="Fira Sans Extra Condensed Medium"/>
                </a:endParaRPr>
              </a:p>
            </p:txBody>
          </p:sp>
          <p:sp>
            <p:nvSpPr>
              <p:cNvPr id="19" name="Google Shape;497;p10">
                <a:extLst>
                  <a:ext uri="{FF2B5EF4-FFF2-40B4-BE49-F238E27FC236}">
                    <a16:creationId xmlns:a16="http://schemas.microsoft.com/office/drawing/2014/main" id="{B04B8B1B-38AA-9E17-833E-007F20119B83}"/>
                  </a:ext>
                </a:extLst>
              </p:cNvPr>
              <p:cNvSpPr txBox="1"/>
              <p:nvPr/>
            </p:nvSpPr>
            <p:spPr>
              <a:xfrm>
                <a:off x="6340416" y="3298998"/>
                <a:ext cx="2518500" cy="1025700"/>
              </a:xfrm>
              <a:prstGeom prst="rect">
                <a:avLst/>
              </a:prstGeom>
              <a:noFill/>
              <a:ln>
                <a:noFill/>
              </a:ln>
            </p:spPr>
            <p:txBody>
              <a:bodyPr spcFirstLastPara="1" wrap="square" lIns="121900" tIns="121900" rIns="121900" bIns="121900" anchor="ctr" anchorCtr="0">
                <a:noAutofit/>
              </a:bodyPr>
              <a:lstStyle/>
              <a:p>
                <a:r>
                  <a:rPr lang="en-US" sz="1600">
                    <a:solidFill>
                      <a:srgbClr val="434343"/>
                    </a:solidFill>
                    <a:latin typeface="Roboto"/>
                    <a:ea typeface="Roboto"/>
                    <a:cs typeface="Roboto"/>
                    <a:sym typeface="Roboto"/>
                  </a:rPr>
                  <a:t>T1. Spatial Temporal Noise.</a:t>
                </a:r>
                <a:endParaRPr lang="en-IN" sz="1600">
                  <a:solidFill>
                    <a:srgbClr val="434343"/>
                  </a:solidFill>
                  <a:latin typeface="Roboto"/>
                  <a:ea typeface="Roboto"/>
                  <a:cs typeface="Roboto"/>
                </a:endParaRPr>
              </a:p>
              <a:p>
                <a:r>
                  <a:rPr lang="en-US" sz="1600">
                    <a:solidFill>
                      <a:srgbClr val="434343"/>
                    </a:solidFill>
                    <a:latin typeface="Roboto"/>
                    <a:ea typeface="Roboto"/>
                    <a:cs typeface="Roboto"/>
                    <a:sym typeface="Roboto"/>
                  </a:rPr>
                  <a:t>T2. When dealing with videos mean variation occurs.</a:t>
                </a:r>
                <a:endParaRPr sz="1600">
                  <a:solidFill>
                    <a:srgbClr val="434343"/>
                  </a:solidFill>
                  <a:latin typeface="Roboto"/>
                  <a:ea typeface="Roboto"/>
                  <a:cs typeface="Roboto"/>
                  <a:sym typeface="Roboto"/>
                </a:endParaRPr>
              </a:p>
              <a:p>
                <a:pPr marL="0" marR="0" lvl="0" indent="0" algn="l" rtl="0">
                  <a:spcBef>
                    <a:spcPts val="0"/>
                  </a:spcBef>
                  <a:spcAft>
                    <a:spcPts val="0"/>
                  </a:spcAft>
                  <a:buNone/>
                </a:pPr>
                <a:endParaRPr sz="1600">
                  <a:solidFill>
                    <a:srgbClr val="434343"/>
                  </a:solidFill>
                  <a:latin typeface="Roboto"/>
                  <a:ea typeface="Roboto"/>
                  <a:cs typeface="Roboto"/>
                  <a:sym typeface="Roboto"/>
                </a:endParaRPr>
              </a:p>
              <a:p>
                <a:pPr marL="0" marR="0" lvl="0" indent="0" algn="l" rtl="0">
                  <a:spcBef>
                    <a:spcPts val="0"/>
                  </a:spcBef>
                  <a:spcAft>
                    <a:spcPts val="0"/>
                  </a:spcAft>
                  <a:buNone/>
                </a:pPr>
                <a:endParaRPr sz="1600">
                  <a:solidFill>
                    <a:srgbClr val="434343"/>
                  </a:solidFill>
                  <a:latin typeface="Roboto"/>
                  <a:ea typeface="Roboto"/>
                  <a:cs typeface="Roboto"/>
                  <a:sym typeface="Roboto"/>
                </a:endParaRPr>
              </a:p>
            </p:txBody>
          </p:sp>
        </p:grpSp>
      </p:grpSp>
      <p:grpSp>
        <p:nvGrpSpPr>
          <p:cNvPr id="20" name="Google Shape;498;p10">
            <a:extLst>
              <a:ext uri="{FF2B5EF4-FFF2-40B4-BE49-F238E27FC236}">
                <a16:creationId xmlns:a16="http://schemas.microsoft.com/office/drawing/2014/main" id="{0CBBCAA6-6560-FA17-7D57-8348284DB434}"/>
              </a:ext>
            </a:extLst>
          </p:cNvPr>
          <p:cNvGrpSpPr/>
          <p:nvPr/>
        </p:nvGrpSpPr>
        <p:grpSpPr>
          <a:xfrm>
            <a:off x="213100" y="4498050"/>
            <a:ext cx="6132113" cy="2109241"/>
            <a:chOff x="892757" y="3168878"/>
            <a:chExt cx="4599200" cy="1581970"/>
          </a:xfrm>
        </p:grpSpPr>
        <p:sp>
          <p:nvSpPr>
            <p:cNvPr id="21" name="Google Shape;499;p10">
              <a:extLst>
                <a:ext uri="{FF2B5EF4-FFF2-40B4-BE49-F238E27FC236}">
                  <a16:creationId xmlns:a16="http://schemas.microsoft.com/office/drawing/2014/main" id="{FCCD4B41-5E74-FF67-70B0-F0BC132EC36D}"/>
                </a:ext>
              </a:extLst>
            </p:cNvPr>
            <p:cNvSpPr/>
            <p:nvPr/>
          </p:nvSpPr>
          <p:spPr>
            <a:xfrm>
              <a:off x="4593358" y="3752480"/>
              <a:ext cx="898599" cy="431632"/>
            </a:xfrm>
            <a:custGeom>
              <a:avLst/>
              <a:gdLst/>
              <a:ahLst/>
              <a:cxnLst/>
              <a:rect l="l" t="t" r="r" b="b"/>
              <a:pathLst>
                <a:path w="52055" h="25004" fill="none" extrusionOk="0">
                  <a:moveTo>
                    <a:pt x="52055" y="1"/>
                  </a:moveTo>
                  <a:lnTo>
                    <a:pt x="27052" y="25004"/>
                  </a:lnTo>
                  <a:lnTo>
                    <a:pt x="1" y="25004"/>
                  </a:lnTo>
                </a:path>
              </a:pathLst>
            </a:custGeom>
            <a:noFill/>
            <a:ln w="11025" cap="flat" cmpd="sng">
              <a:solidFill>
                <a:srgbClr val="4949E7"/>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22" name="Google Shape;500;p10">
              <a:extLst>
                <a:ext uri="{FF2B5EF4-FFF2-40B4-BE49-F238E27FC236}">
                  <a16:creationId xmlns:a16="http://schemas.microsoft.com/office/drawing/2014/main" id="{17FE35FF-8B7E-E9E7-8527-E09AB60643CC}"/>
                </a:ext>
              </a:extLst>
            </p:cNvPr>
            <p:cNvGrpSpPr/>
            <p:nvPr/>
          </p:nvGrpSpPr>
          <p:grpSpPr>
            <a:xfrm>
              <a:off x="892757" y="3168878"/>
              <a:ext cx="3731700" cy="1581970"/>
              <a:chOff x="892757" y="3168878"/>
              <a:chExt cx="3731700" cy="1581970"/>
            </a:xfrm>
          </p:grpSpPr>
          <p:sp>
            <p:nvSpPr>
              <p:cNvPr id="23" name="Google Shape;501;p10">
                <a:extLst>
                  <a:ext uri="{FF2B5EF4-FFF2-40B4-BE49-F238E27FC236}">
                    <a16:creationId xmlns:a16="http://schemas.microsoft.com/office/drawing/2014/main" id="{03503BC4-C7F7-58DD-2A9E-CB57CF9F3C02}"/>
                  </a:ext>
                </a:extLst>
              </p:cNvPr>
              <p:cNvSpPr txBox="1"/>
              <p:nvPr/>
            </p:nvSpPr>
            <p:spPr>
              <a:xfrm>
                <a:off x="1648349" y="3168878"/>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a:solidFill>
                      <a:schemeClr val="accent4"/>
                    </a:solidFill>
                    <a:latin typeface="Fira Sans Extra Condensed Medium"/>
                    <a:ea typeface="Fira Sans Extra Condensed Medium"/>
                    <a:cs typeface="Fira Sans Extra Condensed Medium"/>
                    <a:sym typeface="Fira Sans Extra Condensed Medium"/>
                  </a:rPr>
                  <a:t>Opportunities</a:t>
                </a:r>
                <a:endParaRPr sz="2267" b="1">
                  <a:solidFill>
                    <a:schemeClr val="accent4"/>
                  </a:solidFill>
                  <a:latin typeface="Fira Sans Extra Condensed Medium"/>
                  <a:ea typeface="Fira Sans Extra Condensed Medium"/>
                  <a:cs typeface="Fira Sans Extra Condensed Medium"/>
                  <a:sym typeface="Fira Sans Extra Condensed Medium"/>
                </a:endParaRPr>
              </a:p>
            </p:txBody>
          </p:sp>
          <p:sp>
            <p:nvSpPr>
              <p:cNvPr id="24" name="Google Shape;502;p10">
                <a:extLst>
                  <a:ext uri="{FF2B5EF4-FFF2-40B4-BE49-F238E27FC236}">
                    <a16:creationId xmlns:a16="http://schemas.microsoft.com/office/drawing/2014/main" id="{AC7A30F9-F59B-EFB5-7884-DDBA25372777}"/>
                  </a:ext>
                </a:extLst>
              </p:cNvPr>
              <p:cNvSpPr txBox="1"/>
              <p:nvPr/>
            </p:nvSpPr>
            <p:spPr>
              <a:xfrm>
                <a:off x="892757" y="3725148"/>
                <a:ext cx="3731700" cy="1025700"/>
              </a:xfrm>
              <a:prstGeom prst="rect">
                <a:avLst/>
              </a:prstGeom>
              <a:noFill/>
              <a:ln>
                <a:noFill/>
              </a:ln>
            </p:spPr>
            <p:txBody>
              <a:bodyPr spcFirstLastPara="1" wrap="square" lIns="121900" tIns="121900" rIns="121900" bIns="121900" anchor="ctr" anchorCtr="0">
                <a:noAutofit/>
              </a:bodyPr>
              <a:lstStyle/>
              <a:p>
                <a:pPr algn="just"/>
                <a:r>
                  <a:rPr lang="en-US" sz="1600">
                    <a:solidFill>
                      <a:srgbClr val="434343"/>
                    </a:solidFill>
                    <a:latin typeface="Roboto"/>
                    <a:ea typeface="Roboto"/>
                    <a:cs typeface="Roboto"/>
                    <a:sym typeface="Roboto"/>
                  </a:rPr>
                  <a:t>O1. Real Time Implementation</a:t>
                </a:r>
                <a:endParaRPr lang="en-US" sz="1600">
                  <a:solidFill>
                    <a:srgbClr val="434343"/>
                  </a:solidFill>
                  <a:latin typeface="Roboto"/>
                  <a:ea typeface="Roboto"/>
                  <a:cs typeface="Roboto"/>
                </a:endParaRPr>
              </a:p>
              <a:p>
                <a:pPr algn="just"/>
                <a:endParaRPr lang="en-US" sz="1600">
                  <a:solidFill>
                    <a:srgbClr val="434343"/>
                  </a:solidFill>
                  <a:latin typeface="Roboto"/>
                  <a:ea typeface="Roboto"/>
                  <a:cs typeface="Roboto"/>
                </a:endParaRPr>
              </a:p>
              <a:p>
                <a:pPr algn="just"/>
                <a:endParaRPr lang="en-US" sz="1600">
                  <a:solidFill>
                    <a:srgbClr val="434343"/>
                  </a:solidFill>
                  <a:latin typeface="Roboto"/>
                  <a:ea typeface="Roboto"/>
                  <a:cs typeface="Roboto"/>
                </a:endParaRPr>
              </a:p>
            </p:txBody>
          </p:sp>
        </p:grpSp>
      </p:grpSp>
      <p:grpSp>
        <p:nvGrpSpPr>
          <p:cNvPr id="25" name="Google Shape;503;p10">
            <a:extLst>
              <a:ext uri="{FF2B5EF4-FFF2-40B4-BE49-F238E27FC236}">
                <a16:creationId xmlns:a16="http://schemas.microsoft.com/office/drawing/2014/main" id="{4972E0CD-3D20-E3B7-45A5-FDFA71288317}"/>
              </a:ext>
            </a:extLst>
          </p:cNvPr>
          <p:cNvGrpSpPr/>
          <p:nvPr/>
        </p:nvGrpSpPr>
        <p:grpSpPr>
          <a:xfrm>
            <a:off x="4564098" y="1912734"/>
            <a:ext cx="3978569" cy="3824127"/>
            <a:chOff x="4685401" y="2674734"/>
            <a:chExt cx="3978569" cy="3824127"/>
          </a:xfrm>
        </p:grpSpPr>
        <p:grpSp>
          <p:nvGrpSpPr>
            <p:cNvPr id="26" name="Google Shape;504;p10">
              <a:extLst>
                <a:ext uri="{FF2B5EF4-FFF2-40B4-BE49-F238E27FC236}">
                  <a16:creationId xmlns:a16="http://schemas.microsoft.com/office/drawing/2014/main" id="{026A2EC5-65AC-8A88-3D39-466E52370192}"/>
                </a:ext>
              </a:extLst>
            </p:cNvPr>
            <p:cNvGrpSpPr/>
            <p:nvPr/>
          </p:nvGrpSpPr>
          <p:grpSpPr>
            <a:xfrm>
              <a:off x="4685401" y="2674734"/>
              <a:ext cx="3978569" cy="3824127"/>
              <a:chOff x="4075801" y="1760334"/>
              <a:chExt cx="3978569" cy="3824127"/>
            </a:xfrm>
          </p:grpSpPr>
          <p:sp>
            <p:nvSpPr>
              <p:cNvPr id="31" name="Google Shape;505;p10">
                <a:extLst>
                  <a:ext uri="{FF2B5EF4-FFF2-40B4-BE49-F238E27FC236}">
                    <a16:creationId xmlns:a16="http://schemas.microsoft.com/office/drawing/2014/main" id="{73B99A81-7B7C-C20D-0E1A-1AA8D8B99488}"/>
                  </a:ext>
                </a:extLst>
              </p:cNvPr>
              <p:cNvSpPr/>
              <p:nvPr/>
            </p:nvSpPr>
            <p:spPr>
              <a:xfrm>
                <a:off x="4075801" y="1760334"/>
                <a:ext cx="3978569" cy="3824127"/>
              </a:xfrm>
              <a:custGeom>
                <a:avLst/>
                <a:gdLst/>
                <a:ahLst/>
                <a:cxnLst/>
                <a:rect l="l" t="t" r="r" b="b"/>
                <a:pathLst>
                  <a:path w="172856" h="166146" extrusionOk="0">
                    <a:moveTo>
                      <a:pt x="86429" y="0"/>
                    </a:moveTo>
                    <a:cubicBezTo>
                      <a:pt x="77617" y="0"/>
                      <a:pt x="68807" y="3355"/>
                      <a:pt x="62104" y="10064"/>
                    </a:cubicBezTo>
                    <a:cubicBezTo>
                      <a:pt x="48673" y="23494"/>
                      <a:pt x="26837" y="45318"/>
                      <a:pt x="13419" y="58749"/>
                    </a:cubicBezTo>
                    <a:cubicBezTo>
                      <a:pt x="1" y="72167"/>
                      <a:pt x="1" y="93991"/>
                      <a:pt x="13419" y="107409"/>
                    </a:cubicBezTo>
                    <a:cubicBezTo>
                      <a:pt x="26837" y="120828"/>
                      <a:pt x="48673" y="142664"/>
                      <a:pt x="62092" y="156082"/>
                    </a:cubicBezTo>
                    <a:cubicBezTo>
                      <a:pt x="68801" y="162791"/>
                      <a:pt x="77614" y="166146"/>
                      <a:pt x="86428" y="166146"/>
                    </a:cubicBezTo>
                    <a:cubicBezTo>
                      <a:pt x="95242" y="166146"/>
                      <a:pt x="104055" y="162791"/>
                      <a:pt x="110764" y="156082"/>
                    </a:cubicBezTo>
                    <a:cubicBezTo>
                      <a:pt x="124183" y="142664"/>
                      <a:pt x="146019" y="120828"/>
                      <a:pt x="159437" y="107409"/>
                    </a:cubicBezTo>
                    <a:cubicBezTo>
                      <a:pt x="172855" y="93991"/>
                      <a:pt x="172855" y="72155"/>
                      <a:pt x="159437" y="58737"/>
                    </a:cubicBezTo>
                    <a:cubicBezTo>
                      <a:pt x="146019" y="45318"/>
                      <a:pt x="124183" y="23482"/>
                      <a:pt x="110764" y="10064"/>
                    </a:cubicBezTo>
                    <a:cubicBezTo>
                      <a:pt x="104055" y="3355"/>
                      <a:pt x="95242" y="0"/>
                      <a:pt x="86429"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32" name="Google Shape;506;p10">
                <a:extLst>
                  <a:ext uri="{FF2B5EF4-FFF2-40B4-BE49-F238E27FC236}">
                    <a16:creationId xmlns:a16="http://schemas.microsoft.com/office/drawing/2014/main" id="{31E54862-E10E-F1D1-D2F7-D73D1EAD9A00}"/>
                  </a:ext>
                </a:extLst>
              </p:cNvPr>
              <p:cNvGrpSpPr/>
              <p:nvPr/>
            </p:nvGrpSpPr>
            <p:grpSpPr>
              <a:xfrm>
                <a:off x="4273832" y="1959046"/>
                <a:ext cx="3582661" cy="3426984"/>
                <a:chOff x="3205454" y="1469321"/>
                <a:chExt cx="2687063" cy="2570302"/>
              </a:xfrm>
            </p:grpSpPr>
            <p:sp>
              <p:nvSpPr>
                <p:cNvPr id="82" name="Google Shape;507;p10">
                  <a:extLst>
                    <a:ext uri="{FF2B5EF4-FFF2-40B4-BE49-F238E27FC236}">
                      <a16:creationId xmlns:a16="http://schemas.microsoft.com/office/drawing/2014/main" id="{BEC790A4-3ADE-CC0A-E162-5C3BAAD843D1}"/>
                    </a:ext>
                  </a:extLst>
                </p:cNvPr>
                <p:cNvSpPr/>
                <p:nvPr/>
              </p:nvSpPr>
              <p:spPr>
                <a:xfrm>
                  <a:off x="3205454" y="1964889"/>
                  <a:ext cx="683612" cy="1582609"/>
                </a:xfrm>
                <a:custGeom>
                  <a:avLst/>
                  <a:gdLst/>
                  <a:ahLst/>
                  <a:cxnLst/>
                  <a:rect l="l" t="t" r="r" b="b"/>
                  <a:pathLst>
                    <a:path w="39601" h="91679" extrusionOk="0">
                      <a:moveTo>
                        <a:pt x="34719" y="0"/>
                      </a:moveTo>
                      <a:lnTo>
                        <a:pt x="13538" y="21193"/>
                      </a:lnTo>
                      <a:cubicBezTo>
                        <a:pt x="1" y="34731"/>
                        <a:pt x="1" y="56745"/>
                        <a:pt x="13538" y="70283"/>
                      </a:cubicBezTo>
                      <a:lnTo>
                        <a:pt x="34922" y="91678"/>
                      </a:lnTo>
                      <a:lnTo>
                        <a:pt x="39601" y="86999"/>
                      </a:lnTo>
                      <a:cubicBezTo>
                        <a:pt x="31909" y="79307"/>
                        <a:pt x="24075" y="71473"/>
                        <a:pt x="18205" y="65603"/>
                      </a:cubicBezTo>
                      <a:cubicBezTo>
                        <a:pt x="7252" y="54650"/>
                        <a:pt x="7252" y="36826"/>
                        <a:pt x="18205" y="25872"/>
                      </a:cubicBezTo>
                      <a:lnTo>
                        <a:pt x="39399" y="4679"/>
                      </a:lnTo>
                      <a:lnTo>
                        <a:pt x="34719" y="0"/>
                      </a:lnTo>
                      <a:close/>
                    </a:path>
                  </a:pathLst>
                </a:custGeom>
                <a:solidFill>
                  <a:srgbClr val="2020BA"/>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3" name="Google Shape;508;p10">
                  <a:extLst>
                    <a:ext uri="{FF2B5EF4-FFF2-40B4-BE49-F238E27FC236}">
                      <a16:creationId xmlns:a16="http://schemas.microsoft.com/office/drawing/2014/main" id="{8B5D94CB-EF68-7A6E-554A-F2A35E8DD195}"/>
                    </a:ext>
                  </a:extLst>
                </p:cNvPr>
                <p:cNvSpPr/>
                <p:nvPr/>
              </p:nvSpPr>
              <p:spPr>
                <a:xfrm>
                  <a:off x="3804826" y="1469321"/>
                  <a:ext cx="1537191" cy="625230"/>
                </a:xfrm>
                <a:custGeom>
                  <a:avLst/>
                  <a:gdLst/>
                  <a:ahLst/>
                  <a:cxnLst/>
                  <a:rect l="l" t="t" r="r" b="b"/>
                  <a:pathLst>
                    <a:path w="89048" h="36219" extrusionOk="0">
                      <a:moveTo>
                        <a:pt x="43101" y="0"/>
                      </a:moveTo>
                      <a:cubicBezTo>
                        <a:pt x="33826" y="0"/>
                        <a:pt x="25111" y="3608"/>
                        <a:pt x="18562" y="10156"/>
                      </a:cubicBezTo>
                      <a:lnTo>
                        <a:pt x="0" y="28706"/>
                      </a:lnTo>
                      <a:lnTo>
                        <a:pt x="4680" y="33385"/>
                      </a:lnTo>
                      <a:cubicBezTo>
                        <a:pt x="11430" y="26634"/>
                        <a:pt x="18086" y="19979"/>
                        <a:pt x="23229" y="14823"/>
                      </a:cubicBezTo>
                      <a:cubicBezTo>
                        <a:pt x="28712" y="9347"/>
                        <a:pt x="35910" y="6608"/>
                        <a:pt x="43105" y="6608"/>
                      </a:cubicBezTo>
                      <a:cubicBezTo>
                        <a:pt x="50301" y="6608"/>
                        <a:pt x="57496" y="9347"/>
                        <a:pt x="62973" y="14823"/>
                      </a:cubicBezTo>
                      <a:lnTo>
                        <a:pt x="84368" y="36219"/>
                      </a:lnTo>
                      <a:lnTo>
                        <a:pt x="89047" y="31540"/>
                      </a:lnTo>
                      <a:lnTo>
                        <a:pt x="67652" y="10156"/>
                      </a:lnTo>
                      <a:cubicBezTo>
                        <a:pt x="61103" y="3608"/>
                        <a:pt x="52388" y="0"/>
                        <a:pt x="43101" y="0"/>
                      </a:cubicBezTo>
                      <a:close/>
                    </a:path>
                  </a:pathLst>
                </a:custGeom>
                <a:solidFill>
                  <a:srgbClr val="C6282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4" name="Google Shape;509;p10">
                  <a:extLst>
                    <a:ext uri="{FF2B5EF4-FFF2-40B4-BE49-F238E27FC236}">
                      <a16:creationId xmlns:a16="http://schemas.microsoft.com/office/drawing/2014/main" id="{2C878170-B72E-B26D-212C-B2B28A9BF03D}"/>
                    </a:ext>
                  </a:extLst>
                </p:cNvPr>
                <p:cNvSpPr/>
                <p:nvPr/>
              </p:nvSpPr>
              <p:spPr>
                <a:xfrm>
                  <a:off x="5257602" y="2013797"/>
                  <a:ext cx="634915" cy="1484575"/>
                </a:xfrm>
                <a:custGeom>
                  <a:avLst/>
                  <a:gdLst/>
                  <a:ahLst/>
                  <a:cxnLst/>
                  <a:rect l="l" t="t" r="r" b="b"/>
                  <a:pathLst>
                    <a:path w="36780" h="86000" extrusionOk="0">
                      <a:moveTo>
                        <a:pt x="4894" y="1"/>
                      </a:moveTo>
                      <a:lnTo>
                        <a:pt x="215" y="4680"/>
                      </a:lnTo>
                      <a:lnTo>
                        <a:pt x="18563" y="23027"/>
                      </a:lnTo>
                      <a:cubicBezTo>
                        <a:pt x="29516" y="33981"/>
                        <a:pt x="29516" y="51817"/>
                        <a:pt x="18563" y="62770"/>
                      </a:cubicBezTo>
                      <a:cubicBezTo>
                        <a:pt x="13419" y="67914"/>
                        <a:pt x="6752" y="74569"/>
                        <a:pt x="1" y="81320"/>
                      </a:cubicBezTo>
                      <a:lnTo>
                        <a:pt x="4680" y="85999"/>
                      </a:lnTo>
                      <a:lnTo>
                        <a:pt x="23242" y="67450"/>
                      </a:lnTo>
                      <a:cubicBezTo>
                        <a:pt x="36779" y="53912"/>
                        <a:pt x="36779" y="31886"/>
                        <a:pt x="23242" y="18348"/>
                      </a:cubicBezTo>
                      <a:lnTo>
                        <a:pt x="4894" y="1"/>
                      </a:lnTo>
                      <a:close/>
                    </a:path>
                  </a:pathLst>
                </a:custGeom>
                <a:solidFill>
                  <a:srgbClr val="4685B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5" name="Google Shape;510;p10">
                  <a:extLst>
                    <a:ext uri="{FF2B5EF4-FFF2-40B4-BE49-F238E27FC236}">
                      <a16:creationId xmlns:a16="http://schemas.microsoft.com/office/drawing/2014/main" id="{B62E25CC-96F0-262F-2911-786EE2A87D57}"/>
                    </a:ext>
                  </a:extLst>
                </p:cNvPr>
                <p:cNvSpPr/>
                <p:nvPr/>
              </p:nvSpPr>
              <p:spPr>
                <a:xfrm>
                  <a:off x="3808313" y="3417672"/>
                  <a:ext cx="1529993" cy="621951"/>
                </a:xfrm>
                <a:custGeom>
                  <a:avLst/>
                  <a:gdLst/>
                  <a:ahLst/>
                  <a:cxnLst/>
                  <a:rect l="l" t="t" r="r" b="b"/>
                  <a:pathLst>
                    <a:path w="88631" h="36029" extrusionOk="0">
                      <a:moveTo>
                        <a:pt x="83952" y="0"/>
                      </a:moveTo>
                      <a:cubicBezTo>
                        <a:pt x="76332" y="7632"/>
                        <a:pt x="68581" y="15383"/>
                        <a:pt x="62771" y="21193"/>
                      </a:cubicBezTo>
                      <a:cubicBezTo>
                        <a:pt x="57294" y="26670"/>
                        <a:pt x="50096" y="29409"/>
                        <a:pt x="42899" y="29409"/>
                      </a:cubicBezTo>
                      <a:cubicBezTo>
                        <a:pt x="35702" y="29409"/>
                        <a:pt x="28504" y="26670"/>
                        <a:pt x="23027" y="21193"/>
                      </a:cubicBezTo>
                      <a:cubicBezTo>
                        <a:pt x="17943" y="16098"/>
                        <a:pt x="11359" y="9525"/>
                        <a:pt x="4680" y="2846"/>
                      </a:cubicBezTo>
                      <a:lnTo>
                        <a:pt x="1" y="7525"/>
                      </a:lnTo>
                      <a:lnTo>
                        <a:pt x="18348" y="25873"/>
                      </a:lnTo>
                      <a:cubicBezTo>
                        <a:pt x="24897" y="32421"/>
                        <a:pt x="33612" y="36029"/>
                        <a:pt x="42899" y="36029"/>
                      </a:cubicBezTo>
                      <a:cubicBezTo>
                        <a:pt x="52186" y="36029"/>
                        <a:pt x="60901" y="32421"/>
                        <a:pt x="67450" y="25873"/>
                      </a:cubicBezTo>
                      <a:lnTo>
                        <a:pt x="88631" y="4679"/>
                      </a:lnTo>
                      <a:lnTo>
                        <a:pt x="83952" y="0"/>
                      </a:lnTo>
                      <a:close/>
                    </a:path>
                  </a:pathLst>
                </a:custGeom>
                <a:solidFill>
                  <a:srgbClr val="E0921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3" name="Google Shape;511;p10">
                <a:extLst>
                  <a:ext uri="{FF2B5EF4-FFF2-40B4-BE49-F238E27FC236}">
                    <a16:creationId xmlns:a16="http://schemas.microsoft.com/office/drawing/2014/main" id="{17A3F4B7-E997-5B46-9ADA-B5DAFFDF8139}"/>
                  </a:ext>
                </a:extLst>
              </p:cNvPr>
              <p:cNvGrpSpPr/>
              <p:nvPr/>
            </p:nvGrpSpPr>
            <p:grpSpPr>
              <a:xfrm>
                <a:off x="4810835" y="3672494"/>
                <a:ext cx="1254293" cy="1254316"/>
                <a:chOff x="3608126" y="2754370"/>
                <a:chExt cx="940720" cy="940737"/>
              </a:xfrm>
            </p:grpSpPr>
            <p:sp>
              <p:nvSpPr>
                <p:cNvPr id="80" name="Google Shape;512;p10">
                  <a:extLst>
                    <a:ext uri="{FF2B5EF4-FFF2-40B4-BE49-F238E27FC236}">
                      <a16:creationId xmlns:a16="http://schemas.microsoft.com/office/drawing/2014/main" id="{23F642BA-E685-EB4C-377E-63AD1D02A545}"/>
                    </a:ext>
                  </a:extLst>
                </p:cNvPr>
                <p:cNvSpPr/>
                <p:nvPr/>
              </p:nvSpPr>
              <p:spPr>
                <a:xfrm>
                  <a:off x="3608126" y="2754370"/>
                  <a:ext cx="940720" cy="940737"/>
                </a:xfrm>
                <a:custGeom>
                  <a:avLst/>
                  <a:gdLst/>
                  <a:ahLst/>
                  <a:cxnLst/>
                  <a:rect l="l" t="t" r="r" b="b"/>
                  <a:pathLst>
                    <a:path w="54495" h="54496" extrusionOk="0">
                      <a:moveTo>
                        <a:pt x="27242" y="1"/>
                      </a:moveTo>
                      <a:cubicBezTo>
                        <a:pt x="12216" y="1"/>
                        <a:pt x="0" y="12229"/>
                        <a:pt x="0" y="27254"/>
                      </a:cubicBezTo>
                      <a:cubicBezTo>
                        <a:pt x="0" y="42280"/>
                        <a:pt x="12216" y="54496"/>
                        <a:pt x="27242" y="54496"/>
                      </a:cubicBezTo>
                      <a:cubicBezTo>
                        <a:pt x="42267" y="54496"/>
                        <a:pt x="54495" y="42280"/>
                        <a:pt x="54495" y="27254"/>
                      </a:cubicBezTo>
                      <a:lnTo>
                        <a:pt x="54495"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1" name="Google Shape;513;p10">
                  <a:extLst>
                    <a:ext uri="{FF2B5EF4-FFF2-40B4-BE49-F238E27FC236}">
                      <a16:creationId xmlns:a16="http://schemas.microsoft.com/office/drawing/2014/main" id="{8229A34C-B825-FE55-DA8D-ED4BB8E07CAA}"/>
                    </a:ext>
                  </a:extLst>
                </p:cNvPr>
                <p:cNvSpPr/>
                <p:nvPr/>
              </p:nvSpPr>
              <p:spPr>
                <a:xfrm>
                  <a:off x="3775219" y="2921482"/>
                  <a:ext cx="606552" cy="606535"/>
                </a:xfrm>
                <a:custGeom>
                  <a:avLst/>
                  <a:gdLst/>
                  <a:ahLst/>
                  <a:cxnLst/>
                  <a:rect l="l" t="t" r="r" b="b"/>
                  <a:pathLst>
                    <a:path w="35137" h="35136" extrusionOk="0">
                      <a:moveTo>
                        <a:pt x="17563" y="1"/>
                      </a:moveTo>
                      <a:cubicBezTo>
                        <a:pt x="7883" y="1"/>
                        <a:pt x="1" y="7883"/>
                        <a:pt x="1" y="17574"/>
                      </a:cubicBezTo>
                      <a:cubicBezTo>
                        <a:pt x="1" y="27254"/>
                        <a:pt x="7883" y="35136"/>
                        <a:pt x="17563" y="35136"/>
                      </a:cubicBezTo>
                      <a:cubicBezTo>
                        <a:pt x="27254" y="35136"/>
                        <a:pt x="35136" y="27254"/>
                        <a:pt x="35136" y="17574"/>
                      </a:cubicBezTo>
                      <a:lnTo>
                        <a:pt x="35136"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sp>
            <p:nvSpPr>
              <p:cNvPr id="34" name="Google Shape;514;p10">
                <a:extLst>
                  <a:ext uri="{FF2B5EF4-FFF2-40B4-BE49-F238E27FC236}">
                    <a16:creationId xmlns:a16="http://schemas.microsoft.com/office/drawing/2014/main" id="{E93C84C9-B2E5-0244-B60D-F89263B3C129}"/>
                  </a:ext>
                </a:extLst>
              </p:cNvPr>
              <p:cNvSpPr/>
              <p:nvPr/>
            </p:nvSpPr>
            <p:spPr>
              <a:xfrm>
                <a:off x="5174497" y="4091885"/>
                <a:ext cx="489196" cy="412113"/>
              </a:xfrm>
              <a:custGeom>
                <a:avLst/>
                <a:gdLst/>
                <a:ahLst/>
                <a:cxnLst/>
                <a:rect l="l" t="t" r="r" b="b"/>
                <a:pathLst>
                  <a:path w="21254" h="17905" extrusionOk="0">
                    <a:moveTo>
                      <a:pt x="12276" y="4022"/>
                    </a:moveTo>
                    <a:lnTo>
                      <a:pt x="11824" y="11761"/>
                    </a:lnTo>
                    <a:lnTo>
                      <a:pt x="9430" y="11761"/>
                    </a:lnTo>
                    <a:lnTo>
                      <a:pt x="8966" y="4022"/>
                    </a:lnTo>
                    <a:close/>
                    <a:moveTo>
                      <a:pt x="11824" y="13249"/>
                    </a:moveTo>
                    <a:lnTo>
                      <a:pt x="11824" y="15476"/>
                    </a:lnTo>
                    <a:lnTo>
                      <a:pt x="9430" y="15476"/>
                    </a:lnTo>
                    <a:lnTo>
                      <a:pt x="9430" y="13249"/>
                    </a:lnTo>
                    <a:close/>
                    <a:moveTo>
                      <a:pt x="10627" y="0"/>
                    </a:moveTo>
                    <a:cubicBezTo>
                      <a:pt x="9633" y="0"/>
                      <a:pt x="8639" y="492"/>
                      <a:pt x="8073" y="1474"/>
                    </a:cubicBezTo>
                    <a:lnTo>
                      <a:pt x="1144" y="13487"/>
                    </a:lnTo>
                    <a:cubicBezTo>
                      <a:pt x="1" y="15452"/>
                      <a:pt x="1418" y="17904"/>
                      <a:pt x="3692" y="17904"/>
                    </a:cubicBezTo>
                    <a:lnTo>
                      <a:pt x="17562" y="17904"/>
                    </a:lnTo>
                    <a:cubicBezTo>
                      <a:pt x="19836" y="17904"/>
                      <a:pt x="21253" y="15452"/>
                      <a:pt x="20110" y="13487"/>
                    </a:cubicBezTo>
                    <a:lnTo>
                      <a:pt x="17896" y="9630"/>
                    </a:lnTo>
                    <a:lnTo>
                      <a:pt x="13181" y="1474"/>
                    </a:lnTo>
                    <a:cubicBezTo>
                      <a:pt x="12615" y="492"/>
                      <a:pt x="11621" y="0"/>
                      <a:pt x="10627" y="0"/>
                    </a:cubicBez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35" name="Google Shape;515;p10">
                <a:extLst>
                  <a:ext uri="{FF2B5EF4-FFF2-40B4-BE49-F238E27FC236}">
                    <a16:creationId xmlns:a16="http://schemas.microsoft.com/office/drawing/2014/main" id="{AEDE9906-9079-400F-3410-74864268F26E}"/>
                  </a:ext>
                </a:extLst>
              </p:cNvPr>
              <p:cNvGrpSpPr/>
              <p:nvPr/>
            </p:nvGrpSpPr>
            <p:grpSpPr>
              <a:xfrm>
                <a:off x="4810835" y="2418146"/>
                <a:ext cx="1254293" cy="1254293"/>
                <a:chOff x="3608126" y="1813609"/>
                <a:chExt cx="940720" cy="940720"/>
              </a:xfrm>
            </p:grpSpPr>
            <p:sp>
              <p:nvSpPr>
                <p:cNvPr id="78" name="Google Shape;516;p10">
                  <a:extLst>
                    <a:ext uri="{FF2B5EF4-FFF2-40B4-BE49-F238E27FC236}">
                      <a16:creationId xmlns:a16="http://schemas.microsoft.com/office/drawing/2014/main" id="{9CB45FF1-FF7C-4C65-8271-865B62500B5C}"/>
                    </a:ext>
                  </a:extLst>
                </p:cNvPr>
                <p:cNvSpPr/>
                <p:nvPr/>
              </p:nvSpPr>
              <p:spPr>
                <a:xfrm>
                  <a:off x="3608126" y="1813609"/>
                  <a:ext cx="940720" cy="940720"/>
                </a:xfrm>
                <a:custGeom>
                  <a:avLst/>
                  <a:gdLst/>
                  <a:ahLst/>
                  <a:cxnLst/>
                  <a:rect l="l" t="t" r="r" b="b"/>
                  <a:pathLst>
                    <a:path w="54495" h="54495" extrusionOk="0">
                      <a:moveTo>
                        <a:pt x="27242" y="0"/>
                      </a:moveTo>
                      <a:cubicBezTo>
                        <a:pt x="12216" y="0"/>
                        <a:pt x="0" y="12228"/>
                        <a:pt x="0" y="27253"/>
                      </a:cubicBezTo>
                      <a:cubicBezTo>
                        <a:pt x="0" y="42279"/>
                        <a:pt x="12216" y="54495"/>
                        <a:pt x="27242" y="54495"/>
                      </a:cubicBezTo>
                      <a:lnTo>
                        <a:pt x="54495" y="54495"/>
                      </a:lnTo>
                      <a:lnTo>
                        <a:pt x="54495" y="27253"/>
                      </a:lnTo>
                      <a:cubicBezTo>
                        <a:pt x="54495" y="12228"/>
                        <a:pt x="42267" y="0"/>
                        <a:pt x="27242" y="0"/>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9" name="Google Shape;517;p10">
                  <a:extLst>
                    <a:ext uri="{FF2B5EF4-FFF2-40B4-BE49-F238E27FC236}">
                      <a16:creationId xmlns:a16="http://schemas.microsoft.com/office/drawing/2014/main" id="{FDCE14C5-C9FA-E25E-97D5-D0B17FD5BA2C}"/>
                    </a:ext>
                  </a:extLst>
                </p:cNvPr>
                <p:cNvSpPr/>
                <p:nvPr/>
              </p:nvSpPr>
              <p:spPr>
                <a:xfrm>
                  <a:off x="3775219" y="1980703"/>
                  <a:ext cx="606552" cy="606552"/>
                </a:xfrm>
                <a:custGeom>
                  <a:avLst/>
                  <a:gdLst/>
                  <a:ahLst/>
                  <a:cxnLst/>
                  <a:rect l="l" t="t" r="r" b="b"/>
                  <a:pathLst>
                    <a:path w="35137" h="35137" extrusionOk="0">
                      <a:moveTo>
                        <a:pt x="17563" y="1"/>
                      </a:moveTo>
                      <a:cubicBezTo>
                        <a:pt x="7883" y="1"/>
                        <a:pt x="1" y="7883"/>
                        <a:pt x="1" y="17574"/>
                      </a:cubicBezTo>
                      <a:cubicBezTo>
                        <a:pt x="1" y="27254"/>
                        <a:pt x="7883" y="35136"/>
                        <a:pt x="17563" y="35136"/>
                      </a:cubicBezTo>
                      <a:lnTo>
                        <a:pt x="35136" y="35136"/>
                      </a:lnTo>
                      <a:lnTo>
                        <a:pt x="35136" y="17574"/>
                      </a:lnTo>
                      <a:cubicBezTo>
                        <a:pt x="35136" y="7883"/>
                        <a:pt x="27254" y="1"/>
                        <a:pt x="1756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6" name="Google Shape;518;p10">
                <a:extLst>
                  <a:ext uri="{FF2B5EF4-FFF2-40B4-BE49-F238E27FC236}">
                    <a16:creationId xmlns:a16="http://schemas.microsoft.com/office/drawing/2014/main" id="{A1F41112-4174-D668-33E0-3D54375E72C9}"/>
                  </a:ext>
                </a:extLst>
              </p:cNvPr>
              <p:cNvGrpSpPr/>
              <p:nvPr/>
            </p:nvGrpSpPr>
            <p:grpSpPr>
              <a:xfrm>
                <a:off x="6065178" y="2418146"/>
                <a:ext cx="1254316" cy="1254293"/>
                <a:chOff x="4548883" y="1813609"/>
                <a:chExt cx="940737" cy="940720"/>
              </a:xfrm>
            </p:grpSpPr>
            <p:sp>
              <p:nvSpPr>
                <p:cNvPr id="76" name="Google Shape;519;p10">
                  <a:extLst>
                    <a:ext uri="{FF2B5EF4-FFF2-40B4-BE49-F238E27FC236}">
                      <a16:creationId xmlns:a16="http://schemas.microsoft.com/office/drawing/2014/main" id="{546705E9-9872-A012-BB6D-79BEC1B07440}"/>
                    </a:ext>
                  </a:extLst>
                </p:cNvPr>
                <p:cNvSpPr/>
                <p:nvPr/>
              </p:nvSpPr>
              <p:spPr>
                <a:xfrm>
                  <a:off x="4548883" y="1813609"/>
                  <a:ext cx="940737" cy="940720"/>
                </a:xfrm>
                <a:custGeom>
                  <a:avLst/>
                  <a:gdLst/>
                  <a:ahLst/>
                  <a:cxnLst/>
                  <a:rect l="l" t="t" r="r" b="b"/>
                  <a:pathLst>
                    <a:path w="54496" h="54495" extrusionOk="0">
                      <a:moveTo>
                        <a:pt x="27254" y="0"/>
                      </a:moveTo>
                      <a:cubicBezTo>
                        <a:pt x="12229" y="0"/>
                        <a:pt x="1" y="12228"/>
                        <a:pt x="1" y="27253"/>
                      </a:cubicBezTo>
                      <a:lnTo>
                        <a:pt x="1" y="54495"/>
                      </a:lnTo>
                      <a:lnTo>
                        <a:pt x="27254" y="54495"/>
                      </a:lnTo>
                      <a:cubicBezTo>
                        <a:pt x="42280" y="54495"/>
                        <a:pt x="54496" y="42279"/>
                        <a:pt x="54496" y="27253"/>
                      </a:cubicBezTo>
                      <a:cubicBezTo>
                        <a:pt x="54496" y="12228"/>
                        <a:pt x="42280" y="0"/>
                        <a:pt x="27254" y="0"/>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7" name="Google Shape;520;p10">
                  <a:extLst>
                    <a:ext uri="{FF2B5EF4-FFF2-40B4-BE49-F238E27FC236}">
                      <a16:creationId xmlns:a16="http://schemas.microsoft.com/office/drawing/2014/main" id="{9F669839-7012-B07E-1F13-6999C217C554}"/>
                    </a:ext>
                  </a:extLst>
                </p:cNvPr>
                <p:cNvSpPr/>
                <p:nvPr/>
              </p:nvSpPr>
              <p:spPr>
                <a:xfrm>
                  <a:off x="4715994" y="1980703"/>
                  <a:ext cx="606552" cy="606552"/>
                </a:xfrm>
                <a:custGeom>
                  <a:avLst/>
                  <a:gdLst/>
                  <a:ahLst/>
                  <a:cxnLst/>
                  <a:rect l="l" t="t" r="r" b="b"/>
                  <a:pathLst>
                    <a:path w="35137" h="35137" extrusionOk="0">
                      <a:moveTo>
                        <a:pt x="17574" y="1"/>
                      </a:moveTo>
                      <a:cubicBezTo>
                        <a:pt x="7883" y="1"/>
                        <a:pt x="1" y="7883"/>
                        <a:pt x="1" y="17574"/>
                      </a:cubicBezTo>
                      <a:lnTo>
                        <a:pt x="1" y="35136"/>
                      </a:lnTo>
                      <a:lnTo>
                        <a:pt x="17574" y="35136"/>
                      </a:ln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7" name="Google Shape;521;p10">
                <a:extLst>
                  <a:ext uri="{FF2B5EF4-FFF2-40B4-BE49-F238E27FC236}">
                    <a16:creationId xmlns:a16="http://schemas.microsoft.com/office/drawing/2014/main" id="{71C768E3-E526-3388-286C-4F28AE351250}"/>
                  </a:ext>
                </a:extLst>
              </p:cNvPr>
              <p:cNvGrpSpPr/>
              <p:nvPr/>
            </p:nvGrpSpPr>
            <p:grpSpPr>
              <a:xfrm>
                <a:off x="6514651" y="2887324"/>
                <a:ext cx="401739" cy="405369"/>
                <a:chOff x="4885988" y="2165492"/>
                <a:chExt cx="301304" cy="304027"/>
              </a:xfrm>
            </p:grpSpPr>
            <p:sp>
              <p:nvSpPr>
                <p:cNvPr id="74" name="Google Shape;522;p10">
                  <a:extLst>
                    <a:ext uri="{FF2B5EF4-FFF2-40B4-BE49-F238E27FC236}">
                      <a16:creationId xmlns:a16="http://schemas.microsoft.com/office/drawing/2014/main" id="{E4C48DC3-98AF-BF51-FD75-55D257A1EA7B}"/>
                    </a:ext>
                  </a:extLst>
                </p:cNvPr>
                <p:cNvSpPr/>
                <p:nvPr/>
              </p:nvSpPr>
              <p:spPr>
                <a:xfrm>
                  <a:off x="4962655" y="2165492"/>
                  <a:ext cx="224637" cy="304027"/>
                </a:xfrm>
                <a:custGeom>
                  <a:avLst/>
                  <a:gdLst/>
                  <a:ahLst/>
                  <a:cxnLst/>
                  <a:rect l="l" t="t" r="r" b="b"/>
                  <a:pathLst>
                    <a:path w="13013" h="17612" extrusionOk="0">
                      <a:moveTo>
                        <a:pt x="9953" y="1"/>
                      </a:moveTo>
                      <a:cubicBezTo>
                        <a:pt x="9945" y="1"/>
                        <a:pt x="9938" y="1"/>
                        <a:pt x="9930" y="1"/>
                      </a:cubicBezTo>
                      <a:lnTo>
                        <a:pt x="5989" y="24"/>
                      </a:lnTo>
                      <a:cubicBezTo>
                        <a:pt x="5989" y="24"/>
                        <a:pt x="4310" y="203"/>
                        <a:pt x="2953" y="1060"/>
                      </a:cubicBezTo>
                      <a:cubicBezTo>
                        <a:pt x="2120" y="1584"/>
                        <a:pt x="1131" y="1846"/>
                        <a:pt x="143" y="1846"/>
                      </a:cubicBezTo>
                      <a:lnTo>
                        <a:pt x="0" y="1846"/>
                      </a:lnTo>
                      <a:lnTo>
                        <a:pt x="0" y="9109"/>
                      </a:lnTo>
                      <a:cubicBezTo>
                        <a:pt x="548" y="9168"/>
                        <a:pt x="1060" y="9407"/>
                        <a:pt x="1453" y="9823"/>
                      </a:cubicBezTo>
                      <a:cubicBezTo>
                        <a:pt x="1953" y="10347"/>
                        <a:pt x="2620" y="11026"/>
                        <a:pt x="3108" y="11454"/>
                      </a:cubicBezTo>
                      <a:cubicBezTo>
                        <a:pt x="4001" y="12252"/>
                        <a:pt x="3989" y="15455"/>
                        <a:pt x="3870" y="16729"/>
                      </a:cubicBezTo>
                      <a:cubicBezTo>
                        <a:pt x="3814" y="17272"/>
                        <a:pt x="4264" y="17611"/>
                        <a:pt x="4858" y="17611"/>
                      </a:cubicBezTo>
                      <a:cubicBezTo>
                        <a:pt x="5658" y="17611"/>
                        <a:pt x="6719" y="16996"/>
                        <a:pt x="7156" y="15431"/>
                      </a:cubicBezTo>
                      <a:cubicBezTo>
                        <a:pt x="7918" y="12705"/>
                        <a:pt x="6477" y="11216"/>
                        <a:pt x="7704" y="10954"/>
                      </a:cubicBezTo>
                      <a:cubicBezTo>
                        <a:pt x="8143" y="10854"/>
                        <a:pt x="8294" y="10830"/>
                        <a:pt x="9031" y="10830"/>
                      </a:cubicBezTo>
                      <a:cubicBezTo>
                        <a:pt x="9254" y="10830"/>
                        <a:pt x="9529" y="10833"/>
                        <a:pt x="9882" y="10835"/>
                      </a:cubicBezTo>
                      <a:cubicBezTo>
                        <a:pt x="9889" y="10835"/>
                        <a:pt x="9895" y="10835"/>
                        <a:pt x="9901" y="10835"/>
                      </a:cubicBezTo>
                      <a:cubicBezTo>
                        <a:pt x="11654" y="10835"/>
                        <a:pt x="13013" y="9197"/>
                        <a:pt x="12776" y="7347"/>
                      </a:cubicBezTo>
                      <a:lnTo>
                        <a:pt x="12823" y="2691"/>
                      </a:lnTo>
                      <a:cubicBezTo>
                        <a:pt x="12634" y="1152"/>
                        <a:pt x="11407" y="1"/>
                        <a:pt x="9953"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5" name="Google Shape;523;p10">
                  <a:extLst>
                    <a:ext uri="{FF2B5EF4-FFF2-40B4-BE49-F238E27FC236}">
                      <a16:creationId xmlns:a16="http://schemas.microsoft.com/office/drawing/2014/main" id="{263CEA43-8760-EC17-F148-8812B35E26BD}"/>
                    </a:ext>
                  </a:extLst>
                </p:cNvPr>
                <p:cNvSpPr/>
                <p:nvPr/>
              </p:nvSpPr>
              <p:spPr>
                <a:xfrm>
                  <a:off x="4885988" y="2193856"/>
                  <a:ext cx="53048" cy="137116"/>
                </a:xfrm>
                <a:custGeom>
                  <a:avLst/>
                  <a:gdLst/>
                  <a:ahLst/>
                  <a:cxnLst/>
                  <a:rect l="l" t="t" r="r" b="b"/>
                  <a:pathLst>
                    <a:path w="3073" h="7943" extrusionOk="0">
                      <a:moveTo>
                        <a:pt x="60" y="1"/>
                      </a:moveTo>
                      <a:lnTo>
                        <a:pt x="0" y="7906"/>
                      </a:lnTo>
                      <a:lnTo>
                        <a:pt x="3013" y="7942"/>
                      </a:lnTo>
                      <a:lnTo>
                        <a:pt x="3072" y="36"/>
                      </a:lnTo>
                      <a:lnTo>
                        <a:pt x="60"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8" name="Google Shape;524;p10">
                <a:extLst>
                  <a:ext uri="{FF2B5EF4-FFF2-40B4-BE49-F238E27FC236}">
                    <a16:creationId xmlns:a16="http://schemas.microsoft.com/office/drawing/2014/main" id="{8375B08C-F136-2EE2-E675-4AFBAC128A45}"/>
                  </a:ext>
                </a:extLst>
              </p:cNvPr>
              <p:cNvGrpSpPr/>
              <p:nvPr/>
            </p:nvGrpSpPr>
            <p:grpSpPr>
              <a:xfrm>
                <a:off x="6065178" y="3672494"/>
                <a:ext cx="1254316" cy="1254316"/>
                <a:chOff x="4548883" y="2754370"/>
                <a:chExt cx="940737" cy="940737"/>
              </a:xfrm>
            </p:grpSpPr>
            <p:sp>
              <p:nvSpPr>
                <p:cNvPr id="72" name="Google Shape;525;p10">
                  <a:extLst>
                    <a:ext uri="{FF2B5EF4-FFF2-40B4-BE49-F238E27FC236}">
                      <a16:creationId xmlns:a16="http://schemas.microsoft.com/office/drawing/2014/main" id="{FF5FA9F7-F8F8-A9A9-6A3F-433CBF3E25C6}"/>
                    </a:ext>
                  </a:extLst>
                </p:cNvPr>
                <p:cNvSpPr/>
                <p:nvPr/>
              </p:nvSpPr>
              <p:spPr>
                <a:xfrm>
                  <a:off x="4548883" y="2754370"/>
                  <a:ext cx="940737" cy="940737"/>
                </a:xfrm>
                <a:custGeom>
                  <a:avLst/>
                  <a:gdLst/>
                  <a:ahLst/>
                  <a:cxnLst/>
                  <a:rect l="l" t="t" r="r" b="b"/>
                  <a:pathLst>
                    <a:path w="54496" h="54496" extrusionOk="0">
                      <a:moveTo>
                        <a:pt x="1" y="1"/>
                      </a:moveTo>
                      <a:lnTo>
                        <a:pt x="1" y="27254"/>
                      </a:lnTo>
                      <a:cubicBezTo>
                        <a:pt x="1" y="42280"/>
                        <a:pt x="12229" y="54496"/>
                        <a:pt x="27254" y="54496"/>
                      </a:cubicBezTo>
                      <a:cubicBezTo>
                        <a:pt x="42280" y="54496"/>
                        <a:pt x="54496" y="42280"/>
                        <a:pt x="54496" y="27254"/>
                      </a:cubicBezTo>
                      <a:cubicBezTo>
                        <a:pt x="54496" y="12229"/>
                        <a:pt x="42280" y="1"/>
                        <a:pt x="27254"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3" name="Google Shape;526;p10">
                  <a:extLst>
                    <a:ext uri="{FF2B5EF4-FFF2-40B4-BE49-F238E27FC236}">
                      <a16:creationId xmlns:a16="http://schemas.microsoft.com/office/drawing/2014/main" id="{05804F4B-CA75-B2D7-35CE-0F1C21524CAA}"/>
                    </a:ext>
                  </a:extLst>
                </p:cNvPr>
                <p:cNvSpPr/>
                <p:nvPr/>
              </p:nvSpPr>
              <p:spPr>
                <a:xfrm>
                  <a:off x="4715994" y="2921482"/>
                  <a:ext cx="606552" cy="606535"/>
                </a:xfrm>
                <a:custGeom>
                  <a:avLst/>
                  <a:gdLst/>
                  <a:ahLst/>
                  <a:cxnLst/>
                  <a:rect l="l" t="t" r="r" b="b"/>
                  <a:pathLst>
                    <a:path w="35137" h="35136" extrusionOk="0">
                      <a:moveTo>
                        <a:pt x="1" y="1"/>
                      </a:moveTo>
                      <a:lnTo>
                        <a:pt x="1" y="17574"/>
                      </a:lnTo>
                      <a:cubicBezTo>
                        <a:pt x="1" y="27254"/>
                        <a:pt x="7883" y="35136"/>
                        <a:pt x="17574" y="35136"/>
                      </a:cubicBez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9" name="Google Shape;527;p10">
                <a:extLst>
                  <a:ext uri="{FF2B5EF4-FFF2-40B4-BE49-F238E27FC236}">
                    <a16:creationId xmlns:a16="http://schemas.microsoft.com/office/drawing/2014/main" id="{09903864-6FB2-098D-3529-C7BE86B2DF14}"/>
                  </a:ext>
                </a:extLst>
              </p:cNvPr>
              <p:cNvGrpSpPr/>
              <p:nvPr/>
            </p:nvGrpSpPr>
            <p:grpSpPr>
              <a:xfrm>
                <a:off x="6478467" y="4097293"/>
                <a:ext cx="473868" cy="460703"/>
                <a:chOff x="4858850" y="3072970"/>
                <a:chExt cx="355401" cy="345527"/>
              </a:xfrm>
            </p:grpSpPr>
            <p:sp>
              <p:nvSpPr>
                <p:cNvPr id="61" name="Google Shape;528;p10">
                  <a:extLst>
                    <a:ext uri="{FF2B5EF4-FFF2-40B4-BE49-F238E27FC236}">
                      <a16:creationId xmlns:a16="http://schemas.microsoft.com/office/drawing/2014/main" id="{E95707DA-5BEB-CAD2-289D-782B1520F661}"/>
                    </a:ext>
                  </a:extLst>
                </p:cNvPr>
                <p:cNvSpPr/>
                <p:nvPr/>
              </p:nvSpPr>
              <p:spPr>
                <a:xfrm>
                  <a:off x="4931615" y="3147341"/>
                  <a:ext cx="204733" cy="220787"/>
                </a:xfrm>
                <a:custGeom>
                  <a:avLst/>
                  <a:gdLst/>
                  <a:ahLst/>
                  <a:cxnLst/>
                  <a:rect l="l" t="t" r="r" b="b"/>
                  <a:pathLst>
                    <a:path w="11860" h="12790" extrusionOk="0">
                      <a:moveTo>
                        <a:pt x="5525" y="3765"/>
                      </a:moveTo>
                      <a:lnTo>
                        <a:pt x="8371" y="3884"/>
                      </a:lnTo>
                      <a:lnTo>
                        <a:pt x="6668" y="5622"/>
                      </a:lnTo>
                      <a:lnTo>
                        <a:pt x="8668" y="5777"/>
                      </a:lnTo>
                      <a:lnTo>
                        <a:pt x="3489" y="10266"/>
                      </a:lnTo>
                      <a:lnTo>
                        <a:pt x="3489" y="10266"/>
                      </a:lnTo>
                      <a:lnTo>
                        <a:pt x="5489" y="6587"/>
                      </a:lnTo>
                      <a:lnTo>
                        <a:pt x="3382" y="6587"/>
                      </a:lnTo>
                      <a:lnTo>
                        <a:pt x="5525" y="3765"/>
                      </a:lnTo>
                      <a:close/>
                      <a:moveTo>
                        <a:pt x="6027" y="1"/>
                      </a:moveTo>
                      <a:cubicBezTo>
                        <a:pt x="5806" y="1"/>
                        <a:pt x="5583" y="13"/>
                        <a:pt x="5358" y="38"/>
                      </a:cubicBezTo>
                      <a:cubicBezTo>
                        <a:pt x="2715" y="336"/>
                        <a:pt x="572" y="2443"/>
                        <a:pt x="239" y="5075"/>
                      </a:cubicBezTo>
                      <a:cubicBezTo>
                        <a:pt x="0" y="7003"/>
                        <a:pt x="703" y="8766"/>
                        <a:pt x="1941" y="9992"/>
                      </a:cubicBezTo>
                      <a:cubicBezTo>
                        <a:pt x="2144" y="10194"/>
                        <a:pt x="2358" y="10397"/>
                        <a:pt x="2525" y="10623"/>
                      </a:cubicBezTo>
                      <a:cubicBezTo>
                        <a:pt x="2834" y="11028"/>
                        <a:pt x="3251" y="11647"/>
                        <a:pt x="3572" y="12445"/>
                      </a:cubicBezTo>
                      <a:cubicBezTo>
                        <a:pt x="3656" y="12659"/>
                        <a:pt x="3870" y="12790"/>
                        <a:pt x="4108" y="12790"/>
                      </a:cubicBezTo>
                      <a:lnTo>
                        <a:pt x="7966" y="12790"/>
                      </a:lnTo>
                      <a:cubicBezTo>
                        <a:pt x="8204" y="12790"/>
                        <a:pt x="8418" y="12659"/>
                        <a:pt x="8501" y="12445"/>
                      </a:cubicBezTo>
                      <a:cubicBezTo>
                        <a:pt x="9085" y="10992"/>
                        <a:pt x="9978" y="10123"/>
                        <a:pt x="9978" y="10123"/>
                      </a:cubicBezTo>
                      <a:lnTo>
                        <a:pt x="9966" y="10123"/>
                      </a:lnTo>
                      <a:cubicBezTo>
                        <a:pt x="11133" y="9051"/>
                        <a:pt x="11859" y="7527"/>
                        <a:pt x="11859" y="5837"/>
                      </a:cubicBezTo>
                      <a:cubicBezTo>
                        <a:pt x="11859" y="2616"/>
                        <a:pt x="9241" y="1"/>
                        <a:pt x="602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2" name="Google Shape;529;p10">
                  <a:extLst>
                    <a:ext uri="{FF2B5EF4-FFF2-40B4-BE49-F238E27FC236}">
                      <a16:creationId xmlns:a16="http://schemas.microsoft.com/office/drawing/2014/main" id="{D53976F6-66E9-5081-5C7F-52D847EEB8B0}"/>
                    </a:ext>
                  </a:extLst>
                </p:cNvPr>
                <p:cNvSpPr/>
                <p:nvPr/>
              </p:nvSpPr>
              <p:spPr>
                <a:xfrm>
                  <a:off x="4983613" y="3375531"/>
                  <a:ext cx="104231" cy="42966"/>
                </a:xfrm>
                <a:custGeom>
                  <a:avLst/>
                  <a:gdLst/>
                  <a:ahLst/>
                  <a:cxnLst/>
                  <a:rect l="l" t="t" r="r" b="b"/>
                  <a:pathLst>
                    <a:path w="6038" h="2489" extrusionOk="0">
                      <a:moveTo>
                        <a:pt x="406" y="1"/>
                      </a:moveTo>
                      <a:cubicBezTo>
                        <a:pt x="179" y="1"/>
                        <a:pt x="1" y="191"/>
                        <a:pt x="1" y="417"/>
                      </a:cubicBezTo>
                      <a:lnTo>
                        <a:pt x="1" y="501"/>
                      </a:lnTo>
                      <a:cubicBezTo>
                        <a:pt x="1" y="727"/>
                        <a:pt x="179" y="905"/>
                        <a:pt x="406" y="905"/>
                      </a:cubicBezTo>
                      <a:lnTo>
                        <a:pt x="1799" y="905"/>
                      </a:lnTo>
                      <a:lnTo>
                        <a:pt x="1799" y="1275"/>
                      </a:lnTo>
                      <a:cubicBezTo>
                        <a:pt x="1799" y="1941"/>
                        <a:pt x="2346" y="2489"/>
                        <a:pt x="3013" y="2489"/>
                      </a:cubicBezTo>
                      <a:cubicBezTo>
                        <a:pt x="3680" y="2489"/>
                        <a:pt x="4227" y="1941"/>
                        <a:pt x="4227" y="1275"/>
                      </a:cubicBezTo>
                      <a:lnTo>
                        <a:pt x="4227" y="905"/>
                      </a:lnTo>
                      <a:lnTo>
                        <a:pt x="5620" y="905"/>
                      </a:lnTo>
                      <a:cubicBezTo>
                        <a:pt x="5847" y="905"/>
                        <a:pt x="6037" y="727"/>
                        <a:pt x="6037" y="501"/>
                      </a:cubicBezTo>
                      <a:lnTo>
                        <a:pt x="6037" y="417"/>
                      </a:lnTo>
                      <a:cubicBezTo>
                        <a:pt x="6037" y="191"/>
                        <a:pt x="5847" y="1"/>
                        <a:pt x="5620"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3" name="Google Shape;530;p10">
                  <a:extLst>
                    <a:ext uri="{FF2B5EF4-FFF2-40B4-BE49-F238E27FC236}">
                      <a16:creationId xmlns:a16="http://schemas.microsoft.com/office/drawing/2014/main" id="{C590379B-D2B9-88F5-955C-E527539655D3}"/>
                    </a:ext>
                  </a:extLst>
                </p:cNvPr>
                <p:cNvSpPr/>
                <p:nvPr/>
              </p:nvSpPr>
              <p:spPr>
                <a:xfrm>
                  <a:off x="5028429" y="3072970"/>
                  <a:ext cx="14604" cy="46885"/>
                </a:xfrm>
                <a:custGeom>
                  <a:avLst/>
                  <a:gdLst/>
                  <a:ahLst/>
                  <a:cxnLst/>
                  <a:rect l="l" t="t" r="r" b="b"/>
                  <a:pathLst>
                    <a:path w="846" h="2716" extrusionOk="0">
                      <a:moveTo>
                        <a:pt x="417" y="1"/>
                      </a:moveTo>
                      <a:cubicBezTo>
                        <a:pt x="191" y="1"/>
                        <a:pt x="0" y="191"/>
                        <a:pt x="0" y="429"/>
                      </a:cubicBezTo>
                      <a:lnTo>
                        <a:pt x="0" y="2298"/>
                      </a:lnTo>
                      <a:cubicBezTo>
                        <a:pt x="0" y="2525"/>
                        <a:pt x="191" y="2715"/>
                        <a:pt x="417" y="2715"/>
                      </a:cubicBezTo>
                      <a:cubicBezTo>
                        <a:pt x="655" y="2715"/>
                        <a:pt x="846" y="2525"/>
                        <a:pt x="846" y="2298"/>
                      </a:cubicBezTo>
                      <a:lnTo>
                        <a:pt x="846" y="429"/>
                      </a:lnTo>
                      <a:cubicBezTo>
                        <a:pt x="846" y="191"/>
                        <a:pt x="655" y="1"/>
                        <a:pt x="41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4" name="Google Shape;531;p10">
                  <a:extLst>
                    <a:ext uri="{FF2B5EF4-FFF2-40B4-BE49-F238E27FC236}">
                      <a16:creationId xmlns:a16="http://schemas.microsoft.com/office/drawing/2014/main" id="{1FC79249-1814-99B5-6A04-35958E6BA14D}"/>
                    </a:ext>
                  </a:extLst>
                </p:cNvPr>
                <p:cNvSpPr/>
                <p:nvPr/>
              </p:nvSpPr>
              <p:spPr>
                <a:xfrm>
                  <a:off x="4942301" y="3096224"/>
                  <a:ext cx="32695" cy="42621"/>
                </a:xfrm>
                <a:custGeom>
                  <a:avLst/>
                  <a:gdLst/>
                  <a:ahLst/>
                  <a:cxnLst/>
                  <a:rect l="l" t="t" r="r" b="b"/>
                  <a:pathLst>
                    <a:path w="1894" h="2469" extrusionOk="0">
                      <a:moveTo>
                        <a:pt x="475" y="1"/>
                      </a:moveTo>
                      <a:cubicBezTo>
                        <a:pt x="402" y="1"/>
                        <a:pt x="329" y="19"/>
                        <a:pt x="262" y="59"/>
                      </a:cubicBezTo>
                      <a:cubicBezTo>
                        <a:pt x="60" y="178"/>
                        <a:pt x="1" y="440"/>
                        <a:pt x="108" y="642"/>
                      </a:cubicBezTo>
                      <a:lnTo>
                        <a:pt x="1048" y="2261"/>
                      </a:lnTo>
                      <a:cubicBezTo>
                        <a:pt x="1128" y="2397"/>
                        <a:pt x="1267" y="2468"/>
                        <a:pt x="1411" y="2468"/>
                      </a:cubicBezTo>
                      <a:cubicBezTo>
                        <a:pt x="1481" y="2468"/>
                        <a:pt x="1553" y="2451"/>
                        <a:pt x="1620" y="2416"/>
                      </a:cubicBezTo>
                      <a:cubicBezTo>
                        <a:pt x="1822" y="2297"/>
                        <a:pt x="1894" y="2035"/>
                        <a:pt x="1775" y="1833"/>
                      </a:cubicBezTo>
                      <a:lnTo>
                        <a:pt x="846" y="213"/>
                      </a:lnTo>
                      <a:cubicBezTo>
                        <a:pt x="766" y="78"/>
                        <a:pt x="622" y="1"/>
                        <a:pt x="47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5" name="Google Shape;532;p10">
                  <a:extLst>
                    <a:ext uri="{FF2B5EF4-FFF2-40B4-BE49-F238E27FC236}">
                      <a16:creationId xmlns:a16="http://schemas.microsoft.com/office/drawing/2014/main" id="{9E795BAD-C3A5-863F-9347-0A1FE4C9303B}"/>
                    </a:ext>
                  </a:extLst>
                </p:cNvPr>
                <p:cNvSpPr/>
                <p:nvPr/>
              </p:nvSpPr>
              <p:spPr>
                <a:xfrm>
                  <a:off x="4880222" y="3159011"/>
                  <a:ext cx="44624" cy="30693"/>
                </a:xfrm>
                <a:custGeom>
                  <a:avLst/>
                  <a:gdLst/>
                  <a:ahLst/>
                  <a:cxnLst/>
                  <a:rect l="l" t="t" r="r" b="b"/>
                  <a:pathLst>
                    <a:path w="2585" h="1778" extrusionOk="0">
                      <a:moveTo>
                        <a:pt x="479" y="0"/>
                      </a:moveTo>
                      <a:cubicBezTo>
                        <a:pt x="332" y="0"/>
                        <a:pt x="188" y="72"/>
                        <a:pt x="108" y="208"/>
                      </a:cubicBezTo>
                      <a:cubicBezTo>
                        <a:pt x="1" y="410"/>
                        <a:pt x="72" y="672"/>
                        <a:pt x="275" y="791"/>
                      </a:cubicBezTo>
                      <a:lnTo>
                        <a:pt x="1882" y="1720"/>
                      </a:lnTo>
                      <a:cubicBezTo>
                        <a:pt x="1949" y="1759"/>
                        <a:pt x="2022" y="1778"/>
                        <a:pt x="2094" y="1778"/>
                      </a:cubicBezTo>
                      <a:cubicBezTo>
                        <a:pt x="2242" y="1778"/>
                        <a:pt x="2386" y="1701"/>
                        <a:pt x="2465" y="1565"/>
                      </a:cubicBezTo>
                      <a:cubicBezTo>
                        <a:pt x="2585" y="1363"/>
                        <a:pt x="2513" y="1113"/>
                        <a:pt x="2311" y="994"/>
                      </a:cubicBezTo>
                      <a:lnTo>
                        <a:pt x="691" y="53"/>
                      </a:lnTo>
                      <a:cubicBezTo>
                        <a:pt x="625" y="18"/>
                        <a:pt x="552" y="0"/>
                        <a:pt x="47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6" name="Google Shape;533;p10">
                  <a:extLst>
                    <a:ext uri="{FF2B5EF4-FFF2-40B4-BE49-F238E27FC236}">
                      <a16:creationId xmlns:a16="http://schemas.microsoft.com/office/drawing/2014/main" id="{B3361767-6F1E-818C-4A5E-D3B14A0906DD}"/>
                    </a:ext>
                  </a:extLst>
                </p:cNvPr>
                <p:cNvSpPr/>
                <p:nvPr/>
              </p:nvSpPr>
              <p:spPr>
                <a:xfrm>
                  <a:off x="4858850" y="3244397"/>
                  <a:ext cx="46885" cy="14604"/>
                </a:xfrm>
                <a:custGeom>
                  <a:avLst/>
                  <a:gdLst/>
                  <a:ahLst/>
                  <a:cxnLst/>
                  <a:rect l="l" t="t" r="r" b="b"/>
                  <a:pathLst>
                    <a:path w="2716" h="846" extrusionOk="0">
                      <a:moveTo>
                        <a:pt x="417" y="0"/>
                      </a:moveTo>
                      <a:cubicBezTo>
                        <a:pt x="191" y="0"/>
                        <a:pt x="1" y="191"/>
                        <a:pt x="1" y="417"/>
                      </a:cubicBezTo>
                      <a:cubicBezTo>
                        <a:pt x="1" y="655"/>
                        <a:pt x="191" y="846"/>
                        <a:pt x="417" y="846"/>
                      </a:cubicBezTo>
                      <a:lnTo>
                        <a:pt x="2287" y="846"/>
                      </a:lnTo>
                      <a:cubicBezTo>
                        <a:pt x="2525" y="846"/>
                        <a:pt x="2715" y="655"/>
                        <a:pt x="2715" y="417"/>
                      </a:cubicBezTo>
                      <a:cubicBezTo>
                        <a:pt x="2715" y="191"/>
                        <a:pt x="2525" y="0"/>
                        <a:pt x="2287"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 name="Google Shape;534;p10">
                  <a:extLst>
                    <a:ext uri="{FF2B5EF4-FFF2-40B4-BE49-F238E27FC236}">
                      <a16:creationId xmlns:a16="http://schemas.microsoft.com/office/drawing/2014/main" id="{A74394C1-0C8A-7E3F-811C-DA22F251C12D}"/>
                    </a:ext>
                  </a:extLst>
                </p:cNvPr>
                <p:cNvSpPr/>
                <p:nvPr/>
              </p:nvSpPr>
              <p:spPr>
                <a:xfrm>
                  <a:off x="4881050" y="3313279"/>
                  <a:ext cx="44624" cy="30796"/>
                </a:xfrm>
                <a:custGeom>
                  <a:avLst/>
                  <a:gdLst/>
                  <a:ahLst/>
                  <a:cxnLst/>
                  <a:rect l="l" t="t" r="r" b="b"/>
                  <a:pathLst>
                    <a:path w="2585" h="1784" extrusionOk="0">
                      <a:moveTo>
                        <a:pt x="2105" y="1"/>
                      </a:moveTo>
                      <a:cubicBezTo>
                        <a:pt x="2033" y="1"/>
                        <a:pt x="1960" y="19"/>
                        <a:pt x="1894" y="58"/>
                      </a:cubicBezTo>
                      <a:lnTo>
                        <a:pt x="274" y="987"/>
                      </a:lnTo>
                      <a:cubicBezTo>
                        <a:pt x="72" y="1106"/>
                        <a:pt x="0" y="1368"/>
                        <a:pt x="120" y="1571"/>
                      </a:cubicBezTo>
                      <a:cubicBezTo>
                        <a:pt x="199" y="1706"/>
                        <a:pt x="343" y="1783"/>
                        <a:pt x="491" y="1783"/>
                      </a:cubicBezTo>
                      <a:cubicBezTo>
                        <a:pt x="563" y="1783"/>
                        <a:pt x="636" y="1765"/>
                        <a:pt x="703" y="1725"/>
                      </a:cubicBezTo>
                      <a:lnTo>
                        <a:pt x="2310" y="797"/>
                      </a:lnTo>
                      <a:cubicBezTo>
                        <a:pt x="2513" y="678"/>
                        <a:pt x="2584" y="416"/>
                        <a:pt x="2465" y="213"/>
                      </a:cubicBezTo>
                      <a:cubicBezTo>
                        <a:pt x="2393" y="78"/>
                        <a:pt x="2252" y="1"/>
                        <a:pt x="210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8" name="Google Shape;535;p10">
                  <a:extLst>
                    <a:ext uri="{FF2B5EF4-FFF2-40B4-BE49-F238E27FC236}">
                      <a16:creationId xmlns:a16="http://schemas.microsoft.com/office/drawing/2014/main" id="{840CEB96-F56A-195D-D4CB-028F0C51E8C3}"/>
                    </a:ext>
                  </a:extLst>
                </p:cNvPr>
                <p:cNvSpPr/>
                <p:nvPr/>
              </p:nvSpPr>
              <p:spPr>
                <a:xfrm>
                  <a:off x="5148255" y="3311639"/>
                  <a:ext cx="44624" cy="30779"/>
                </a:xfrm>
                <a:custGeom>
                  <a:avLst/>
                  <a:gdLst/>
                  <a:ahLst/>
                  <a:cxnLst/>
                  <a:rect l="l" t="t" r="r" b="b"/>
                  <a:pathLst>
                    <a:path w="2585" h="1783" extrusionOk="0">
                      <a:moveTo>
                        <a:pt x="491" y="0"/>
                      </a:moveTo>
                      <a:cubicBezTo>
                        <a:pt x="344" y="0"/>
                        <a:pt x="200" y="77"/>
                        <a:pt x="120" y="213"/>
                      </a:cubicBezTo>
                      <a:cubicBezTo>
                        <a:pt x="1" y="415"/>
                        <a:pt x="72" y="677"/>
                        <a:pt x="274" y="796"/>
                      </a:cubicBezTo>
                      <a:lnTo>
                        <a:pt x="1894" y="1725"/>
                      </a:lnTo>
                      <a:cubicBezTo>
                        <a:pt x="1960" y="1764"/>
                        <a:pt x="2034" y="1783"/>
                        <a:pt x="2106" y="1783"/>
                      </a:cubicBezTo>
                      <a:cubicBezTo>
                        <a:pt x="2253" y="1783"/>
                        <a:pt x="2397" y="1706"/>
                        <a:pt x="2477" y="1570"/>
                      </a:cubicBezTo>
                      <a:cubicBezTo>
                        <a:pt x="2584" y="1368"/>
                        <a:pt x="2525" y="1106"/>
                        <a:pt x="2322" y="999"/>
                      </a:cubicBezTo>
                      <a:lnTo>
                        <a:pt x="703" y="58"/>
                      </a:lnTo>
                      <a:cubicBezTo>
                        <a:pt x="636" y="19"/>
                        <a:pt x="563" y="0"/>
                        <a:pt x="491"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9" name="Google Shape;536;p10">
                  <a:extLst>
                    <a:ext uri="{FF2B5EF4-FFF2-40B4-BE49-F238E27FC236}">
                      <a16:creationId xmlns:a16="http://schemas.microsoft.com/office/drawing/2014/main" id="{4DBD303A-E6B7-0F95-E1D6-AA296901FEDE}"/>
                    </a:ext>
                  </a:extLst>
                </p:cNvPr>
                <p:cNvSpPr/>
                <p:nvPr/>
              </p:nvSpPr>
              <p:spPr>
                <a:xfrm>
                  <a:off x="5167366" y="3242550"/>
                  <a:ext cx="46885" cy="14604"/>
                </a:xfrm>
                <a:custGeom>
                  <a:avLst/>
                  <a:gdLst/>
                  <a:ahLst/>
                  <a:cxnLst/>
                  <a:rect l="l" t="t" r="r" b="b"/>
                  <a:pathLst>
                    <a:path w="2716" h="846" extrusionOk="0">
                      <a:moveTo>
                        <a:pt x="430" y="0"/>
                      </a:moveTo>
                      <a:cubicBezTo>
                        <a:pt x="191" y="0"/>
                        <a:pt x="1" y="191"/>
                        <a:pt x="1" y="417"/>
                      </a:cubicBezTo>
                      <a:cubicBezTo>
                        <a:pt x="1" y="655"/>
                        <a:pt x="191" y="846"/>
                        <a:pt x="430" y="846"/>
                      </a:cubicBezTo>
                      <a:lnTo>
                        <a:pt x="2299" y="846"/>
                      </a:lnTo>
                      <a:cubicBezTo>
                        <a:pt x="2525" y="846"/>
                        <a:pt x="2716" y="655"/>
                        <a:pt x="2716" y="417"/>
                      </a:cubicBezTo>
                      <a:cubicBezTo>
                        <a:pt x="2716" y="191"/>
                        <a:pt x="2525" y="0"/>
                        <a:pt x="229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0" name="Google Shape;537;p10">
                  <a:extLst>
                    <a:ext uri="{FF2B5EF4-FFF2-40B4-BE49-F238E27FC236}">
                      <a16:creationId xmlns:a16="http://schemas.microsoft.com/office/drawing/2014/main" id="{F7CEB9BB-970F-3E5E-4108-5BCB382F5B48}"/>
                    </a:ext>
                  </a:extLst>
                </p:cNvPr>
                <p:cNvSpPr/>
                <p:nvPr/>
              </p:nvSpPr>
              <p:spPr>
                <a:xfrm>
                  <a:off x="5147426" y="3157475"/>
                  <a:ext cx="44624" cy="30693"/>
                </a:xfrm>
                <a:custGeom>
                  <a:avLst/>
                  <a:gdLst/>
                  <a:ahLst/>
                  <a:cxnLst/>
                  <a:rect l="l" t="t" r="r" b="b"/>
                  <a:pathLst>
                    <a:path w="2585" h="1778" extrusionOk="0">
                      <a:moveTo>
                        <a:pt x="2103" y="1"/>
                      </a:moveTo>
                      <a:cubicBezTo>
                        <a:pt x="2033" y="1"/>
                        <a:pt x="1961" y="19"/>
                        <a:pt x="1894" y="59"/>
                      </a:cubicBezTo>
                      <a:lnTo>
                        <a:pt x="275" y="987"/>
                      </a:lnTo>
                      <a:cubicBezTo>
                        <a:pt x="72" y="1106"/>
                        <a:pt x="1" y="1368"/>
                        <a:pt x="120" y="1571"/>
                      </a:cubicBezTo>
                      <a:cubicBezTo>
                        <a:pt x="200" y="1706"/>
                        <a:pt x="339" y="1778"/>
                        <a:pt x="483" y="1778"/>
                      </a:cubicBezTo>
                      <a:cubicBezTo>
                        <a:pt x="553" y="1778"/>
                        <a:pt x="625" y="1761"/>
                        <a:pt x="692" y="1725"/>
                      </a:cubicBezTo>
                      <a:lnTo>
                        <a:pt x="2311" y="785"/>
                      </a:lnTo>
                      <a:cubicBezTo>
                        <a:pt x="2513" y="666"/>
                        <a:pt x="2585" y="416"/>
                        <a:pt x="2466" y="213"/>
                      </a:cubicBezTo>
                      <a:cubicBezTo>
                        <a:pt x="2386" y="78"/>
                        <a:pt x="2247" y="1"/>
                        <a:pt x="2103"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1" name="Google Shape;538;p10">
                  <a:extLst>
                    <a:ext uri="{FF2B5EF4-FFF2-40B4-BE49-F238E27FC236}">
                      <a16:creationId xmlns:a16="http://schemas.microsoft.com/office/drawing/2014/main" id="{8B5A71EB-2982-6B8D-FB42-A0448C38F5C4}"/>
                    </a:ext>
                  </a:extLst>
                </p:cNvPr>
                <p:cNvSpPr/>
                <p:nvPr/>
              </p:nvSpPr>
              <p:spPr>
                <a:xfrm>
                  <a:off x="5096465" y="3095412"/>
                  <a:ext cx="32902" cy="42500"/>
                </a:xfrm>
                <a:custGeom>
                  <a:avLst/>
                  <a:gdLst/>
                  <a:ahLst/>
                  <a:cxnLst/>
                  <a:rect l="l" t="t" r="r" b="b"/>
                  <a:pathLst>
                    <a:path w="1906" h="2462" extrusionOk="0">
                      <a:moveTo>
                        <a:pt x="1419" y="0"/>
                      </a:moveTo>
                      <a:cubicBezTo>
                        <a:pt x="1272" y="0"/>
                        <a:pt x="1128" y="77"/>
                        <a:pt x="1048" y="213"/>
                      </a:cubicBezTo>
                      <a:lnTo>
                        <a:pt x="119" y="1832"/>
                      </a:lnTo>
                      <a:cubicBezTo>
                        <a:pt x="0" y="2034"/>
                        <a:pt x="72" y="2284"/>
                        <a:pt x="274" y="2403"/>
                      </a:cubicBezTo>
                      <a:cubicBezTo>
                        <a:pt x="341" y="2443"/>
                        <a:pt x="414" y="2461"/>
                        <a:pt x="486" y="2461"/>
                      </a:cubicBezTo>
                      <a:cubicBezTo>
                        <a:pt x="634" y="2461"/>
                        <a:pt x="778" y="2384"/>
                        <a:pt x="857" y="2249"/>
                      </a:cubicBezTo>
                      <a:lnTo>
                        <a:pt x="1786" y="629"/>
                      </a:lnTo>
                      <a:cubicBezTo>
                        <a:pt x="1905" y="427"/>
                        <a:pt x="1834" y="177"/>
                        <a:pt x="1631" y="58"/>
                      </a:cubicBezTo>
                      <a:cubicBezTo>
                        <a:pt x="1565" y="19"/>
                        <a:pt x="1492" y="0"/>
                        <a:pt x="141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40" name="Google Shape;539;p10">
                <a:extLst>
                  <a:ext uri="{FF2B5EF4-FFF2-40B4-BE49-F238E27FC236}">
                    <a16:creationId xmlns:a16="http://schemas.microsoft.com/office/drawing/2014/main" id="{2F74FAAB-417E-EB53-6380-451CB751FCE4}"/>
                  </a:ext>
                </a:extLst>
              </p:cNvPr>
              <p:cNvGrpSpPr/>
              <p:nvPr/>
            </p:nvGrpSpPr>
            <p:grpSpPr>
              <a:xfrm>
                <a:off x="5314538" y="2951176"/>
                <a:ext cx="1499581" cy="1442921"/>
                <a:chOff x="3985903" y="2213381"/>
                <a:chExt cx="1124686" cy="1082191"/>
              </a:xfrm>
            </p:grpSpPr>
            <p:sp>
              <p:nvSpPr>
                <p:cNvPr id="48" name="Google Shape;540;p10">
                  <a:extLst>
                    <a:ext uri="{FF2B5EF4-FFF2-40B4-BE49-F238E27FC236}">
                      <a16:creationId xmlns:a16="http://schemas.microsoft.com/office/drawing/2014/main" id="{7493D733-7C04-B6E7-3BFD-7A98CE5B2D7C}"/>
                    </a:ext>
                  </a:extLst>
                </p:cNvPr>
                <p:cNvSpPr/>
                <p:nvPr/>
              </p:nvSpPr>
              <p:spPr>
                <a:xfrm>
                  <a:off x="3987353" y="2214624"/>
                  <a:ext cx="1123236" cy="1079614"/>
                </a:xfrm>
                <a:custGeom>
                  <a:avLst/>
                  <a:gdLst/>
                  <a:ahLst/>
                  <a:cxnLst/>
                  <a:rect l="l" t="t" r="r" b="b"/>
                  <a:pathLst>
                    <a:path w="65068" h="62541" extrusionOk="0">
                      <a:moveTo>
                        <a:pt x="32529" y="0"/>
                      </a:moveTo>
                      <a:cubicBezTo>
                        <a:pt x="29212" y="0"/>
                        <a:pt x="25896" y="1262"/>
                        <a:pt x="23372" y="3786"/>
                      </a:cubicBezTo>
                      <a:lnTo>
                        <a:pt x="5048" y="22110"/>
                      </a:lnTo>
                      <a:cubicBezTo>
                        <a:pt x="0" y="27158"/>
                        <a:pt x="0" y="35374"/>
                        <a:pt x="5048" y="40434"/>
                      </a:cubicBezTo>
                      <a:lnTo>
                        <a:pt x="23372" y="58746"/>
                      </a:lnTo>
                      <a:cubicBezTo>
                        <a:pt x="25896" y="61276"/>
                        <a:pt x="29212" y="62541"/>
                        <a:pt x="32528" y="62541"/>
                      </a:cubicBezTo>
                      <a:cubicBezTo>
                        <a:pt x="35844" y="62541"/>
                        <a:pt x="39160" y="61276"/>
                        <a:pt x="41684" y="58746"/>
                      </a:cubicBezTo>
                      <a:cubicBezTo>
                        <a:pt x="46744" y="53697"/>
                        <a:pt x="54959" y="45482"/>
                        <a:pt x="60008" y="40422"/>
                      </a:cubicBezTo>
                      <a:cubicBezTo>
                        <a:pt x="65068" y="35374"/>
                        <a:pt x="65068" y="27158"/>
                        <a:pt x="60008" y="22110"/>
                      </a:cubicBezTo>
                      <a:cubicBezTo>
                        <a:pt x="54959" y="17062"/>
                        <a:pt x="46744" y="8835"/>
                        <a:pt x="41696" y="3786"/>
                      </a:cubicBezTo>
                      <a:cubicBezTo>
                        <a:pt x="39166" y="1262"/>
                        <a:pt x="35847" y="0"/>
                        <a:pt x="32529"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49" name="Google Shape;541;p10">
                  <a:extLst>
                    <a:ext uri="{FF2B5EF4-FFF2-40B4-BE49-F238E27FC236}">
                      <a16:creationId xmlns:a16="http://schemas.microsoft.com/office/drawing/2014/main" id="{C8737600-55A2-2A0F-9F05-4BBDD7BF8BC1}"/>
                    </a:ext>
                  </a:extLst>
                </p:cNvPr>
                <p:cNvGrpSpPr/>
                <p:nvPr/>
              </p:nvGrpSpPr>
              <p:grpSpPr>
                <a:xfrm>
                  <a:off x="4380547" y="2919635"/>
                  <a:ext cx="636781" cy="375937"/>
                  <a:chOff x="4380547" y="2919635"/>
                  <a:chExt cx="636781" cy="375937"/>
                </a:xfrm>
              </p:grpSpPr>
              <p:sp>
                <p:nvSpPr>
                  <p:cNvPr id="59" name="Google Shape;542;p10">
                    <a:extLst>
                      <a:ext uri="{FF2B5EF4-FFF2-40B4-BE49-F238E27FC236}">
                        <a16:creationId xmlns:a16="http://schemas.microsoft.com/office/drawing/2014/main" id="{565D34DA-BF69-C1F6-4872-76A314F67879}"/>
                      </a:ext>
                    </a:extLst>
                  </p:cNvPr>
                  <p:cNvSpPr/>
                  <p:nvPr/>
                </p:nvSpPr>
                <p:spPr>
                  <a:xfrm>
                    <a:off x="4380547" y="3114281"/>
                    <a:ext cx="336481" cy="181291"/>
                  </a:xfrm>
                  <a:custGeom>
                    <a:avLst/>
                    <a:gdLst/>
                    <a:ahLst/>
                    <a:cxnLst/>
                    <a:rect l="l" t="t" r="r" b="b"/>
                    <a:pathLst>
                      <a:path w="19492" h="10502" extrusionOk="0">
                        <a:moveTo>
                          <a:pt x="1" y="1"/>
                        </a:moveTo>
                        <a:lnTo>
                          <a:pt x="1" y="6097"/>
                        </a:lnTo>
                        <a:lnTo>
                          <a:pt x="13" y="6121"/>
                        </a:lnTo>
                        <a:cubicBezTo>
                          <a:pt x="156" y="6287"/>
                          <a:pt x="322" y="6466"/>
                          <a:pt x="537" y="6692"/>
                        </a:cubicBezTo>
                        <a:cubicBezTo>
                          <a:pt x="3001" y="9145"/>
                          <a:pt x="6263" y="10502"/>
                          <a:pt x="9752" y="10502"/>
                        </a:cubicBezTo>
                        <a:cubicBezTo>
                          <a:pt x="13241" y="10502"/>
                          <a:pt x="16503" y="9145"/>
                          <a:pt x="18956" y="6692"/>
                        </a:cubicBezTo>
                        <a:lnTo>
                          <a:pt x="19491" y="6144"/>
                        </a:lnTo>
                        <a:lnTo>
                          <a:pt x="19491" y="1"/>
                        </a:lnTo>
                        <a:lnTo>
                          <a:pt x="18658" y="846"/>
                        </a:lnTo>
                        <a:cubicBezTo>
                          <a:pt x="18205" y="1299"/>
                          <a:pt x="17777" y="1727"/>
                          <a:pt x="17372" y="2132"/>
                        </a:cubicBezTo>
                        <a:cubicBezTo>
                          <a:pt x="15336" y="4168"/>
                          <a:pt x="12633" y="5287"/>
                          <a:pt x="9752" y="5287"/>
                        </a:cubicBezTo>
                        <a:cubicBezTo>
                          <a:pt x="6871" y="5287"/>
                          <a:pt x="4156" y="4168"/>
                          <a:pt x="2132" y="2132"/>
                        </a:cubicBezTo>
                        <a:lnTo>
                          <a:pt x="1"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 name="Google Shape;543;p10">
                    <a:extLst>
                      <a:ext uri="{FF2B5EF4-FFF2-40B4-BE49-F238E27FC236}">
                        <a16:creationId xmlns:a16="http://schemas.microsoft.com/office/drawing/2014/main" id="{66795B23-4525-2FCC-6ADA-07AAFB23F913}"/>
                      </a:ext>
                    </a:extLst>
                  </p:cNvPr>
                  <p:cNvSpPr/>
                  <p:nvPr/>
                </p:nvSpPr>
                <p:spPr>
                  <a:xfrm>
                    <a:off x="4714354" y="2919635"/>
                    <a:ext cx="302974" cy="303181"/>
                  </a:xfrm>
                  <a:custGeom>
                    <a:avLst/>
                    <a:gdLst/>
                    <a:ahLst/>
                    <a:cxnLst/>
                    <a:rect l="l" t="t" r="r" b="b"/>
                    <a:pathLst>
                      <a:path w="17551" h="17563" extrusionOk="0">
                        <a:moveTo>
                          <a:pt x="1" y="1"/>
                        </a:moveTo>
                        <a:lnTo>
                          <a:pt x="1" y="17562"/>
                        </a:lnTo>
                        <a:lnTo>
                          <a:pt x="17550"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0" name="Google Shape;544;p10">
                  <a:extLst>
                    <a:ext uri="{FF2B5EF4-FFF2-40B4-BE49-F238E27FC236}">
                      <a16:creationId xmlns:a16="http://schemas.microsoft.com/office/drawing/2014/main" id="{A0914CC8-1D4B-91F3-50D0-18B743922E23}"/>
                    </a:ext>
                  </a:extLst>
                </p:cNvPr>
                <p:cNvGrpSpPr/>
                <p:nvPr/>
              </p:nvGrpSpPr>
              <p:grpSpPr>
                <a:xfrm>
                  <a:off x="4714354" y="2285940"/>
                  <a:ext cx="375747" cy="636160"/>
                  <a:chOff x="4714354" y="2285940"/>
                  <a:chExt cx="375747" cy="636160"/>
                </a:xfrm>
              </p:grpSpPr>
              <p:sp>
                <p:nvSpPr>
                  <p:cNvPr id="57" name="Google Shape;545;p10">
                    <a:extLst>
                      <a:ext uri="{FF2B5EF4-FFF2-40B4-BE49-F238E27FC236}">
                        <a16:creationId xmlns:a16="http://schemas.microsoft.com/office/drawing/2014/main" id="{43654DF9-D387-D75B-91A6-74B7E9EB488C}"/>
                      </a:ext>
                    </a:extLst>
                  </p:cNvPr>
                  <p:cNvSpPr/>
                  <p:nvPr/>
                </p:nvSpPr>
                <p:spPr>
                  <a:xfrm>
                    <a:off x="4908793" y="2585619"/>
                    <a:ext cx="181308" cy="336481"/>
                  </a:xfrm>
                  <a:custGeom>
                    <a:avLst/>
                    <a:gdLst/>
                    <a:ahLst/>
                    <a:cxnLst/>
                    <a:rect l="l" t="t" r="r" b="b"/>
                    <a:pathLst>
                      <a:path w="10503" h="19492" extrusionOk="0">
                        <a:moveTo>
                          <a:pt x="13" y="1"/>
                        </a:moveTo>
                        <a:lnTo>
                          <a:pt x="2132" y="2144"/>
                        </a:lnTo>
                        <a:cubicBezTo>
                          <a:pt x="6347" y="6347"/>
                          <a:pt x="6347" y="13169"/>
                          <a:pt x="2132" y="17372"/>
                        </a:cubicBezTo>
                        <a:lnTo>
                          <a:pt x="1" y="19491"/>
                        </a:lnTo>
                        <a:lnTo>
                          <a:pt x="6156" y="19491"/>
                        </a:lnTo>
                        <a:lnTo>
                          <a:pt x="6156" y="19456"/>
                        </a:lnTo>
                        <a:lnTo>
                          <a:pt x="6650" y="18904"/>
                        </a:lnTo>
                        <a:lnTo>
                          <a:pt x="6650" y="18904"/>
                        </a:lnTo>
                        <a:lnTo>
                          <a:pt x="6692" y="18968"/>
                        </a:lnTo>
                        <a:cubicBezTo>
                          <a:pt x="9157" y="16515"/>
                          <a:pt x="10502" y="13264"/>
                          <a:pt x="10502" y="9776"/>
                        </a:cubicBezTo>
                        <a:cubicBezTo>
                          <a:pt x="10502" y="6299"/>
                          <a:pt x="9145" y="3013"/>
                          <a:pt x="6692" y="549"/>
                        </a:cubicBezTo>
                        <a:lnTo>
                          <a:pt x="6144"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 name="Google Shape;546;p10">
                    <a:extLst>
                      <a:ext uri="{FF2B5EF4-FFF2-40B4-BE49-F238E27FC236}">
                        <a16:creationId xmlns:a16="http://schemas.microsoft.com/office/drawing/2014/main" id="{764608D4-E470-55E7-E9C7-32067AA0578C}"/>
                      </a:ext>
                    </a:extLst>
                  </p:cNvPr>
                  <p:cNvSpPr/>
                  <p:nvPr/>
                </p:nvSpPr>
                <p:spPr>
                  <a:xfrm>
                    <a:off x="4714354" y="2285940"/>
                    <a:ext cx="303181" cy="302146"/>
                  </a:xfrm>
                  <a:custGeom>
                    <a:avLst/>
                    <a:gdLst/>
                    <a:ahLst/>
                    <a:cxnLst/>
                    <a:rect l="l" t="t" r="r" b="b"/>
                    <a:pathLst>
                      <a:path w="17563" h="17503" extrusionOk="0">
                        <a:moveTo>
                          <a:pt x="1" y="1"/>
                        </a:moveTo>
                        <a:lnTo>
                          <a:pt x="1" y="17503"/>
                        </a:lnTo>
                        <a:lnTo>
                          <a:pt x="17562" y="17503"/>
                        </a:lnTo>
                        <a:lnTo>
                          <a:pt x="17146" y="17098"/>
                        </a:lnTo>
                        <a:cubicBezTo>
                          <a:pt x="12240" y="12193"/>
                          <a:pt x="4954" y="4930"/>
                          <a:pt x="143" y="120"/>
                        </a:cubicBezTo>
                        <a:lnTo>
                          <a:pt x="1"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1" name="Google Shape;547;p10">
                  <a:extLst>
                    <a:ext uri="{FF2B5EF4-FFF2-40B4-BE49-F238E27FC236}">
                      <a16:creationId xmlns:a16="http://schemas.microsoft.com/office/drawing/2014/main" id="{2E1A007F-AB6D-77A2-DDC7-4BF877468BAF}"/>
                    </a:ext>
                  </a:extLst>
                </p:cNvPr>
                <p:cNvGrpSpPr/>
                <p:nvPr/>
              </p:nvGrpSpPr>
              <p:grpSpPr>
                <a:xfrm>
                  <a:off x="3985903" y="2585619"/>
                  <a:ext cx="397112" cy="637197"/>
                  <a:chOff x="3985903" y="2585619"/>
                  <a:chExt cx="397112" cy="637197"/>
                </a:xfrm>
              </p:grpSpPr>
              <p:sp>
                <p:nvSpPr>
                  <p:cNvPr id="55" name="Google Shape;548;p10">
                    <a:extLst>
                      <a:ext uri="{FF2B5EF4-FFF2-40B4-BE49-F238E27FC236}">
                        <a16:creationId xmlns:a16="http://schemas.microsoft.com/office/drawing/2014/main" id="{4714B3B1-B326-B7D6-A1D3-C75129717DC2}"/>
                      </a:ext>
                    </a:extLst>
                  </p:cNvPr>
                  <p:cNvSpPr/>
                  <p:nvPr/>
                </p:nvSpPr>
                <p:spPr>
                  <a:xfrm>
                    <a:off x="3985903" y="2585619"/>
                    <a:ext cx="203093" cy="336481"/>
                  </a:xfrm>
                  <a:custGeom>
                    <a:avLst/>
                    <a:gdLst/>
                    <a:ahLst/>
                    <a:cxnLst/>
                    <a:rect l="l" t="t" r="r" b="b"/>
                    <a:pathLst>
                      <a:path w="11765" h="19492" extrusionOk="0">
                        <a:moveTo>
                          <a:pt x="5621" y="1"/>
                        </a:moveTo>
                        <a:lnTo>
                          <a:pt x="5085" y="549"/>
                        </a:lnTo>
                        <a:cubicBezTo>
                          <a:pt x="1" y="5633"/>
                          <a:pt x="1" y="13884"/>
                          <a:pt x="5085" y="18968"/>
                        </a:cubicBezTo>
                        <a:lnTo>
                          <a:pt x="5621" y="19491"/>
                        </a:lnTo>
                        <a:lnTo>
                          <a:pt x="11764" y="19491"/>
                        </a:lnTo>
                        <a:lnTo>
                          <a:pt x="9633" y="17384"/>
                        </a:lnTo>
                        <a:cubicBezTo>
                          <a:pt x="7597" y="15348"/>
                          <a:pt x="6478" y="12657"/>
                          <a:pt x="6478" y="9776"/>
                        </a:cubicBezTo>
                        <a:cubicBezTo>
                          <a:pt x="6478" y="6895"/>
                          <a:pt x="7597" y="4168"/>
                          <a:pt x="9633" y="2144"/>
                        </a:cubicBezTo>
                        <a:lnTo>
                          <a:pt x="11764"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 name="Google Shape;549;p10">
                    <a:extLst>
                      <a:ext uri="{FF2B5EF4-FFF2-40B4-BE49-F238E27FC236}">
                        <a16:creationId xmlns:a16="http://schemas.microsoft.com/office/drawing/2014/main" id="{E0EAA080-D8F7-0666-C189-2FA0CCA73C6E}"/>
                      </a:ext>
                    </a:extLst>
                  </p:cNvPr>
                  <p:cNvSpPr/>
                  <p:nvPr/>
                </p:nvSpPr>
                <p:spPr>
                  <a:xfrm>
                    <a:off x="4080455" y="2919635"/>
                    <a:ext cx="302560" cy="303181"/>
                  </a:xfrm>
                  <a:custGeom>
                    <a:avLst/>
                    <a:gdLst/>
                    <a:ahLst/>
                    <a:cxnLst/>
                    <a:rect l="l" t="t" r="r" b="b"/>
                    <a:pathLst>
                      <a:path w="17527" h="17563" extrusionOk="0">
                        <a:moveTo>
                          <a:pt x="1" y="1"/>
                        </a:moveTo>
                        <a:lnTo>
                          <a:pt x="120" y="143"/>
                        </a:lnTo>
                        <a:cubicBezTo>
                          <a:pt x="5025" y="5049"/>
                          <a:pt x="12502" y="12526"/>
                          <a:pt x="17396" y="17431"/>
                        </a:cubicBezTo>
                        <a:lnTo>
                          <a:pt x="17527" y="17562"/>
                        </a:lnTo>
                        <a:lnTo>
                          <a:pt x="17527"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2" name="Google Shape;550;p10">
                  <a:extLst>
                    <a:ext uri="{FF2B5EF4-FFF2-40B4-BE49-F238E27FC236}">
                      <a16:creationId xmlns:a16="http://schemas.microsoft.com/office/drawing/2014/main" id="{4C9F4506-E34B-F5C4-3A1F-3428E6298776}"/>
                    </a:ext>
                  </a:extLst>
                </p:cNvPr>
                <p:cNvGrpSpPr/>
                <p:nvPr/>
              </p:nvGrpSpPr>
              <p:grpSpPr>
                <a:xfrm>
                  <a:off x="4080455" y="2213381"/>
                  <a:ext cx="636573" cy="374705"/>
                  <a:chOff x="4080455" y="2213381"/>
                  <a:chExt cx="636573" cy="374705"/>
                </a:xfrm>
              </p:grpSpPr>
              <p:sp>
                <p:nvSpPr>
                  <p:cNvPr id="53" name="Google Shape;551;p10">
                    <a:extLst>
                      <a:ext uri="{FF2B5EF4-FFF2-40B4-BE49-F238E27FC236}">
                        <a16:creationId xmlns:a16="http://schemas.microsoft.com/office/drawing/2014/main" id="{1901B4EC-FAE6-1C5A-771A-CFA363C449BF}"/>
                      </a:ext>
                    </a:extLst>
                  </p:cNvPr>
                  <p:cNvSpPr/>
                  <p:nvPr/>
                </p:nvSpPr>
                <p:spPr>
                  <a:xfrm>
                    <a:off x="4380340" y="2213381"/>
                    <a:ext cx="336688" cy="181101"/>
                  </a:xfrm>
                  <a:custGeom>
                    <a:avLst/>
                    <a:gdLst/>
                    <a:ahLst/>
                    <a:cxnLst/>
                    <a:rect l="l" t="t" r="r" b="b"/>
                    <a:pathLst>
                      <a:path w="19504" h="10491" extrusionOk="0">
                        <a:moveTo>
                          <a:pt x="9764" y="1"/>
                        </a:moveTo>
                        <a:cubicBezTo>
                          <a:pt x="6287" y="1"/>
                          <a:pt x="3013" y="1358"/>
                          <a:pt x="549" y="3811"/>
                        </a:cubicBezTo>
                        <a:lnTo>
                          <a:pt x="1" y="4358"/>
                        </a:lnTo>
                        <a:lnTo>
                          <a:pt x="1" y="10490"/>
                        </a:lnTo>
                        <a:lnTo>
                          <a:pt x="2144" y="8359"/>
                        </a:lnTo>
                        <a:cubicBezTo>
                          <a:pt x="4180" y="6323"/>
                          <a:pt x="6883" y="5204"/>
                          <a:pt x="9764" y="5204"/>
                        </a:cubicBezTo>
                        <a:cubicBezTo>
                          <a:pt x="12645" y="5204"/>
                          <a:pt x="15348" y="6323"/>
                          <a:pt x="17384" y="8359"/>
                        </a:cubicBezTo>
                        <a:lnTo>
                          <a:pt x="19503" y="10490"/>
                        </a:lnTo>
                        <a:lnTo>
                          <a:pt x="19503" y="4442"/>
                        </a:lnTo>
                        <a:lnTo>
                          <a:pt x="19444" y="4442"/>
                        </a:lnTo>
                        <a:lnTo>
                          <a:pt x="18932" y="3894"/>
                        </a:lnTo>
                        <a:lnTo>
                          <a:pt x="18979" y="3823"/>
                        </a:lnTo>
                        <a:cubicBezTo>
                          <a:pt x="16527" y="1370"/>
                          <a:pt x="13253" y="1"/>
                          <a:pt x="9764"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 name="Google Shape;552;p10">
                    <a:extLst>
                      <a:ext uri="{FF2B5EF4-FFF2-40B4-BE49-F238E27FC236}">
                        <a16:creationId xmlns:a16="http://schemas.microsoft.com/office/drawing/2014/main" id="{422B5657-B4E5-3A4C-0D4D-41438B07851B}"/>
                      </a:ext>
                    </a:extLst>
                  </p:cNvPr>
                  <p:cNvSpPr/>
                  <p:nvPr/>
                </p:nvSpPr>
                <p:spPr>
                  <a:xfrm>
                    <a:off x="4080455" y="2285940"/>
                    <a:ext cx="302560" cy="302146"/>
                  </a:xfrm>
                  <a:custGeom>
                    <a:avLst/>
                    <a:gdLst/>
                    <a:ahLst/>
                    <a:cxnLst/>
                    <a:rect l="l" t="t" r="r" b="b"/>
                    <a:pathLst>
                      <a:path w="17527" h="17503" extrusionOk="0">
                        <a:moveTo>
                          <a:pt x="17527" y="1"/>
                        </a:moveTo>
                        <a:lnTo>
                          <a:pt x="1" y="17503"/>
                        </a:lnTo>
                        <a:lnTo>
                          <a:pt x="17527" y="17503"/>
                        </a:lnTo>
                        <a:lnTo>
                          <a:pt x="17527"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41" name="Google Shape;553;p10">
                <a:extLst>
                  <a:ext uri="{FF2B5EF4-FFF2-40B4-BE49-F238E27FC236}">
                    <a16:creationId xmlns:a16="http://schemas.microsoft.com/office/drawing/2014/main" id="{4422193F-8695-9DF7-2151-0F614CDF820F}"/>
                  </a:ext>
                </a:extLst>
              </p:cNvPr>
              <p:cNvGrpSpPr/>
              <p:nvPr/>
            </p:nvGrpSpPr>
            <p:grpSpPr>
              <a:xfrm>
                <a:off x="5909378" y="3494930"/>
                <a:ext cx="311836" cy="355292"/>
                <a:chOff x="4645650" y="3962900"/>
                <a:chExt cx="259950" cy="296175"/>
              </a:xfrm>
            </p:grpSpPr>
            <p:sp>
              <p:nvSpPr>
                <p:cNvPr id="42" name="Google Shape;554;p10">
                  <a:extLst>
                    <a:ext uri="{FF2B5EF4-FFF2-40B4-BE49-F238E27FC236}">
                      <a16:creationId xmlns:a16="http://schemas.microsoft.com/office/drawing/2014/main" id="{63F5C62C-E260-F4D8-2602-D5E1CE3E2CA1}"/>
                    </a:ext>
                  </a:extLst>
                </p:cNvPr>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 name="Google Shape;555;p10">
                  <a:extLst>
                    <a:ext uri="{FF2B5EF4-FFF2-40B4-BE49-F238E27FC236}">
                      <a16:creationId xmlns:a16="http://schemas.microsoft.com/office/drawing/2014/main" id="{719CFC7C-80C8-0DDD-FEB4-4F08298469EA}"/>
                    </a:ext>
                  </a:extLst>
                </p:cNvPr>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 name="Google Shape;556;p10">
                  <a:extLst>
                    <a:ext uri="{FF2B5EF4-FFF2-40B4-BE49-F238E27FC236}">
                      <a16:creationId xmlns:a16="http://schemas.microsoft.com/office/drawing/2014/main" id="{ABF38D15-F25C-0F53-69B7-273756145EDB}"/>
                    </a:ext>
                  </a:extLst>
                </p:cNvPr>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 name="Google Shape;557;p10">
                  <a:extLst>
                    <a:ext uri="{FF2B5EF4-FFF2-40B4-BE49-F238E27FC236}">
                      <a16:creationId xmlns:a16="http://schemas.microsoft.com/office/drawing/2014/main" id="{1C2B35FF-A264-61E9-7CEF-F2843703CFD6}"/>
                    </a:ext>
                  </a:extLst>
                </p:cNvPr>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 name="Google Shape;558;p10">
                  <a:extLst>
                    <a:ext uri="{FF2B5EF4-FFF2-40B4-BE49-F238E27FC236}">
                      <a16:creationId xmlns:a16="http://schemas.microsoft.com/office/drawing/2014/main" id="{2E0710A2-90F6-AF51-A062-2E2D42F7C248}"/>
                    </a:ext>
                  </a:extLst>
                </p:cNvPr>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 name="Google Shape;559;p10">
                  <a:extLst>
                    <a:ext uri="{FF2B5EF4-FFF2-40B4-BE49-F238E27FC236}">
                      <a16:creationId xmlns:a16="http://schemas.microsoft.com/office/drawing/2014/main" id="{0509B39A-E5B5-1C89-9E3E-687DFF901AB8}"/>
                    </a:ext>
                  </a:extLst>
                </p:cNvPr>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27" name="Google Shape;560;p10">
              <a:extLst>
                <a:ext uri="{FF2B5EF4-FFF2-40B4-BE49-F238E27FC236}">
                  <a16:creationId xmlns:a16="http://schemas.microsoft.com/office/drawing/2014/main" id="{DC8387E6-CA52-2F26-2165-766844D4EC92}"/>
                </a:ext>
              </a:extLst>
            </p:cNvPr>
            <p:cNvGrpSpPr/>
            <p:nvPr/>
          </p:nvGrpSpPr>
          <p:grpSpPr>
            <a:xfrm>
              <a:off x="5746162" y="3855107"/>
              <a:ext cx="462347" cy="245835"/>
              <a:chOff x="3891558" y="2180494"/>
              <a:chExt cx="346769" cy="184381"/>
            </a:xfrm>
          </p:grpSpPr>
          <p:sp>
            <p:nvSpPr>
              <p:cNvPr id="28" name="Google Shape;561;p10">
                <a:extLst>
                  <a:ext uri="{FF2B5EF4-FFF2-40B4-BE49-F238E27FC236}">
                    <a16:creationId xmlns:a16="http://schemas.microsoft.com/office/drawing/2014/main" id="{80599BC0-3C3B-8533-621A-CFDE396D55A1}"/>
                  </a:ext>
                </a:extLst>
              </p:cNvPr>
              <p:cNvSpPr/>
              <p:nvPr/>
            </p:nvSpPr>
            <p:spPr>
              <a:xfrm>
                <a:off x="3949943" y="2180494"/>
                <a:ext cx="230006" cy="184381"/>
              </a:xfrm>
              <a:custGeom>
                <a:avLst/>
                <a:gdLst/>
                <a:ahLst/>
                <a:cxnLst/>
                <a:rect l="l" t="t" r="r" b="b"/>
                <a:pathLst>
                  <a:path w="13324" h="10681" extrusionOk="0">
                    <a:moveTo>
                      <a:pt x="1369" y="1"/>
                    </a:moveTo>
                    <a:cubicBezTo>
                      <a:pt x="619" y="1"/>
                      <a:pt x="0" y="620"/>
                      <a:pt x="0" y="1370"/>
                    </a:cubicBezTo>
                    <a:lnTo>
                      <a:pt x="0" y="9311"/>
                    </a:lnTo>
                    <a:cubicBezTo>
                      <a:pt x="0" y="10073"/>
                      <a:pt x="619" y="10681"/>
                      <a:pt x="1369" y="10681"/>
                    </a:cubicBezTo>
                    <a:lnTo>
                      <a:pt x="3453" y="10681"/>
                    </a:lnTo>
                    <a:lnTo>
                      <a:pt x="3453" y="5906"/>
                    </a:lnTo>
                    <a:lnTo>
                      <a:pt x="9870" y="5906"/>
                    </a:lnTo>
                    <a:lnTo>
                      <a:pt x="9870" y="10681"/>
                    </a:lnTo>
                    <a:lnTo>
                      <a:pt x="11954" y="10681"/>
                    </a:lnTo>
                    <a:cubicBezTo>
                      <a:pt x="12704" y="10681"/>
                      <a:pt x="13323" y="10073"/>
                      <a:pt x="13323" y="9311"/>
                    </a:cubicBezTo>
                    <a:lnTo>
                      <a:pt x="13323" y="1370"/>
                    </a:lnTo>
                    <a:cubicBezTo>
                      <a:pt x="13323" y="620"/>
                      <a:pt x="12704" y="1"/>
                      <a:pt x="11954" y="1"/>
                    </a:cubicBezTo>
                    <a:lnTo>
                      <a:pt x="9870" y="1"/>
                    </a:lnTo>
                    <a:lnTo>
                      <a:pt x="9870" y="3966"/>
                    </a:lnTo>
                    <a:lnTo>
                      <a:pt x="3453" y="3966"/>
                    </a:lnTo>
                    <a:lnTo>
                      <a:pt x="3453"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 name="Google Shape;562;p10">
                <a:extLst>
                  <a:ext uri="{FF2B5EF4-FFF2-40B4-BE49-F238E27FC236}">
                    <a16:creationId xmlns:a16="http://schemas.microsoft.com/office/drawing/2014/main" id="{C0C5AAA9-B889-97F2-CE45-66E942346196}"/>
                  </a:ext>
                </a:extLst>
              </p:cNvPr>
              <p:cNvSpPr/>
              <p:nvPr/>
            </p:nvSpPr>
            <p:spPr>
              <a:xfrm>
                <a:off x="4187334" y="2198379"/>
                <a:ext cx="50993" cy="148820"/>
              </a:xfrm>
              <a:custGeom>
                <a:avLst/>
                <a:gdLst/>
                <a:ahLst/>
                <a:cxnLst/>
                <a:rect l="l" t="t" r="r" b="b"/>
                <a:pathLst>
                  <a:path w="2954" h="8621" extrusionOk="0">
                    <a:moveTo>
                      <a:pt x="1" y="1"/>
                    </a:moveTo>
                    <a:lnTo>
                      <a:pt x="1" y="8621"/>
                    </a:lnTo>
                    <a:lnTo>
                      <a:pt x="1108" y="8621"/>
                    </a:lnTo>
                    <a:cubicBezTo>
                      <a:pt x="1692" y="8621"/>
                      <a:pt x="2156" y="8144"/>
                      <a:pt x="2156" y="7573"/>
                    </a:cubicBezTo>
                    <a:lnTo>
                      <a:pt x="2156" y="5537"/>
                    </a:lnTo>
                    <a:lnTo>
                      <a:pt x="2454" y="5537"/>
                    </a:lnTo>
                    <a:cubicBezTo>
                      <a:pt x="2727" y="5537"/>
                      <a:pt x="2954" y="5311"/>
                      <a:pt x="2954" y="5037"/>
                    </a:cubicBezTo>
                    <a:lnTo>
                      <a:pt x="2954" y="3584"/>
                    </a:lnTo>
                    <a:cubicBezTo>
                      <a:pt x="2954" y="3299"/>
                      <a:pt x="2727" y="3084"/>
                      <a:pt x="2454" y="3084"/>
                    </a:cubicBezTo>
                    <a:lnTo>
                      <a:pt x="2156" y="3084"/>
                    </a:lnTo>
                    <a:lnTo>
                      <a:pt x="2156" y="1036"/>
                    </a:lnTo>
                    <a:cubicBezTo>
                      <a:pt x="2156" y="465"/>
                      <a:pt x="1692" y="1"/>
                      <a:pt x="1108"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 name="Google Shape;563;p10">
                <a:extLst>
                  <a:ext uri="{FF2B5EF4-FFF2-40B4-BE49-F238E27FC236}">
                    <a16:creationId xmlns:a16="http://schemas.microsoft.com/office/drawing/2014/main" id="{0B0B3F3D-B874-2B06-721E-9B81C0051684}"/>
                  </a:ext>
                </a:extLst>
              </p:cNvPr>
              <p:cNvSpPr/>
              <p:nvPr/>
            </p:nvSpPr>
            <p:spPr>
              <a:xfrm>
                <a:off x="3891558" y="2198379"/>
                <a:ext cx="50993" cy="148820"/>
              </a:xfrm>
              <a:custGeom>
                <a:avLst/>
                <a:gdLst/>
                <a:ahLst/>
                <a:cxnLst/>
                <a:rect l="l" t="t" r="r" b="b"/>
                <a:pathLst>
                  <a:path w="2954" h="8621" extrusionOk="0">
                    <a:moveTo>
                      <a:pt x="1846" y="1"/>
                    </a:moveTo>
                    <a:cubicBezTo>
                      <a:pt x="1263" y="1"/>
                      <a:pt x="799" y="465"/>
                      <a:pt x="799" y="1036"/>
                    </a:cubicBezTo>
                    <a:lnTo>
                      <a:pt x="799" y="3084"/>
                    </a:lnTo>
                    <a:lnTo>
                      <a:pt x="501" y="3084"/>
                    </a:lnTo>
                    <a:cubicBezTo>
                      <a:pt x="215" y="3084"/>
                      <a:pt x="1" y="3299"/>
                      <a:pt x="1" y="3584"/>
                    </a:cubicBezTo>
                    <a:lnTo>
                      <a:pt x="1" y="5037"/>
                    </a:lnTo>
                    <a:cubicBezTo>
                      <a:pt x="1" y="5311"/>
                      <a:pt x="215" y="5537"/>
                      <a:pt x="501" y="5537"/>
                    </a:cubicBezTo>
                    <a:lnTo>
                      <a:pt x="799" y="5537"/>
                    </a:lnTo>
                    <a:lnTo>
                      <a:pt x="799" y="7573"/>
                    </a:lnTo>
                    <a:cubicBezTo>
                      <a:pt x="799" y="8144"/>
                      <a:pt x="1263" y="8621"/>
                      <a:pt x="1846" y="8621"/>
                    </a:cubicBezTo>
                    <a:lnTo>
                      <a:pt x="2954" y="8621"/>
                    </a:lnTo>
                    <a:lnTo>
                      <a:pt x="2954"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spTree>
    <p:extLst>
      <p:ext uri="{BB962C8B-B14F-4D97-AF65-F5344CB8AC3E}">
        <p14:creationId xmlns:p14="http://schemas.microsoft.com/office/powerpoint/2010/main" val="2251008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7689BF0-D88D-67CB-8248-6A25C9FFA131}"/>
              </a:ext>
            </a:extLst>
          </p:cNvPr>
          <p:cNvSpPr>
            <a:spLocks noGrp="1"/>
          </p:cNvSpPr>
          <p:nvPr>
            <p:ph idx="1"/>
          </p:nvPr>
        </p:nvSpPr>
        <p:spPr/>
        <p:txBody>
          <a:bodyPr/>
          <a:lstStyle/>
          <a:p>
            <a:pPr marL="50800" indent="0">
              <a:buNone/>
            </a:pPr>
            <a:r>
              <a:rPr lang="en-US" sz="2000" b="1" dirty="0"/>
              <a:t>Retinex Model:</a:t>
            </a:r>
            <a:endParaRPr lang="en-US" sz="2000" dirty="0"/>
          </a:p>
          <a:p>
            <a:pPr marL="50800" indent="0" algn="just">
              <a:buNone/>
            </a:pPr>
            <a:r>
              <a:rPr lang="en-US" sz="1600" dirty="0"/>
              <a:t>Retinex model is an image processing technique used primarily for image enhancement. It is particularly effective in improving images captured under low-light conditions. The method operates by transforming an image into the frequency domain, where the image's illumination and reflectance components can be separately manipulated.</a:t>
            </a:r>
          </a:p>
          <a:p>
            <a:pPr marL="50800" indent="0">
              <a:buNone/>
            </a:pPr>
            <a:r>
              <a:rPr lang="en-US" sz="1800" dirty="0"/>
              <a:t> </a:t>
            </a:r>
            <a:r>
              <a:rPr lang="en-US" sz="2000" b="1" dirty="0"/>
              <a:t>Applications:</a:t>
            </a:r>
          </a:p>
          <a:p>
            <a:pPr marL="285750" indent="-285750"/>
            <a:r>
              <a:rPr lang="en-US" sz="1600" b="1" dirty="0"/>
              <a:t>Low-Light Image Enhancement</a:t>
            </a:r>
            <a:r>
              <a:rPr lang="en-US" sz="1600" dirty="0"/>
              <a:t>: Improves visibility and detail in images captured under poor lighting conditions.</a:t>
            </a:r>
          </a:p>
          <a:p>
            <a:pPr marL="285750" indent="-285750"/>
            <a:r>
              <a:rPr lang="en-US" sz="1600" b="1" dirty="0"/>
              <a:t>Medical Imaging</a:t>
            </a:r>
            <a:r>
              <a:rPr lang="en-US" sz="1800" dirty="0"/>
              <a:t>:</a:t>
            </a:r>
            <a:r>
              <a:rPr lang="en-US" sz="1600" dirty="0"/>
              <a:t> Enhances features in medical scans, aiding in diagnosis.</a:t>
            </a:r>
          </a:p>
          <a:p>
            <a:pPr marL="285750" indent="-285750"/>
            <a:r>
              <a:rPr lang="en-US" sz="1600" b="1" dirty="0"/>
              <a:t>Remote Sensing</a:t>
            </a:r>
            <a:r>
              <a:rPr lang="en-US" sz="1600" dirty="0"/>
              <a:t>:</a:t>
            </a:r>
            <a:r>
              <a:rPr lang="en-US" sz="1800" dirty="0"/>
              <a:t> </a:t>
            </a:r>
            <a:r>
              <a:rPr lang="en-US" sz="1600" dirty="0"/>
              <a:t>Enhances satellite images for better analysis and interpretation.</a:t>
            </a:r>
          </a:p>
          <a:p>
            <a:pPr marL="285750" indent="-285750"/>
            <a:endParaRPr lang="en-US" sz="1800"/>
          </a:p>
          <a:p>
            <a:pPr marL="50800" indent="0">
              <a:buNone/>
            </a:pPr>
            <a:endParaRPr lang="en-US" sz="1800"/>
          </a:p>
          <a:p>
            <a:endParaRPr lang="en-US" sz="1800"/>
          </a:p>
        </p:txBody>
      </p:sp>
      <p:sp>
        <p:nvSpPr>
          <p:cNvPr id="3" name="Slide Number Placeholder 2">
            <a:extLst>
              <a:ext uri="{FF2B5EF4-FFF2-40B4-BE49-F238E27FC236}">
                <a16:creationId xmlns:a16="http://schemas.microsoft.com/office/drawing/2014/main" id="{F7368556-3A64-B6FE-FD04-59C234059A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t>10</a:t>
            </a:fld>
            <a:endParaRPr lang="en-US"/>
          </a:p>
        </p:txBody>
      </p:sp>
    </p:spTree>
    <p:extLst>
      <p:ext uri="{BB962C8B-B14F-4D97-AF65-F5344CB8AC3E}">
        <p14:creationId xmlns:p14="http://schemas.microsoft.com/office/powerpoint/2010/main" val="318021473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45196-4AFD-2683-015E-90B37EA4B575}"/>
              </a:ext>
            </a:extLst>
          </p:cNvPr>
          <p:cNvSpPr>
            <a:spLocks noGrp="1"/>
          </p:cNvSpPr>
          <p:nvPr>
            <p:ph idx="1"/>
          </p:nvPr>
        </p:nvSpPr>
        <p:spPr>
          <a:xfrm>
            <a:off x="398621" y="979010"/>
            <a:ext cx="4521491" cy="1463040"/>
          </a:xfrm>
        </p:spPr>
        <p:txBody>
          <a:bodyPr anchor="ctr">
            <a:normAutofit fontScale="92500" lnSpcReduction="20000"/>
          </a:bodyPr>
          <a:lstStyle/>
          <a:p>
            <a:pPr marL="285750" indent="-285750"/>
            <a:endParaRPr lang="en-US" sz="2400" b="1"/>
          </a:p>
          <a:p>
            <a:pPr marL="50800" indent="0">
              <a:buNone/>
            </a:pPr>
            <a:r>
              <a:rPr lang="en-US" sz="2400" b="1"/>
              <a:t>Architecture:</a:t>
            </a:r>
          </a:p>
          <a:p>
            <a:pPr marL="50800" indent="0">
              <a:buNone/>
            </a:pPr>
            <a:r>
              <a:rPr lang="en-US" sz="2000"/>
              <a:t>Low Illumination Image Enhancement Algorithm </a:t>
            </a:r>
            <a:endParaRPr lang="en-US"/>
          </a:p>
          <a:p>
            <a:pPr marL="50800" indent="0">
              <a:buNone/>
            </a:pPr>
            <a:endParaRPr lang="en-US" sz="2200" b="1"/>
          </a:p>
          <a:p>
            <a:pPr marL="50800" indent="0">
              <a:buNone/>
            </a:pPr>
            <a:endParaRPr lang="en-US" sz="2200" b="1"/>
          </a:p>
        </p:txBody>
      </p:sp>
      <p:sp>
        <p:nvSpPr>
          <p:cNvPr id="4" name="Slide Number Placeholder 3">
            <a:extLst>
              <a:ext uri="{FF2B5EF4-FFF2-40B4-BE49-F238E27FC236}">
                <a16:creationId xmlns:a16="http://schemas.microsoft.com/office/drawing/2014/main" id="{960A73CF-F82A-393A-DF43-5AD9F7A2DDCD}"/>
              </a:ext>
            </a:extLst>
          </p:cNvPr>
          <p:cNvSpPr>
            <a:spLocks noGrp="1"/>
          </p:cNvSpPr>
          <p:nvPr>
            <p:ph type="sldNum" sz="quarter" idx="12"/>
          </p:nvPr>
        </p:nvSpPr>
        <p:spPr>
          <a:xfrm>
            <a:off x="8610600" y="6356350"/>
            <a:ext cx="2743200" cy="365125"/>
          </a:xfrm>
        </p:spPr>
        <p:txBody>
          <a:bodyPr>
            <a:normAutofit/>
          </a:bodyPr>
          <a:lstStyle/>
          <a:p>
            <a:pPr>
              <a:lnSpc>
                <a:spcPct val="90000"/>
              </a:lnSpc>
              <a:spcAft>
                <a:spcPts val="600"/>
              </a:spcAft>
            </a:pPr>
            <a:fld id="{330EA680-D336-4FF7-8B7A-9848BB0A1C32}" type="slidenum">
              <a:rPr lang="en-US" sz="1400"/>
              <a:pPr>
                <a:lnSpc>
                  <a:spcPct val="90000"/>
                </a:lnSpc>
                <a:spcAft>
                  <a:spcPts val="600"/>
                </a:spcAft>
              </a:pPr>
              <a:t>11</a:t>
            </a:fld>
            <a:endParaRPr lang="en-US" sz="1400"/>
          </a:p>
        </p:txBody>
      </p:sp>
      <p:pic>
        <p:nvPicPr>
          <p:cNvPr id="2" name="Picture 1" descr="A diagram of light processing&#10;&#10;Description automatically generated">
            <a:extLst>
              <a:ext uri="{FF2B5EF4-FFF2-40B4-BE49-F238E27FC236}">
                <a16:creationId xmlns:a16="http://schemas.microsoft.com/office/drawing/2014/main" id="{51467A29-7ABE-1F24-ADC8-CB574768C504}"/>
              </a:ext>
            </a:extLst>
          </p:cNvPr>
          <p:cNvPicPr>
            <a:picLocks noChangeAspect="1"/>
          </p:cNvPicPr>
          <p:nvPr/>
        </p:nvPicPr>
        <p:blipFill>
          <a:blip r:embed="rId2"/>
          <a:stretch>
            <a:fillRect/>
          </a:stretch>
        </p:blipFill>
        <p:spPr>
          <a:xfrm>
            <a:off x="3912733" y="695886"/>
            <a:ext cx="7436303" cy="5731328"/>
          </a:xfrm>
          <a:prstGeom prst="rect">
            <a:avLst/>
          </a:prstGeom>
        </p:spPr>
      </p:pic>
    </p:spTree>
    <p:extLst>
      <p:ext uri="{BB962C8B-B14F-4D97-AF65-F5344CB8AC3E}">
        <p14:creationId xmlns:p14="http://schemas.microsoft.com/office/powerpoint/2010/main" val="225409890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Use Cases &amp; Testing</a:t>
            </a:r>
            <a:endParaRPr lang="en-US" sz="1400" b="0" i="0" u="none" strike="noStrike" cap="none">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Verdana"/>
                <a:ea typeface="Verdana"/>
              </a:rPr>
              <a:t>U</a:t>
            </a:r>
            <a:r>
              <a:rPr lang="en-IN" sz="1800" b="1" dirty="0">
                <a:latin typeface="Verdana"/>
                <a:ea typeface="Verdana"/>
              </a:rPr>
              <a:t>se Cases</a:t>
            </a:r>
          </a:p>
          <a:p>
            <a:pPr marL="285750" indent="-285750" algn="just">
              <a:buFont typeface="Arial" panose="020B0604020202020204" pitchFamily="34" charset="0"/>
              <a:buChar char="•"/>
            </a:pPr>
            <a:r>
              <a:rPr lang="en-IN" sz="1600" b="1" dirty="0">
                <a:latin typeface="Calibri"/>
                <a:ea typeface="Verdana"/>
              </a:rPr>
              <a:t>Night Vision Systems</a:t>
            </a:r>
            <a:r>
              <a:rPr lang="en-IN" sz="1600" dirty="0">
                <a:latin typeface="Calibri"/>
                <a:ea typeface="Verdana"/>
              </a:rPr>
              <a:t>: The algorithm can be implemented in night vision cameras to enhance images captured in low-light environments, such as military surveillance, wildlife monitoring, or nighttime security operations.</a:t>
            </a:r>
          </a:p>
          <a:p>
            <a:pPr marL="285750" indent="-285750" algn="just">
              <a:buFont typeface="Arial" panose="020B0604020202020204" pitchFamily="34" charset="0"/>
              <a:buChar char="•"/>
            </a:pPr>
            <a:r>
              <a:rPr lang="en-IN" sz="1600" b="1" dirty="0">
                <a:latin typeface="Calibri"/>
                <a:ea typeface="Verdana"/>
              </a:rPr>
              <a:t>Outdoor Surveillance</a:t>
            </a:r>
            <a:r>
              <a:rPr lang="en-IN" sz="1600" dirty="0">
                <a:latin typeface="Calibri"/>
                <a:ea typeface="Verdana"/>
              </a:rPr>
              <a:t>: In public safety and security, cameras in outdoor settings often face non-uniform illumination conditions. The algorithm helps enhance low-light surveillance footage, enabling clearer identification of individuals, vehicles, and events, even in shadowed or dimly lit areas.</a:t>
            </a:r>
          </a:p>
          <a:p>
            <a:pPr marL="285750" indent="-285750" algn="just">
              <a:buFont typeface="Arial" panose="020B0604020202020204" pitchFamily="34" charset="0"/>
              <a:buChar char="•"/>
            </a:pPr>
            <a:r>
              <a:rPr lang="en-IN" sz="1600" b="1" dirty="0">
                <a:latin typeface="Calibri"/>
                <a:ea typeface="Verdana"/>
              </a:rPr>
              <a:t>Medical Imaging</a:t>
            </a:r>
            <a:r>
              <a:rPr lang="en-IN" sz="1600" dirty="0">
                <a:latin typeface="Calibri"/>
                <a:ea typeface="Verdana"/>
              </a:rPr>
              <a:t>: Low-illumination conditions are common in some medical imaging scenarios, such as endoscopy or low-exposure X-ray scans. The algorithm could be used to improve image quality without increasing exposure, reducing the risk of damaging sensitive tissues.</a:t>
            </a:r>
          </a:p>
          <a:p>
            <a:pPr marL="285750" marR="0" lvl="0" indent="-285750" rtl="0">
              <a:lnSpc>
                <a:spcPct val="100000"/>
              </a:lnSpc>
              <a:spcBef>
                <a:spcPts val="0"/>
              </a:spcBef>
              <a:spcAft>
                <a:spcPts val="0"/>
              </a:spcAft>
              <a:buFont typeface="Arial" panose="020B0604020202020204" pitchFamily="34" charset="0"/>
              <a:buChar char="•"/>
            </a:pPr>
            <a:endParaRPr lang="en-IN" sz="1600" dirty="0">
              <a:latin typeface="Calibri"/>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03691" y="78800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a:ea typeface="Verdana"/>
              </a:rPr>
              <a:t>Test Cases </a:t>
            </a:r>
          </a:p>
          <a:p>
            <a:pPr marL="285750" indent="-285750" algn="just">
              <a:buFont typeface="Arial" panose="020B0604020202020204" pitchFamily="34" charset="0"/>
              <a:buChar char="•"/>
            </a:pPr>
            <a:r>
              <a:rPr lang="en-IN" sz="1600" b="1" dirty="0">
                <a:latin typeface="Calibri"/>
                <a:ea typeface="Verdana"/>
              </a:rPr>
              <a:t>Qualitative Testing</a:t>
            </a:r>
            <a:r>
              <a:rPr lang="en-IN" sz="1600" dirty="0">
                <a:latin typeface="Calibri"/>
                <a:ea typeface="Verdana"/>
              </a:rPr>
              <a:t>: Different images, such as night scenes, shadowed areas, and backlit environments, were used to assess the algorithm’s ability to enhance image details while maintaining natural colour. The proposed method was shown to improve contrast and reduce noise while avoiding common issues like halo effects and over-enhancement.</a:t>
            </a:r>
          </a:p>
          <a:p>
            <a:pPr marL="285750" indent="-285750" algn="just">
              <a:buFont typeface="Arial" panose="020B0604020202020204" pitchFamily="34" charset="0"/>
              <a:buChar char="•"/>
            </a:pPr>
            <a:r>
              <a:rPr lang="en-IN" sz="1600" b="1" dirty="0">
                <a:latin typeface="Calibri"/>
                <a:ea typeface="Verdana"/>
              </a:rPr>
              <a:t>Quantitative Testing</a:t>
            </a:r>
            <a:r>
              <a:rPr lang="en-IN" sz="1600" dirty="0">
                <a:latin typeface="Calibri"/>
                <a:ea typeface="Verdana"/>
              </a:rPr>
              <a:t>: Objective measures like edge visibility, gradient ratios, and information loss thresholds were calculated. The algorithm consistently outperformed others by enhancing low-light details without introducing noise or distorting colour. </a:t>
            </a:r>
          </a:p>
          <a:p>
            <a:pPr marL="285750" marR="0" lvl="0" indent="-285750" algn="just" rtl="0">
              <a:lnSpc>
                <a:spcPct val="100000"/>
              </a:lnSpc>
              <a:spcBef>
                <a:spcPts val="0"/>
              </a:spcBef>
              <a:spcAft>
                <a:spcPts val="0"/>
              </a:spcAft>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Implementation and Results – Iteration 1 </a:t>
            </a:r>
            <a:endParaRPr lang="en-US" sz="1400" b="0" i="0" u="none" strike="noStrike" cap="none">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a:latin typeface="Verdana" panose="020B0604030504040204" pitchFamily="34" charset="0"/>
                <a:ea typeface="Verdana" panose="020B0604030504040204" pitchFamily="34" charset="0"/>
              </a:rPr>
              <a:t>Iteration 1 : Results </a:t>
            </a:r>
          </a:p>
          <a:p>
            <a:pPr marL="0" marR="0" lvl="0" indent="0" rtl="0">
              <a:lnSpc>
                <a:spcPct val="100000"/>
              </a:lnSpc>
              <a:spcBef>
                <a:spcPts val="0"/>
              </a:spcBef>
              <a:spcAft>
                <a:spcPts val="0"/>
              </a:spcAft>
              <a:buNone/>
            </a:pPr>
            <a:endParaRPr lang="en-IN">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a:latin typeface="Verdana" panose="020B0604030504040204" pitchFamily="34" charset="0"/>
              <a:ea typeface="Verdana" panose="020B0604030504040204" pitchFamily="34" charset="0"/>
            </a:endParaRPr>
          </a:p>
        </p:txBody>
      </p:sp>
      <p:pic>
        <p:nvPicPr>
          <p:cNvPr id="6" name="Content Placeholder 4" descr="A group of bicycles parked on a sidewalk&#10;&#10;Description automatically generated">
            <a:extLst>
              <a:ext uri="{FF2B5EF4-FFF2-40B4-BE49-F238E27FC236}">
                <a16:creationId xmlns:a16="http://schemas.microsoft.com/office/drawing/2014/main" id="{139A1FC0-4B2D-3222-2411-16D57A279EC8}"/>
              </a:ext>
            </a:extLst>
          </p:cNvPr>
          <p:cNvPicPr>
            <a:picLocks noChangeAspect="1"/>
          </p:cNvPicPr>
          <p:nvPr/>
        </p:nvPicPr>
        <p:blipFill>
          <a:blip r:embed="rId2"/>
          <a:srcRect t="8210" r="-1" b="-1"/>
          <a:stretch/>
        </p:blipFill>
        <p:spPr>
          <a:xfrm>
            <a:off x="1929" y="1642845"/>
            <a:ext cx="6025437" cy="4203420"/>
          </a:xfrm>
          <a:custGeom>
            <a:avLst/>
            <a:gdLst/>
            <a:ahLst/>
            <a:cxnLst/>
            <a:rect l="l" t="t" r="r" b="b"/>
            <a:pathLst>
              <a:path w="6005375" h="4189309">
                <a:moveTo>
                  <a:pt x="5422311" y="873"/>
                </a:moveTo>
                <a:cubicBezTo>
                  <a:pt x="5467738" y="-1249"/>
                  <a:pt x="5513346" y="499"/>
                  <a:pt x="5558643" y="6137"/>
                </a:cubicBezTo>
                <a:cubicBezTo>
                  <a:pt x="5633356" y="13367"/>
                  <a:pt x="5708323" y="18441"/>
                  <a:pt x="5783036" y="26052"/>
                </a:cubicBezTo>
                <a:cubicBezTo>
                  <a:pt x="5816269" y="29477"/>
                  <a:pt x="5849884" y="16792"/>
                  <a:pt x="5882612" y="28462"/>
                </a:cubicBezTo>
                <a:cubicBezTo>
                  <a:pt x="5909726" y="38166"/>
                  <a:pt x="5937089" y="43856"/>
                  <a:pt x="5964555" y="46416"/>
                </a:cubicBezTo>
                <a:lnTo>
                  <a:pt x="5997178" y="46088"/>
                </a:lnTo>
                <a:lnTo>
                  <a:pt x="5995170" y="275470"/>
                </a:lnTo>
                <a:cubicBezTo>
                  <a:pt x="5993432" y="411056"/>
                  <a:pt x="5993035" y="546624"/>
                  <a:pt x="5999656" y="682159"/>
                </a:cubicBezTo>
                <a:cubicBezTo>
                  <a:pt x="6009854" y="891918"/>
                  <a:pt x="6003364" y="1101545"/>
                  <a:pt x="5999656" y="1311172"/>
                </a:cubicBezTo>
                <a:cubicBezTo>
                  <a:pt x="5992506" y="1713210"/>
                  <a:pt x="6003364" y="2114718"/>
                  <a:pt x="5998730" y="2516227"/>
                </a:cubicBezTo>
                <a:cubicBezTo>
                  <a:pt x="5996744" y="2694204"/>
                  <a:pt x="5998994" y="2871916"/>
                  <a:pt x="6003364" y="3049893"/>
                </a:cubicBezTo>
                <a:cubicBezTo>
                  <a:pt x="6009720" y="3304015"/>
                  <a:pt x="5999922" y="3558268"/>
                  <a:pt x="5989196" y="3812257"/>
                </a:cubicBezTo>
                <a:cubicBezTo>
                  <a:pt x="5985594" y="3882097"/>
                  <a:pt x="5984646" y="3952020"/>
                  <a:pt x="5986348" y="4021878"/>
                </a:cubicBezTo>
                <a:lnTo>
                  <a:pt x="5996786" y="4189309"/>
                </a:lnTo>
                <a:lnTo>
                  <a:pt x="0" y="4189309"/>
                </a:lnTo>
                <a:lnTo>
                  <a:pt x="0" y="27247"/>
                </a:lnTo>
                <a:lnTo>
                  <a:pt x="495" y="27408"/>
                </a:lnTo>
                <a:cubicBezTo>
                  <a:pt x="5176" y="27551"/>
                  <a:pt x="10686" y="26465"/>
                  <a:pt x="17314" y="23896"/>
                </a:cubicBezTo>
                <a:cubicBezTo>
                  <a:pt x="33823" y="19050"/>
                  <a:pt x="50862" y="16234"/>
                  <a:pt x="68053" y="15524"/>
                </a:cubicBezTo>
                <a:cubicBezTo>
                  <a:pt x="200481" y="-1093"/>
                  <a:pt x="333037" y="3346"/>
                  <a:pt x="466100" y="8801"/>
                </a:cubicBezTo>
                <a:cubicBezTo>
                  <a:pt x="697850" y="18187"/>
                  <a:pt x="929854" y="29096"/>
                  <a:pt x="1161985" y="25798"/>
                </a:cubicBezTo>
                <a:cubicBezTo>
                  <a:pt x="1397540" y="22373"/>
                  <a:pt x="1632588" y="29604"/>
                  <a:pt x="1867890" y="39117"/>
                </a:cubicBezTo>
                <a:cubicBezTo>
                  <a:pt x="1971017" y="43050"/>
                  <a:pt x="2074779" y="46982"/>
                  <a:pt x="2176256" y="17680"/>
                </a:cubicBezTo>
                <a:cubicBezTo>
                  <a:pt x="2199190" y="12314"/>
                  <a:pt x="2223101" y="12834"/>
                  <a:pt x="2245769" y="19202"/>
                </a:cubicBezTo>
                <a:cubicBezTo>
                  <a:pt x="2359678" y="45713"/>
                  <a:pt x="2474221" y="53578"/>
                  <a:pt x="2589398" y="27447"/>
                </a:cubicBezTo>
                <a:cubicBezTo>
                  <a:pt x="2721802" y="-1220"/>
                  <a:pt x="2858087" y="-7347"/>
                  <a:pt x="2992519" y="9308"/>
                </a:cubicBezTo>
                <a:cubicBezTo>
                  <a:pt x="3115435" y="23008"/>
                  <a:pt x="3238984" y="37849"/>
                  <a:pt x="3362153" y="26813"/>
                </a:cubicBezTo>
                <a:cubicBezTo>
                  <a:pt x="3556737" y="9308"/>
                  <a:pt x="3751067" y="24530"/>
                  <a:pt x="3945651" y="29223"/>
                </a:cubicBezTo>
                <a:cubicBezTo>
                  <a:pt x="4010343" y="30745"/>
                  <a:pt x="4075416" y="44064"/>
                  <a:pt x="4139727" y="32141"/>
                </a:cubicBezTo>
                <a:cubicBezTo>
                  <a:pt x="4241079" y="13367"/>
                  <a:pt x="4341288" y="20597"/>
                  <a:pt x="4442766" y="31126"/>
                </a:cubicBezTo>
                <a:cubicBezTo>
                  <a:pt x="4637096" y="51422"/>
                  <a:pt x="4831299" y="61189"/>
                  <a:pt x="5024742" y="23134"/>
                </a:cubicBezTo>
                <a:cubicBezTo>
                  <a:pt x="5084742" y="11211"/>
                  <a:pt x="5144359" y="4361"/>
                  <a:pt x="5205373" y="20344"/>
                </a:cubicBezTo>
                <a:cubicBezTo>
                  <a:pt x="5232315" y="26496"/>
                  <a:pt x="5260361" y="25976"/>
                  <a:pt x="5287062" y="18822"/>
                </a:cubicBezTo>
                <a:cubicBezTo>
                  <a:pt x="5331637" y="8985"/>
                  <a:pt x="5376883" y="2995"/>
                  <a:pt x="5422311" y="873"/>
                </a:cubicBezTo>
                <a:close/>
              </a:path>
            </a:pathLst>
          </a:custGeom>
        </p:spPr>
      </p:pic>
      <p:pic>
        <p:nvPicPr>
          <p:cNvPr id="8" name="Content Placeholder 5" descr="A group of bicycles parked on a sidewalk&#10;&#10;Description automatically generated">
            <a:extLst>
              <a:ext uri="{FF2B5EF4-FFF2-40B4-BE49-F238E27FC236}">
                <a16:creationId xmlns:a16="http://schemas.microsoft.com/office/drawing/2014/main" id="{763F4504-F3FB-41C7-F043-F71827DBD53E}"/>
              </a:ext>
            </a:extLst>
          </p:cNvPr>
          <p:cNvPicPr>
            <a:picLocks noChangeAspect="1"/>
          </p:cNvPicPr>
          <p:nvPr/>
        </p:nvPicPr>
        <p:blipFill>
          <a:blip r:embed="rId3"/>
          <a:srcRect t="9109" r="3" b="3"/>
          <a:stretch/>
        </p:blipFill>
        <p:spPr>
          <a:xfrm>
            <a:off x="6022154" y="1644324"/>
            <a:ext cx="6172193" cy="4200116"/>
          </a:xfrm>
          <a:custGeom>
            <a:avLst/>
            <a:gdLst/>
            <a:ahLst/>
            <a:cxnLst/>
            <a:rect l="l" t="t" r="r" b="b"/>
            <a:pathLst>
              <a:path w="6006950" h="4200116">
                <a:moveTo>
                  <a:pt x="1035902" y="878"/>
                </a:moveTo>
                <a:cubicBezTo>
                  <a:pt x="1135908" y="5076"/>
                  <a:pt x="1234824" y="23223"/>
                  <a:pt x="1334526" y="31024"/>
                </a:cubicBezTo>
                <a:cubicBezTo>
                  <a:pt x="1429408" y="38508"/>
                  <a:pt x="1524290" y="49417"/>
                  <a:pt x="1619679" y="34449"/>
                </a:cubicBezTo>
                <a:cubicBezTo>
                  <a:pt x="1713242" y="21726"/>
                  <a:pt x="1807870" y="18745"/>
                  <a:pt x="1902041" y="25570"/>
                </a:cubicBezTo>
                <a:cubicBezTo>
                  <a:pt x="2006183" y="30770"/>
                  <a:pt x="2110071" y="48021"/>
                  <a:pt x="2214847" y="33561"/>
                </a:cubicBezTo>
                <a:cubicBezTo>
                  <a:pt x="2228052" y="32216"/>
                  <a:pt x="2241384" y="33954"/>
                  <a:pt x="2253790" y="38635"/>
                </a:cubicBezTo>
                <a:cubicBezTo>
                  <a:pt x="2294520" y="52169"/>
                  <a:pt x="2338397" y="53007"/>
                  <a:pt x="2379622" y="41045"/>
                </a:cubicBezTo>
                <a:cubicBezTo>
                  <a:pt x="2431756" y="27168"/>
                  <a:pt x="2486503" y="26254"/>
                  <a:pt x="2539069" y="38381"/>
                </a:cubicBezTo>
                <a:cubicBezTo>
                  <a:pt x="2617207" y="55379"/>
                  <a:pt x="2695598" y="72123"/>
                  <a:pt x="2776908" y="58169"/>
                </a:cubicBezTo>
                <a:cubicBezTo>
                  <a:pt x="2824222" y="50178"/>
                  <a:pt x="2868111" y="30770"/>
                  <a:pt x="2914791" y="21637"/>
                </a:cubicBezTo>
                <a:cubicBezTo>
                  <a:pt x="3049249" y="-4620"/>
                  <a:pt x="3184976" y="3244"/>
                  <a:pt x="3320703" y="12124"/>
                </a:cubicBezTo>
                <a:cubicBezTo>
                  <a:pt x="3453259" y="20876"/>
                  <a:pt x="3585179" y="38888"/>
                  <a:pt x="3718496" y="36225"/>
                </a:cubicBezTo>
                <a:cubicBezTo>
                  <a:pt x="3746884" y="36440"/>
                  <a:pt x="3775210" y="38812"/>
                  <a:pt x="3803230" y="43328"/>
                </a:cubicBezTo>
                <a:cubicBezTo>
                  <a:pt x="3907245" y="57028"/>
                  <a:pt x="4011767" y="69966"/>
                  <a:pt x="4114640" y="42313"/>
                </a:cubicBezTo>
                <a:cubicBezTo>
                  <a:pt x="4206871" y="17312"/>
                  <a:pt x="4303111" y="10677"/>
                  <a:pt x="4397891" y="22779"/>
                </a:cubicBezTo>
                <a:cubicBezTo>
                  <a:pt x="4522696" y="39130"/>
                  <a:pt x="4648846" y="42707"/>
                  <a:pt x="4774374" y="33434"/>
                </a:cubicBezTo>
                <a:cubicBezTo>
                  <a:pt x="4813773" y="29515"/>
                  <a:pt x="4853387" y="28107"/>
                  <a:pt x="4892977" y="29248"/>
                </a:cubicBezTo>
                <a:cubicBezTo>
                  <a:pt x="5181681" y="42440"/>
                  <a:pt x="5471273" y="25062"/>
                  <a:pt x="5759471" y="55759"/>
                </a:cubicBezTo>
                <a:cubicBezTo>
                  <a:pt x="5805028" y="61131"/>
                  <a:pt x="5850896" y="61524"/>
                  <a:pt x="5896277" y="57017"/>
                </a:cubicBezTo>
                <a:lnTo>
                  <a:pt x="6006950" y="33749"/>
                </a:lnTo>
                <a:lnTo>
                  <a:pt x="6006950" y="4200116"/>
                </a:lnTo>
                <a:lnTo>
                  <a:pt x="13501" y="4200116"/>
                </a:lnTo>
                <a:lnTo>
                  <a:pt x="28554" y="3862213"/>
                </a:lnTo>
                <a:cubicBezTo>
                  <a:pt x="30457" y="3736758"/>
                  <a:pt x="27411" y="3611386"/>
                  <a:pt x="15626" y="3486312"/>
                </a:cubicBezTo>
                <a:cubicBezTo>
                  <a:pt x="-847" y="3333707"/>
                  <a:pt x="-4304" y="3179990"/>
                  <a:pt x="5296" y="3026802"/>
                </a:cubicBezTo>
                <a:cubicBezTo>
                  <a:pt x="11786" y="2939137"/>
                  <a:pt x="18539" y="2851472"/>
                  <a:pt x="22776" y="2763676"/>
                </a:cubicBezTo>
                <a:cubicBezTo>
                  <a:pt x="28180" y="2638786"/>
                  <a:pt x="25173" y="2513673"/>
                  <a:pt x="13771" y="2389181"/>
                </a:cubicBezTo>
                <a:cubicBezTo>
                  <a:pt x="4237" y="2294247"/>
                  <a:pt x="3177" y="2198663"/>
                  <a:pt x="10593" y="2103543"/>
                </a:cubicBezTo>
                <a:cubicBezTo>
                  <a:pt x="25690" y="1941590"/>
                  <a:pt x="9931" y="1779636"/>
                  <a:pt x="5032" y="1617814"/>
                </a:cubicBezTo>
                <a:cubicBezTo>
                  <a:pt x="-3577" y="1320125"/>
                  <a:pt x="20393" y="1022570"/>
                  <a:pt x="9666" y="724882"/>
                </a:cubicBezTo>
                <a:cubicBezTo>
                  <a:pt x="3841" y="577627"/>
                  <a:pt x="16420" y="430504"/>
                  <a:pt x="9666" y="283249"/>
                </a:cubicBezTo>
                <a:cubicBezTo>
                  <a:pt x="6885" y="230875"/>
                  <a:pt x="4568" y="178502"/>
                  <a:pt x="3409" y="126111"/>
                </a:cubicBezTo>
                <a:lnTo>
                  <a:pt x="3819" y="33427"/>
                </a:lnTo>
                <a:lnTo>
                  <a:pt x="31797" y="28723"/>
                </a:lnTo>
                <a:cubicBezTo>
                  <a:pt x="147177" y="14068"/>
                  <a:pt x="264046" y="13354"/>
                  <a:pt x="379873" y="26711"/>
                </a:cubicBezTo>
                <a:cubicBezTo>
                  <a:pt x="443931" y="35083"/>
                  <a:pt x="508243" y="47768"/>
                  <a:pt x="573442" y="35083"/>
                </a:cubicBezTo>
                <a:cubicBezTo>
                  <a:pt x="579581" y="33992"/>
                  <a:pt x="585759" y="36757"/>
                  <a:pt x="589044" y="42060"/>
                </a:cubicBezTo>
                <a:cubicBezTo>
                  <a:pt x="621264" y="81382"/>
                  <a:pt x="663123" y="80114"/>
                  <a:pt x="705871" y="67429"/>
                </a:cubicBezTo>
                <a:cubicBezTo>
                  <a:pt x="733929" y="58740"/>
                  <a:pt x="761430" y="48326"/>
                  <a:pt x="788194" y="36225"/>
                </a:cubicBezTo>
                <a:cubicBezTo>
                  <a:pt x="835052" y="16792"/>
                  <a:pt x="884827" y="5299"/>
                  <a:pt x="935464" y="2230"/>
                </a:cubicBezTo>
                <a:cubicBezTo>
                  <a:pt x="969111" y="-370"/>
                  <a:pt x="1002567" y="-521"/>
                  <a:pt x="1035902" y="878"/>
                </a:cubicBezTo>
                <a:close/>
              </a:path>
            </a:pathLst>
          </a:custGeom>
        </p:spPr>
      </p:pic>
    </p:spTree>
    <p:extLst>
      <p:ext uri="{BB962C8B-B14F-4D97-AF65-F5344CB8AC3E}">
        <p14:creationId xmlns:p14="http://schemas.microsoft.com/office/powerpoint/2010/main" val="1229190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Implementation and Results – Iteration 2 </a:t>
            </a:r>
            <a:endParaRPr lang="en-US" sz="1400" b="0" i="0" u="none" strike="noStrike" cap="none">
              <a:solidFill>
                <a:srgbClr val="000000"/>
              </a:solidFill>
              <a:latin typeface="Arial"/>
              <a:ea typeface="Arial"/>
              <a:cs typeface="Arial"/>
              <a:sym typeface="Arial"/>
            </a:endParaRPr>
          </a:p>
        </p:txBody>
      </p:sp>
      <p:pic>
        <p:nvPicPr>
          <p:cNvPr id="6" name="Content Placeholder 4" descr="A black and white photo of a machine in a building&#10;&#10;Description automatically generated">
            <a:extLst>
              <a:ext uri="{FF2B5EF4-FFF2-40B4-BE49-F238E27FC236}">
                <a16:creationId xmlns:a16="http://schemas.microsoft.com/office/drawing/2014/main" id="{7FEBB57D-09B2-97C4-0271-9E781AEED1F7}"/>
              </a:ext>
            </a:extLst>
          </p:cNvPr>
          <p:cNvPicPr>
            <a:picLocks noChangeAspect="1"/>
          </p:cNvPicPr>
          <p:nvPr/>
        </p:nvPicPr>
        <p:blipFill>
          <a:blip r:embed="rId2"/>
          <a:stretch>
            <a:fillRect/>
          </a:stretch>
        </p:blipFill>
        <p:spPr>
          <a:xfrm>
            <a:off x="-4617" y="851031"/>
            <a:ext cx="11810999" cy="6006192"/>
          </a:xfrm>
          <a:prstGeom prst="rect">
            <a:avLst/>
          </a:prstGeom>
        </p:spPr>
      </p:pic>
    </p:spTree>
    <p:extLst>
      <p:ext uri="{BB962C8B-B14F-4D97-AF65-F5344CB8AC3E}">
        <p14:creationId xmlns:p14="http://schemas.microsoft.com/office/powerpoint/2010/main" val="276146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ollage of a building on a cliff&#10;&#10;Description automatically generated">
            <a:extLst>
              <a:ext uri="{FF2B5EF4-FFF2-40B4-BE49-F238E27FC236}">
                <a16:creationId xmlns:a16="http://schemas.microsoft.com/office/drawing/2014/main" id="{1B023D64-233A-05BF-23AF-0B93C5825360}"/>
              </a:ext>
            </a:extLst>
          </p:cNvPr>
          <p:cNvPicPr>
            <a:picLocks noGrp="1" noChangeAspect="1"/>
          </p:cNvPicPr>
          <p:nvPr>
            <p:ph idx="1"/>
          </p:nvPr>
        </p:nvPicPr>
        <p:blipFill>
          <a:blip r:embed="rId2"/>
          <a:stretch>
            <a:fillRect/>
          </a:stretch>
        </p:blipFill>
        <p:spPr>
          <a:xfrm>
            <a:off x="643467" y="1397932"/>
            <a:ext cx="10905066" cy="4062135"/>
          </a:xfrm>
          <a:prstGeom prst="rect">
            <a:avLst/>
          </a:prstGeom>
        </p:spPr>
      </p:pic>
      <p:sp>
        <p:nvSpPr>
          <p:cNvPr id="4" name="Slide Number Placeholder 3">
            <a:extLst>
              <a:ext uri="{FF2B5EF4-FFF2-40B4-BE49-F238E27FC236}">
                <a16:creationId xmlns:a16="http://schemas.microsoft.com/office/drawing/2014/main" id="{EBD7A3B2-A341-49BA-E691-4F8A94E4C97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30EA680-D336-4FF7-8B7A-9848BB0A1C32}" type="slidenum">
              <a:rPr lang="en-US" sz="1200" kern="1200" smtClean="0">
                <a:solidFill>
                  <a:schemeClr val="tx1">
                    <a:tint val="75000"/>
                  </a:schemeClr>
                </a:solidFill>
                <a:latin typeface="+mn-lt"/>
                <a:ea typeface="+mn-ea"/>
                <a:cs typeface="+mn-cs"/>
              </a:rPr>
              <a:pPr>
                <a:spcAft>
                  <a:spcPts val="600"/>
                </a:spcAft>
              </a:pPr>
              <a:t>15</a:t>
            </a:fld>
            <a:endParaRPr lang="en-US" sz="12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400567467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2842-485B-A1BA-74A8-3079DADFFA4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35B471-CC7E-7CB9-A4D6-FB503C8052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4" name="Google Shape;125;p3">
            <a:extLst>
              <a:ext uri="{FF2B5EF4-FFF2-40B4-BE49-F238E27FC236}">
                <a16:creationId xmlns:a16="http://schemas.microsoft.com/office/drawing/2014/main" id="{67F9DACA-35DE-941A-CCEE-D335FBEB89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Contribution</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5951DA8A-453F-9B13-3160-FA60A7CB42E6}"/>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Team Progress and Movement</a:t>
            </a:r>
          </a:p>
          <a:p>
            <a:pPr marL="285750" indent="-285750" algn="just">
              <a:buFont typeface="Arial" panose="020B0604020202020204" pitchFamily="34" charset="0"/>
              <a:buChar char="•"/>
            </a:pPr>
            <a:r>
              <a:rPr lang="en-IN" sz="1600" b="1" dirty="0">
                <a:latin typeface="Calibri"/>
                <a:ea typeface="Verdana"/>
              </a:rPr>
              <a:t>Initial Planning and Role Assignment</a:t>
            </a:r>
            <a:r>
              <a:rPr lang="en-IN" sz="1600" dirty="0">
                <a:latin typeface="Calibri"/>
                <a:ea typeface="Verdana"/>
              </a:rPr>
              <a:t>: Individual roles were assigned based on expertise. For instance, some members focused on code development, while others handled testing, analysis, and documentation.</a:t>
            </a:r>
          </a:p>
          <a:p>
            <a:pPr marL="285750" indent="-285750" algn="just">
              <a:buFont typeface="Arial" panose="020B0604020202020204" pitchFamily="34" charset="0"/>
              <a:buChar char="•"/>
            </a:pPr>
            <a:r>
              <a:rPr lang="en-IN" sz="1600" b="1" dirty="0">
                <a:latin typeface="Calibri"/>
                <a:ea typeface="Verdana"/>
              </a:rPr>
              <a:t>Research and Development Phase</a:t>
            </a:r>
            <a:r>
              <a:rPr lang="en-IN" sz="1600" dirty="0">
                <a:latin typeface="Calibri"/>
                <a:ea typeface="Verdana"/>
              </a:rPr>
              <a:t>: Team members surveyed different research papers and explored different methods to address the problem.</a:t>
            </a:r>
            <a:endParaRPr lang="en-IN" sz="1600">
              <a:latin typeface="Calibri"/>
              <a:ea typeface="Verdana" panose="020B0604030504040204" pitchFamily="34" charset="0"/>
            </a:endParaRPr>
          </a:p>
          <a:p>
            <a:pPr marL="285750" indent="-285750" algn="just">
              <a:buFont typeface="Arial" panose="020B0604020202020204" pitchFamily="34" charset="0"/>
              <a:buChar char="•"/>
            </a:pPr>
            <a:r>
              <a:rPr lang="en-IN" sz="1600" b="1" dirty="0">
                <a:latin typeface="Calibri"/>
                <a:ea typeface="Verdana"/>
              </a:rPr>
              <a:t>Iterative Improvements and Problem Solving</a:t>
            </a:r>
            <a:r>
              <a:rPr lang="en-IN" sz="1600" dirty="0">
                <a:latin typeface="Calibri"/>
                <a:ea typeface="Verdana"/>
              </a:rPr>
              <a:t>: The team faced challenges getting the clear details of image so we have addressed it by minimizing artifacts for example halo effects and over enhancement.</a:t>
            </a:r>
            <a:endParaRPr lang="en-IN" sz="1600">
              <a:latin typeface="Calibri"/>
              <a:ea typeface="Verdana" panose="020B0604030504040204" pitchFamily="34" charset="0"/>
            </a:endParaRPr>
          </a:p>
          <a:p>
            <a:pPr marL="285750" indent="-285750" algn="just">
              <a:buFont typeface="Arial" panose="020B0604020202020204" pitchFamily="34" charset="0"/>
              <a:buChar char="•"/>
            </a:pPr>
            <a:r>
              <a:rPr lang="en-IN" sz="1600" b="1" dirty="0">
                <a:latin typeface="Calibri"/>
                <a:ea typeface="Verdana"/>
              </a:rPr>
              <a:t>Collaboration and Cross-Functionality</a:t>
            </a:r>
            <a:r>
              <a:rPr lang="en-IN" sz="1600" dirty="0">
                <a:latin typeface="Calibri"/>
                <a:ea typeface="Verdana"/>
              </a:rPr>
              <a:t>: Team members worked together across different roles, such as how the testing team provided feedback to the code developers, or how insights from the literature review informed adjustments in the model.</a:t>
            </a:r>
          </a:p>
          <a:p>
            <a:pPr marL="285750" indent="-285750" algn="just">
              <a:buFont typeface="Arial" panose="020B0604020202020204" pitchFamily="34" charset="0"/>
              <a:buChar char="•"/>
            </a:pPr>
            <a:r>
              <a:rPr lang="en-IN" sz="1600" b="1" dirty="0">
                <a:latin typeface="Calibri"/>
              </a:rPr>
              <a:t>Milestone Achievements</a:t>
            </a:r>
            <a:r>
              <a:rPr lang="en-IN" sz="1600" dirty="0">
                <a:latin typeface="Calibri"/>
              </a:rPr>
              <a:t>:</a:t>
            </a:r>
            <a:r>
              <a:rPr lang="en-IN" sz="1600" dirty="0">
                <a:latin typeface="Calibri"/>
                <a:ea typeface="Verdana"/>
              </a:rPr>
              <a:t> After performing the code on various datasets the code gave significant enhancements in the images.  </a:t>
            </a:r>
            <a:endParaRPr lang="en-IN" sz="1600">
              <a:latin typeface="Calibri"/>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E154839C-B3E3-3A7B-9FDD-C49C18A4F130}"/>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Individual Contribution </a:t>
            </a:r>
          </a:p>
          <a:p>
            <a:pPr lvl="3" algn="just"/>
            <a:r>
              <a:rPr lang="en-IN" sz="1600" dirty="0">
                <a:latin typeface="Calibri"/>
                <a:ea typeface="Verdana"/>
              </a:rPr>
              <a:t>Key contributions: </a:t>
            </a:r>
            <a:r>
              <a:rPr lang="en-IN" sz="1600" b="1" dirty="0">
                <a:latin typeface="Calibri"/>
                <a:ea typeface="Verdana"/>
              </a:rPr>
              <a:t>Mohammed Ashraf</a:t>
            </a:r>
          </a:p>
          <a:p>
            <a:pPr marL="285750" indent="-285750" algn="just">
              <a:buFont typeface="Arial" panose="020B0604020202020204" pitchFamily="34" charset="0"/>
              <a:buChar char="•"/>
            </a:pPr>
            <a:r>
              <a:rPr lang="en-IN" sz="1600" dirty="0">
                <a:latin typeface="Calibri"/>
                <a:ea typeface="Verdana"/>
              </a:rPr>
              <a:t>Responsible for developing the code and implementation of Retinex theory and Gaussian filters.</a:t>
            </a:r>
            <a:endParaRPr lang="en-IN" sz="1600">
              <a:latin typeface="Calibri"/>
              <a:ea typeface="Verdana" panose="020B0604030504040204" pitchFamily="34" charset="0"/>
            </a:endParaRPr>
          </a:p>
          <a:p>
            <a:pPr marL="285750" indent="-285750" algn="just">
              <a:buFont typeface="Arial" panose="020B0604020202020204" pitchFamily="34" charset="0"/>
              <a:buChar char="•"/>
            </a:pPr>
            <a:r>
              <a:rPr lang="en-IN" sz="1600" dirty="0">
                <a:latin typeface="Calibri"/>
                <a:ea typeface="Verdana"/>
              </a:rPr>
              <a:t>Handled the testing of various datasets.</a:t>
            </a:r>
          </a:p>
          <a:p>
            <a:pPr lvl="3" algn="just"/>
            <a:r>
              <a:rPr lang="en-IN" sz="1600" dirty="0">
                <a:latin typeface="Calibri"/>
                <a:ea typeface="Verdana"/>
              </a:rPr>
              <a:t>Key contributions:</a:t>
            </a:r>
            <a:r>
              <a:rPr lang="en-IN" sz="1600" b="1" dirty="0">
                <a:latin typeface="Calibri"/>
                <a:ea typeface="Verdana"/>
              </a:rPr>
              <a:t> Shaik Kashida Jabeen </a:t>
            </a:r>
          </a:p>
          <a:p>
            <a:pPr marL="285750" lvl="1" indent="-285750" algn="just">
              <a:buFont typeface="Arial" panose="020B0604020202020204" pitchFamily="34" charset="0"/>
              <a:buChar char="•"/>
            </a:pPr>
            <a:r>
              <a:rPr lang="en-IN" sz="1600" dirty="0">
                <a:latin typeface="Calibri"/>
                <a:ea typeface="Verdana"/>
              </a:rPr>
              <a:t>Contributed to the literature review and theoretical framework, providing analysis of existing enhancement theories.</a:t>
            </a:r>
            <a:endParaRPr lang="en-IN" sz="1600">
              <a:latin typeface="Calibri"/>
              <a:ea typeface="Verdana" panose="020B0604030504040204" pitchFamily="34" charset="0"/>
            </a:endParaRPr>
          </a:p>
          <a:p>
            <a:pPr marL="285750" lvl="1" indent="-285750" algn="just">
              <a:buFont typeface="Arial" panose="020B0604020202020204" pitchFamily="34" charset="0"/>
              <a:buChar char="•"/>
            </a:pPr>
            <a:r>
              <a:rPr lang="en-IN" sz="1600" dirty="0">
                <a:latin typeface="Calibri"/>
                <a:ea typeface="Verdana"/>
              </a:rPr>
              <a:t>Took part in code development</a:t>
            </a:r>
            <a:endParaRPr lang="en-IN" sz="1600">
              <a:latin typeface="Calibri"/>
              <a:ea typeface="Verdana" panose="020B0604030504040204" pitchFamily="34" charset="0"/>
            </a:endParaRPr>
          </a:p>
          <a:p>
            <a:pPr lvl="3" algn="just"/>
            <a:r>
              <a:rPr lang="en-IN" sz="1600" dirty="0">
                <a:latin typeface="Calibri"/>
                <a:ea typeface="Verdana"/>
              </a:rPr>
              <a:t>Key contributions: </a:t>
            </a:r>
            <a:r>
              <a:rPr lang="en-IN" sz="1600" b="1" dirty="0">
                <a:latin typeface="Calibri"/>
                <a:ea typeface="Verdana"/>
              </a:rPr>
              <a:t>Avva Praveen Babu </a:t>
            </a:r>
          </a:p>
          <a:p>
            <a:pPr marL="285750" lvl="1" indent="-285750" algn="just">
              <a:buFont typeface="Arial" panose="020B0604020202020204" pitchFamily="34" charset="0"/>
              <a:buChar char="•"/>
            </a:pPr>
            <a:r>
              <a:rPr lang="en-IN" sz="1600" dirty="0">
                <a:latin typeface="Calibri"/>
                <a:ea typeface="Verdana"/>
              </a:rPr>
              <a:t>Gathered the datasets of various low light images.</a:t>
            </a:r>
            <a:endParaRPr lang="en-IN" sz="1600">
              <a:latin typeface="Calibri"/>
              <a:ea typeface="Verdana" panose="020B0604030504040204" pitchFamily="34" charset="0"/>
            </a:endParaRPr>
          </a:p>
          <a:p>
            <a:pPr marL="285750" indent="-285750" algn="just">
              <a:buFont typeface="Arial" panose="020B0604020202020204" pitchFamily="34" charset="0"/>
              <a:buChar char="•"/>
            </a:pPr>
            <a:r>
              <a:rPr lang="en-IN" sz="1600" dirty="0">
                <a:latin typeface="Calibri"/>
                <a:ea typeface="Verdana"/>
              </a:rPr>
              <a:t>Handled evaluations and compared the performance against other models.</a:t>
            </a:r>
            <a:endParaRPr lang="en-IN" sz="1600">
              <a:latin typeface="Calibri"/>
              <a:ea typeface="Verdana" panose="020B0604030504040204" pitchFamily="34" charset="0"/>
            </a:endParaRPr>
          </a:p>
          <a:p>
            <a:pPr algn="ctr"/>
            <a:r>
              <a:rPr lang="en-IN" sz="1600" dirty="0">
                <a:latin typeface="Calibri"/>
                <a:ea typeface="Verdana"/>
              </a:rPr>
              <a:t>(All team members contributed equally)</a:t>
            </a:r>
            <a:endParaRPr lang="en-IN" sz="1600">
              <a:latin typeface="Calibri"/>
              <a:ea typeface="Verdana" panose="020B0604030504040204" pitchFamily="34" charset="0"/>
            </a:endParaRPr>
          </a:p>
          <a:p>
            <a:pPr marL="285750" marR="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71803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Verdana"/>
                <a:ea typeface="Verdana"/>
              </a:rPr>
              <a:t>Summary and Conclusion </a:t>
            </a:r>
          </a:p>
          <a:p>
            <a:br>
              <a:rPr lang="en-US" dirty="0"/>
            </a:br>
            <a:endParaRPr lang="en-US" dirty="0"/>
          </a:p>
          <a:p>
            <a:pPr algn="just"/>
            <a:r>
              <a:rPr lang="en-IN" sz="1600" dirty="0">
                <a:latin typeface="Calibri"/>
                <a:ea typeface="Verdana"/>
              </a:rPr>
              <a:t>The development of the Low-Illumination Image Enhancement Algorithm Based on Retinex Theory marks a significant advancement in the field of low-light image processing. By addressing the inherent challenges of enhancing images captured in poorly lit environments, the algorithm demonstrates superior performance compared to traditional methods and existing literature. In conclusion, this project provides a valuable contribution to the field of image enhancement by presenting a comprehensive approach that combines </a:t>
            </a:r>
            <a:r>
              <a:rPr lang="en-IN" sz="1600" err="1">
                <a:latin typeface="Calibri"/>
                <a:ea typeface="Verdana"/>
              </a:rPr>
              <a:t>retinex</a:t>
            </a:r>
            <a:r>
              <a:rPr lang="en-IN" sz="1600" dirty="0">
                <a:latin typeface="Calibri"/>
                <a:ea typeface="Verdana"/>
              </a:rPr>
              <a:t> model with iterative refinement. The results not only advance the understanding of low-light image processing but also pave the way for future innovations in this area.</a:t>
            </a:r>
          </a:p>
          <a:p>
            <a:br>
              <a:rPr lang="en-US" dirty="0"/>
            </a:br>
            <a:endParaRPr lang="en-US" dirty="0"/>
          </a:p>
          <a:p>
            <a:endParaRPr lang="en-US" dirty="0">
              <a:ea typeface="Verdana"/>
            </a:endParaRPr>
          </a:p>
          <a:p>
            <a:r>
              <a:rPr lang="en-IN" sz="1600" b="1" dirty="0">
                <a:latin typeface="Verdana"/>
                <a:ea typeface="Verdana"/>
              </a:rPr>
              <a:t>Future Work</a:t>
            </a:r>
          </a:p>
          <a:p>
            <a:pPr algn="just"/>
            <a:r>
              <a:rPr lang="en-IN" sz="1600" b="1" dirty="0">
                <a:latin typeface="Calibri"/>
                <a:ea typeface="Verdana"/>
              </a:rPr>
              <a:t>Integration with Deep Learning Techniques</a:t>
            </a:r>
            <a:r>
              <a:rPr lang="en-IN" sz="1600" dirty="0">
                <a:latin typeface="Calibri"/>
                <a:ea typeface="Verdana"/>
              </a:rPr>
              <a:t>: Future research could explore the combination of the physical lighting model with deep learning approaches to enhance computational efficiency and effectiveness. Using convolutional neural networks (CNNs) could automate the process of parameter estimation and improve the algorithm's adaptability to various low-light conditions.</a:t>
            </a:r>
          </a:p>
          <a:p>
            <a:pPr algn="just"/>
            <a:endParaRPr lang="en-US" sz="1600" b="1" dirty="0">
              <a:latin typeface="Calibri"/>
            </a:endParaRPr>
          </a:p>
          <a:p>
            <a:pPr algn="just"/>
            <a:r>
              <a:rPr lang="en-US" sz="1600" b="1" dirty="0">
                <a:latin typeface="Calibri"/>
              </a:rPr>
              <a:t>Real-Time Processing Capabilities</a:t>
            </a:r>
            <a:r>
              <a:rPr lang="en-US" sz="1600" dirty="0">
                <a:latin typeface="Calibri"/>
              </a:rPr>
              <a:t>: Further development could focus on optimizing the algorithm for real-time applications. Techniques such as model pruning, quantization, or utilizing efficient hardware (like GPUs or specialized accelerators) could be explored to reduce computational overhead while maintaining performance.</a:t>
            </a:r>
            <a:endParaRPr lang="en-US"/>
          </a:p>
          <a:p>
            <a:br>
              <a:rPr lang="en-US" dirty="0"/>
            </a:br>
            <a:endParaRPr lang="en-US" dirty="0"/>
          </a:p>
        </p:txBody>
      </p:sp>
    </p:spTree>
    <p:extLst>
      <p:ext uri="{BB962C8B-B14F-4D97-AF65-F5344CB8AC3E}">
        <p14:creationId xmlns:p14="http://schemas.microsoft.com/office/powerpoint/2010/main" val="2021982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5"/>
          <p:cNvSpPr txBox="1"/>
          <p:nvPr/>
        </p:nvSpPr>
        <p:spPr>
          <a:xfrm>
            <a:off x="4072466" y="3303027"/>
            <a:ext cx="407246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F2A36"/>
                </a:solidFill>
                <a:latin typeface="Arial"/>
                <a:ea typeface="Arial"/>
                <a:cs typeface="Arial"/>
                <a:sym typeface="Arial"/>
              </a:rPr>
              <a:t>THANK YOU</a:t>
            </a:r>
            <a:endParaRPr sz="4400" b="0" i="0" u="none" strike="noStrike" cap="none">
              <a:solidFill>
                <a:srgbClr val="DF2A36"/>
              </a:solidFill>
              <a:latin typeface="Arial"/>
              <a:ea typeface="Arial"/>
              <a:cs typeface="Arial"/>
              <a:sym typeface="Arial"/>
            </a:endParaRPr>
          </a:p>
        </p:txBody>
      </p:sp>
      <p:pic>
        <p:nvPicPr>
          <p:cNvPr id="231" name="Google Shape;231;p35"/>
          <p:cNvPicPr preferRelativeResize="0"/>
          <p:nvPr/>
        </p:nvPicPr>
        <p:blipFill rotWithShape="1">
          <a:blip r:embed="rId3">
            <a:alphaModFix/>
          </a:blip>
          <a:srcRect l="22326" t="32664" r="11837" b="35102"/>
          <a:stretch/>
        </p:blipFill>
        <p:spPr>
          <a:xfrm>
            <a:off x="262467" y="258234"/>
            <a:ext cx="1504951" cy="423333"/>
          </a:xfrm>
          <a:prstGeom prst="rect">
            <a:avLst/>
          </a:prstGeom>
          <a:noFill/>
          <a:ln>
            <a:noFill/>
          </a:ln>
        </p:spPr>
      </p:pic>
      <p:grpSp>
        <p:nvGrpSpPr>
          <p:cNvPr id="232" name="Google Shape;232;p35"/>
          <p:cNvGrpSpPr/>
          <p:nvPr/>
        </p:nvGrpSpPr>
        <p:grpSpPr>
          <a:xfrm>
            <a:off x="11856720" y="1182857"/>
            <a:ext cx="223520" cy="990718"/>
            <a:chOff x="11856720" y="140636"/>
            <a:chExt cx="223520" cy="990718"/>
          </a:xfrm>
        </p:grpSpPr>
        <p:grpSp>
          <p:nvGrpSpPr>
            <p:cNvPr id="233" name="Google Shape;233;p35"/>
            <p:cNvGrpSpPr/>
            <p:nvPr/>
          </p:nvGrpSpPr>
          <p:grpSpPr>
            <a:xfrm>
              <a:off x="11856720" y="660278"/>
              <a:ext cx="223520" cy="471076"/>
              <a:chOff x="9734551" y="3138055"/>
              <a:chExt cx="2457449" cy="1328450"/>
            </a:xfrm>
          </p:grpSpPr>
          <p:sp>
            <p:nvSpPr>
              <p:cNvPr id="234" name="Google Shape;234;p35"/>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235" name="Google Shape;235;p35"/>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236" name="Google Shape;236;p35"/>
            <p:cNvGrpSpPr/>
            <p:nvPr/>
          </p:nvGrpSpPr>
          <p:grpSpPr>
            <a:xfrm>
              <a:off x="11856720" y="140636"/>
              <a:ext cx="223520" cy="471076"/>
              <a:chOff x="9734551" y="3138055"/>
              <a:chExt cx="2457449" cy="1328450"/>
            </a:xfrm>
          </p:grpSpPr>
          <p:sp>
            <p:nvSpPr>
              <p:cNvPr id="237" name="Google Shape;237;p35"/>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238" name="Google Shape;238;p35"/>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239" name="Google Shape;239;p35"/>
          <p:cNvPicPr preferRelativeResize="0"/>
          <p:nvPr/>
        </p:nvPicPr>
        <p:blipFill rotWithShape="1">
          <a:blip r:embed="rId4">
            <a:alphaModFix/>
          </a:blip>
          <a:srcRect/>
          <a:stretch/>
        </p:blipFill>
        <p:spPr>
          <a:xfrm>
            <a:off x="7829549" y="2637368"/>
            <a:ext cx="4931834" cy="49318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4</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Aisswaria Zacharias</dc:creator>
  <cp:revision>62</cp:revision>
  <dcterms:created xsi:type="dcterms:W3CDTF">2021-01-07T12:40:50Z</dcterms:created>
  <dcterms:modified xsi:type="dcterms:W3CDTF">2024-10-18T01:09:34Z</dcterms:modified>
</cp:coreProperties>
</file>