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3_CD6108C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77" r:id="rId1"/>
  </p:sldMasterIdLst>
  <p:notesMasterIdLst>
    <p:notesMasterId r:id="rId3"/>
  </p:notesMasterIdLst>
  <p:sldIdLst>
    <p:sldId id="259" r:id="rId2"/>
  </p:sldIdLst>
  <p:sldSz cx="32004000" cy="36360100"/>
  <p:notesSz cx="37947600" cy="50749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452" userDrawn="1">
          <p15:clr>
            <a:srgbClr val="A4A3A4"/>
          </p15:clr>
        </p15:guide>
        <p15:guide id="2" pos="100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70E55A-CD32-A479-4F8B-9A5A4ABEE5ED}" name="Praveen Shetty" initials="PS" userId="cf5ac78fc1b57eff" providerId="Windows Live"/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CDCD"/>
    <a:srgbClr val="FFF7DA"/>
    <a:srgbClr val="DAC4B2"/>
    <a:srgbClr val="9F282C"/>
    <a:srgbClr val="C00000"/>
    <a:srgbClr val="EDE7E3"/>
    <a:srgbClr val="E5DFDB"/>
    <a:srgbClr val="EDDFDF"/>
    <a:srgbClr val="CA0202"/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5B8AD-E0B3-43EC-968E-DE0165788CAF}" v="5" dt="2025-03-17T10:37:20.685"/>
    <p1510:client id="{BD740FDE-F4BF-4807-AAB6-688A0FA5C647}" v="22" dt="2025-03-18T17:50:48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1452"/>
        <p:guide pos="100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omments/modernComment_103_CD6108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7EE88C-9EFE-4C78-96BD-28F8900C873D}" authorId="{7870E55A-CD32-A479-4F8B-9A5A4ABEE5ED}" created="2025-03-16T09:55:22.1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5355532" sldId="259"/>
      <ac:picMk id="34" creationId="{D06BCCFA-11F1-FB05-2DEF-2133EA0D943A}"/>
    </ac:deMkLst>
    <p188:replyLst>
      <p188:reply id="{1F77F6E8-9DB9-497D-BE35-67DC910A1212}" authorId="{95582667-6102-27E7-ED8E-01A166EB4B6B}" created="2025-03-16T17:04:44.361">
        <p188:txBody>
          <a:bodyPr/>
          <a:lstStyle/>
          <a:p>
            <a:r>
              <a:rPr lang="en-US"/>
              <a:t>what ashraf said?</a:t>
            </a:r>
          </a:p>
        </p188:txBody>
      </p188:reply>
      <p188:reply id="{2CAFA3EE-526B-4929-BDB3-3AC909E1D409}" authorId="{95582667-6102-27E7-ED8E-01A166EB4B6B}" created="2025-03-16T17:05:41.847">
        <p188:txBody>
          <a:bodyPr/>
          <a:lstStyle/>
          <a:p>
            <a:r>
              <a:rPr lang="en-US"/>
              <a:t>Everything is good</a:t>
            </a:r>
          </a:p>
        </p188:txBody>
      </p188:reply>
      <p188:reply id="{BF66EEA2-C943-4F2F-948A-64AFF2AD5BC2}" authorId="{7870E55A-CD32-A479-4F8B-9A5A4ABEE5ED}" created="2025-03-16T17:10:16.875">
        <p188:txBody>
          <a:bodyPr/>
          <a:lstStyle/>
          <a:p>
            <a:r>
              <a:rPr lang="en-IN"/>
              <a:t>Ok</a:t>
            </a:r>
          </a:p>
        </p188:txBody>
      </p188:reply>
      <p188:reply id="{92972472-0A55-4022-ABF0-7ABE6C6CBFC0}" authorId="{7870E55A-CD32-A479-4F8B-9A5A4ABEE5ED}" created="2025-03-16T17:10:57.620">
        <p188:txBody>
          <a:bodyPr/>
          <a:lstStyle/>
          <a:p>
            <a:r>
              <a:rPr lang="en-IN"/>
              <a:t>Flow chart background we need to change</a:t>
            </a:r>
          </a:p>
        </p188:txBody>
      </p188:reply>
      <p188:reply id="{F7684BE6-E2A6-4A50-A23C-8F49CF0EB806}" authorId="{95582667-6102-27E7-ED8E-01A166EB4B6B}" created="2025-03-16T17:13:00.753">
        <p188:txBody>
          <a:bodyPr/>
          <a:lstStyle/>
          <a:p>
            <a:r>
              <a:rPr lang="en-US"/>
              <a:t>k</a:t>
            </a:r>
          </a:p>
        </p188:txBody>
      </p188:reply>
      <p188:reply id="{E532261E-3502-4C0F-B1B5-B63A453D2C06}" authorId="{7870E55A-CD32-A479-4F8B-9A5A4ABEE5ED}" created="2025-03-16T17:14:21.583">
        <p188:txBody>
          <a:bodyPr/>
          <a:lstStyle/>
          <a:p>
            <a:r>
              <a:rPr lang="en-IN"/>
              <a:t>Na flow chart lo adi change avaledu
</a:t>
            </a:r>
          </a:p>
        </p188:txBody>
      </p188:reply>
    </p188:replyLst>
    <p188:txBody>
      <a:bodyPr/>
      <a:lstStyle/>
      <a:p>
        <a:r>
          <a:rPr lang="en-US"/>
          <a:t>where should i change  project plan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6459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latin typeface="Arial" charset="0"/>
                <a:ea typeface="+mn-ea"/>
                <a:cs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21488400" y="0"/>
            <a:ext cx="16459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latin typeface="Arial" charset="0"/>
                <a:ea typeface="+mn-ea"/>
                <a:cs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590213" y="3810000"/>
            <a:ext cx="16767175" cy="1905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029200" y="24079200"/>
            <a:ext cx="27889200" cy="228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8234600"/>
            <a:ext cx="16459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latin typeface="Arial" charset="0"/>
                <a:ea typeface="+mn-ea"/>
                <a:cs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21488400" y="48234600"/>
            <a:ext cx="16459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>
                <a:ea typeface="SimSun" pitchFamily="2" charset="-122"/>
              </a:defRPr>
            </a:lvl1pPr>
          </a:lstStyle>
          <a:p>
            <a:fld id="{F292183B-F5F8-4439-922E-D0C2BF219B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7477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MS PGothic" pitchFamily="34" charset="-128"/>
        <a:cs typeface="ＭＳ Ｐゴシック" charset="-128"/>
      </a:defRPr>
    </a:lvl1pPr>
    <a:lvl2pPr marL="399662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79931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1989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59863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1998278" algn="l" defTabSz="39966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97941" algn="l" defTabSz="39966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97603" algn="l" defTabSz="39966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97251" algn="l" defTabSz="39966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9472-38D6-BC17-607E-805F1B98A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500" y="5950603"/>
            <a:ext cx="24003000" cy="12658701"/>
          </a:xfrm>
        </p:spPr>
        <p:txBody>
          <a:bodyPr anchor="b"/>
          <a:lstStyle>
            <a:lvl1pPr algn="ctr">
              <a:defRPr sz="157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CBD1B-18C4-F6F2-E539-0AB1A79FF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0" y="19097472"/>
            <a:ext cx="24003000" cy="8778605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150" indent="0" algn="ctr">
              <a:buNone/>
              <a:defRPr sz="5250"/>
            </a:lvl2pPr>
            <a:lvl3pPr marL="2400300" indent="0" algn="ctr">
              <a:buNone/>
              <a:defRPr sz="4725"/>
            </a:lvl3pPr>
            <a:lvl4pPr marL="3600450" indent="0" algn="ctr">
              <a:buNone/>
              <a:defRPr sz="4200"/>
            </a:lvl4pPr>
            <a:lvl5pPr marL="4800600" indent="0" algn="ctr">
              <a:buNone/>
              <a:defRPr sz="4200"/>
            </a:lvl5pPr>
            <a:lvl6pPr marL="6000750" indent="0" algn="ctr">
              <a:buNone/>
              <a:defRPr sz="4200"/>
            </a:lvl6pPr>
            <a:lvl7pPr marL="7200900" indent="0" algn="ctr">
              <a:buNone/>
              <a:defRPr sz="4200"/>
            </a:lvl7pPr>
            <a:lvl8pPr marL="8401050" indent="0" algn="ctr">
              <a:buNone/>
              <a:defRPr sz="4200"/>
            </a:lvl8pPr>
            <a:lvl9pPr marL="9601200" indent="0" algn="ctr">
              <a:buNone/>
              <a:defRPr sz="4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4EFA4-8EBD-27A4-923E-DF7E2762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BBAEF-C753-8577-5D0A-9623DB64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D307F-69B1-D758-A45F-D18FC87F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E2A6-8D49-4474-8C7A-1BD77D36969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795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8C9B-DCBF-475C-CF55-DC6C7F87B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952CA-3FFE-9FFB-968B-A075F828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1A44F-F549-0305-E558-022C1368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D3AE0-096C-A57A-0D87-1779C8FD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BCA4A-ED54-6D6D-B43B-01873103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2DA40-2263-4835-8046-3E03B8C4730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037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EFF9-404C-779A-58B7-76C0C8F7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606" y="9064780"/>
            <a:ext cx="27603450" cy="15124789"/>
          </a:xfrm>
        </p:spPr>
        <p:txBody>
          <a:bodyPr anchor="b"/>
          <a:lstStyle>
            <a:lvl1pPr>
              <a:defRPr sz="157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A49A4-8D6D-2D89-20EB-336C4573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3606" y="24332656"/>
            <a:ext cx="27603450" cy="7953769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200150" indent="0">
              <a:buNone/>
              <a:defRPr sz="5250">
                <a:solidFill>
                  <a:schemeClr val="tx1">
                    <a:tint val="75000"/>
                  </a:schemeClr>
                </a:solidFill>
              </a:defRPr>
            </a:lvl2pPr>
            <a:lvl3pPr marL="240030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360045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8006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75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9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40105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12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4A8FD-D785-734F-2B18-28EE07300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01FDA-278C-ACB9-22E9-5F843E0B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38643-3796-F901-20D1-9E7D09BB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381DC-2011-4E15-83C5-CAC2DE52104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257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A68BB-6DBB-B965-7639-85782EDA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7153-AEEB-1006-A860-8CC674A0B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00275" y="9679194"/>
            <a:ext cx="13601700" cy="230701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23DFF-4BC4-15FD-510D-70B9FA1C0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202025" y="9679194"/>
            <a:ext cx="13601700" cy="230701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5AFA9-235D-ABE3-9C26-77536F38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EC0DD-1484-2811-076F-041986A2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E110D-F00C-FC43-B333-6BF93982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E749-6C7C-465B-A61C-951C49A85D3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912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1449-F8A0-833B-90D0-E95A7083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443" y="1935841"/>
            <a:ext cx="27603450" cy="70279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7018E-7CF3-7CF4-ACCC-B6CDCBC0E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4445" y="8913277"/>
            <a:ext cx="13539191" cy="4368259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800600" indent="0">
              <a:buNone/>
              <a:defRPr sz="4200" b="1"/>
            </a:lvl5pPr>
            <a:lvl6pPr marL="6000750" indent="0">
              <a:buNone/>
              <a:defRPr sz="4200" b="1"/>
            </a:lvl6pPr>
            <a:lvl7pPr marL="7200900" indent="0">
              <a:buNone/>
              <a:defRPr sz="4200" b="1"/>
            </a:lvl7pPr>
            <a:lvl8pPr marL="8401050" indent="0">
              <a:buNone/>
              <a:defRPr sz="4200" b="1"/>
            </a:lvl8pPr>
            <a:lvl9pPr marL="9601200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DDD43-09AE-40C8-CDDD-49C6D9894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4445" y="13281536"/>
            <a:ext cx="13539191" cy="1953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0AE49-5F62-168B-84F7-2ECE688EC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202025" y="8913277"/>
            <a:ext cx="13605869" cy="4368259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800600" indent="0">
              <a:buNone/>
              <a:defRPr sz="4200" b="1"/>
            </a:lvl5pPr>
            <a:lvl6pPr marL="6000750" indent="0">
              <a:buNone/>
              <a:defRPr sz="4200" b="1"/>
            </a:lvl6pPr>
            <a:lvl7pPr marL="7200900" indent="0">
              <a:buNone/>
              <a:defRPr sz="4200" b="1"/>
            </a:lvl7pPr>
            <a:lvl8pPr marL="8401050" indent="0">
              <a:buNone/>
              <a:defRPr sz="4200" b="1"/>
            </a:lvl8pPr>
            <a:lvl9pPr marL="9601200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3BE7-8ABC-FB06-C904-CBA9E760F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202025" y="13281536"/>
            <a:ext cx="13605869" cy="1953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8FF3A-9E94-3F76-115C-62314395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F5122-0772-B1AC-D5BD-BD1FC800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3B92A0-231F-5D9F-6352-69824311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E749-6C7C-465B-A61C-951C49A85D3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55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CC57-87F4-7D9A-F4D5-6F088540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76966-9BC8-8D1D-84CB-01690796B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848F3-D37A-4CA9-254D-F89B4504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0FA2E-EED9-A637-453F-E684F279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57B5-3395-4EC7-A25C-53DFE322190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33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9B259-19E5-0EB0-EF48-100CB50D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903C8-F91D-6136-A816-CC65AF95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5741-5C36-8EE2-67E5-A8BADC49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38B8-F8C0-4B85-A092-4472F1EEDAF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022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2167-3F46-9C6F-8940-41812F2B6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445" y="2424007"/>
            <a:ext cx="10322122" cy="8484023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4D3CF-208F-81DD-E0E8-D282571BA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5869" y="5235184"/>
            <a:ext cx="16202025" cy="25839238"/>
          </a:xfrm>
        </p:spPr>
        <p:txBody>
          <a:bodyPr/>
          <a:lstStyle>
            <a:lvl1pPr>
              <a:defRPr sz="8400"/>
            </a:lvl1pPr>
            <a:lvl2pPr>
              <a:defRPr sz="7350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4CF0B-8D33-45C5-942D-6CD8ED9A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04445" y="10908030"/>
            <a:ext cx="10322122" cy="20208475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800600" indent="0">
              <a:buNone/>
              <a:defRPr sz="2625"/>
            </a:lvl5pPr>
            <a:lvl6pPr marL="6000750" indent="0">
              <a:buNone/>
              <a:defRPr sz="2625"/>
            </a:lvl6pPr>
            <a:lvl7pPr marL="7200900" indent="0">
              <a:buNone/>
              <a:defRPr sz="2625"/>
            </a:lvl7pPr>
            <a:lvl8pPr marL="8401050" indent="0">
              <a:buNone/>
              <a:defRPr sz="2625"/>
            </a:lvl8pPr>
            <a:lvl9pPr marL="9601200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C7606-F254-D2CB-CA03-61C76F0B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93458-801F-FBB7-AFD4-65B365D0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D1A54-BCE2-C732-32ED-0E53851B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D376-DFAC-423C-9B3E-7CFD32B53EC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999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9D6B-C901-A8E9-E61D-E9521B00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445" y="2424007"/>
            <a:ext cx="10322122" cy="8484023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15998-7CDF-EC72-C7F2-6D83A662C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605869" y="5235184"/>
            <a:ext cx="16202025" cy="25839238"/>
          </a:xfrm>
        </p:spPr>
        <p:txBody>
          <a:bodyPr/>
          <a:lstStyle>
            <a:lvl1pPr marL="0" indent="0">
              <a:buNone/>
              <a:defRPr sz="8400"/>
            </a:lvl1pPr>
            <a:lvl2pPr marL="1200150" indent="0">
              <a:buNone/>
              <a:defRPr sz="7350"/>
            </a:lvl2pPr>
            <a:lvl3pPr marL="2400300" indent="0">
              <a:buNone/>
              <a:defRPr sz="6300"/>
            </a:lvl3pPr>
            <a:lvl4pPr marL="3600450" indent="0">
              <a:buNone/>
              <a:defRPr sz="5250"/>
            </a:lvl4pPr>
            <a:lvl5pPr marL="4800600" indent="0">
              <a:buNone/>
              <a:defRPr sz="5250"/>
            </a:lvl5pPr>
            <a:lvl6pPr marL="6000750" indent="0">
              <a:buNone/>
              <a:defRPr sz="5250"/>
            </a:lvl6pPr>
            <a:lvl7pPr marL="7200900" indent="0">
              <a:buNone/>
              <a:defRPr sz="5250"/>
            </a:lvl7pPr>
            <a:lvl8pPr marL="8401050" indent="0">
              <a:buNone/>
              <a:defRPr sz="5250"/>
            </a:lvl8pPr>
            <a:lvl9pPr marL="9601200" indent="0">
              <a:buNone/>
              <a:defRPr sz="525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BEE82-604B-98D0-9315-323C8A373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04445" y="10908030"/>
            <a:ext cx="10322122" cy="20208475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800600" indent="0">
              <a:buNone/>
              <a:defRPr sz="2625"/>
            </a:lvl5pPr>
            <a:lvl6pPr marL="6000750" indent="0">
              <a:buNone/>
              <a:defRPr sz="2625"/>
            </a:lvl6pPr>
            <a:lvl7pPr marL="7200900" indent="0">
              <a:buNone/>
              <a:defRPr sz="2625"/>
            </a:lvl7pPr>
            <a:lvl8pPr marL="8401050" indent="0">
              <a:buNone/>
              <a:defRPr sz="2625"/>
            </a:lvl8pPr>
            <a:lvl9pPr marL="9601200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8BA8B-D97E-1F36-800A-AF7940B7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82180-9585-75B4-3269-42885158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4D923-A223-B054-AC90-4001182D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2008-6B2E-4E35-B5DB-FCAB12E44FE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3243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58F4-FB85-BD70-189A-D483A05C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2E61F-88D4-FB2E-CD44-27B7EDDB6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EBA1D-1581-F9B7-303F-BFB6B6AA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BD1FE-CC62-9FAD-60D8-06F84651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0F1E9-98D1-300D-FDC9-83E41121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706F-022A-4C06-A89D-CC6518B0B38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601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AC68F-C7DE-4CB6-EFB6-70133B634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2902862" y="1935839"/>
            <a:ext cx="6900863" cy="308135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446E-371E-0A13-C193-A383F1CF0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00275" y="1935839"/>
            <a:ext cx="20302538" cy="308135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589AC-01D3-F8AF-A550-2BA4E8C1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A061-59CE-E4D6-B72F-FD8D06E3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990BD-2A94-5EDF-74C2-6FD0F303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C460-F9B2-4FAC-8639-76A81A2F1E0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932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383A7-5145-A042-931A-E7F3E786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275" y="1935841"/>
            <a:ext cx="27603450" cy="7027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06325-3E39-5C52-43FD-5F80F8534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9679194"/>
            <a:ext cx="27603450" cy="23070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9A6AD-3B57-E5C3-EAB5-31CEBBF8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00275" y="33700428"/>
            <a:ext cx="7200900" cy="1935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7D529-E5FD-13BE-6F58-91565EF2B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01325" y="33700428"/>
            <a:ext cx="10801350" cy="1935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0D7D2-D5C8-EEA4-91BF-44E4FA2E1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602825" y="33700428"/>
            <a:ext cx="7200900" cy="1935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2E749-6C7C-465B-A61C-951C49A85D3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380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</p:sldLayoutIdLst>
  <p:txStyles>
    <p:titleStyle>
      <a:lvl1pPr algn="l" defTabSz="2400300" rtl="0" eaLnBrk="1" latinLnBrk="0" hangingPunct="1">
        <a:lnSpc>
          <a:spcPct val="90000"/>
        </a:lnSpc>
        <a:spcBef>
          <a:spcPct val="0"/>
        </a:spcBef>
        <a:buNone/>
        <a:defRPr sz="11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75" indent="-600075" algn="l" defTabSz="240030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1pPr>
      <a:lvl2pPr marL="180022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7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20052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67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82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97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112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75" indent="-600075" algn="l" defTabSz="240030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microsoft.com/office/2018/10/relationships/comments" Target="../comments/modernComment_103_CD6108C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hyperlink" Target="https://github.com/mohammedashraf11/Capstone-Project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76E770-5D0E-2139-C0DA-8CD410A9AB12}"/>
              </a:ext>
            </a:extLst>
          </p:cNvPr>
          <p:cNvSpPr txBox="1"/>
          <p:nvPr/>
        </p:nvSpPr>
        <p:spPr>
          <a:xfrm>
            <a:off x="226185" y="5341402"/>
            <a:ext cx="610442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500"/>
              <a:t>Insert your text 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0414B0-D3BD-17EC-53D9-23D7F68E17C3}"/>
              </a:ext>
            </a:extLst>
          </p:cNvPr>
          <p:cNvSpPr txBox="1"/>
          <p:nvPr/>
        </p:nvSpPr>
        <p:spPr>
          <a:xfrm>
            <a:off x="348508" y="19230032"/>
            <a:ext cx="610442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500"/>
              <a:t>Insert your text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4C18CB-4DC5-8CB0-1347-EAA58038E24A}"/>
              </a:ext>
            </a:extLst>
          </p:cNvPr>
          <p:cNvSpPr txBox="1"/>
          <p:nvPr/>
        </p:nvSpPr>
        <p:spPr>
          <a:xfrm>
            <a:off x="11148182" y="5341402"/>
            <a:ext cx="610442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500"/>
              <a:t>Insert your text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09496C-6BB1-7E9C-7EE6-4AB8CB0E9AA0}"/>
              </a:ext>
            </a:extLst>
          </p:cNvPr>
          <p:cNvSpPr txBox="1"/>
          <p:nvPr/>
        </p:nvSpPr>
        <p:spPr>
          <a:xfrm>
            <a:off x="21488398" y="5341402"/>
            <a:ext cx="610442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500"/>
              <a:t>Insert your text Here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64F2CD-6919-0659-0452-9C53AB1D7206}"/>
              </a:ext>
            </a:extLst>
          </p:cNvPr>
          <p:cNvSpPr txBox="1"/>
          <p:nvPr/>
        </p:nvSpPr>
        <p:spPr>
          <a:xfrm>
            <a:off x="11125200" y="25647650"/>
            <a:ext cx="610442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500"/>
              <a:t>Insert your text Here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DD590F-761F-34F1-DE44-8F578D98F820}"/>
              </a:ext>
            </a:extLst>
          </p:cNvPr>
          <p:cNvGrpSpPr/>
          <p:nvPr/>
        </p:nvGrpSpPr>
        <p:grpSpPr>
          <a:xfrm>
            <a:off x="-46548" y="-31750"/>
            <a:ext cx="32004000" cy="36360098"/>
            <a:chOff x="0" y="1"/>
            <a:chExt cx="32004000" cy="363600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4A362A-FBD5-E7E4-F5BF-7C1838844648}"/>
                </a:ext>
              </a:extLst>
            </p:cNvPr>
            <p:cNvSpPr/>
            <p:nvPr/>
          </p:nvSpPr>
          <p:spPr>
            <a:xfrm>
              <a:off x="0" y="2842026"/>
              <a:ext cx="32004000" cy="3351807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6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4C99A5-2D2A-0664-FDD2-FFD52F55F8C4}"/>
                </a:ext>
              </a:extLst>
            </p:cNvPr>
            <p:cNvSpPr/>
            <p:nvPr/>
          </p:nvSpPr>
          <p:spPr>
            <a:xfrm>
              <a:off x="0" y="1"/>
              <a:ext cx="32004000" cy="28420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 Box 16">
              <a:extLst>
                <a:ext uri="{FF2B5EF4-FFF2-40B4-BE49-F238E27FC236}">
                  <a16:creationId xmlns:a16="http://schemas.microsoft.com/office/drawing/2014/main" id="{6A33F464-D1AA-71BD-E8E8-9E623AA4F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8334" y="513691"/>
              <a:ext cx="18771659" cy="3524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8279" tIns="29145" rIns="58279" bIns="29145" anchor="t">
              <a:spAutoFit/>
            </a:bodyPr>
            <a:lstStyle>
              <a:lvl1pPr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sz="6000" baseline="0">
                  <a:latin typeface="Arial"/>
                  <a:ea typeface="SimSun"/>
                  <a:cs typeface="Poppins"/>
                </a:rPr>
                <a:t>[Low Light Image Enhancement Based On Retinex Theory ]</a:t>
              </a:r>
              <a:endParaRPr lang="en-US">
                <a:latin typeface="Arial"/>
                <a:ea typeface="SimSun"/>
                <a:cs typeface="Poppins"/>
              </a:endParaRPr>
            </a:p>
            <a:p>
              <a:pPr algn="ctr">
                <a:spcBef>
                  <a:spcPts val="0"/>
                </a:spcBef>
              </a:pPr>
              <a:endParaRPr lang="en-US" altLang="zh-CN" sz="6000" baseline="0">
                <a:latin typeface="Poppins" panose="00000500000000000000" pitchFamily="2" charset="0"/>
                <a:ea typeface="SimSun" pitchFamily="2" charset="-122"/>
                <a:cs typeface="Poppins" panose="00000500000000000000" pitchFamily="2" charset="0"/>
              </a:endParaRPr>
            </a:p>
            <a:p>
              <a:pPr algn="ctr" eaLnBrk="1" hangingPunct="1">
                <a:spcBef>
                  <a:spcPts val="0"/>
                </a:spcBef>
              </a:pPr>
              <a:endParaRPr lang="en-US" altLang="zh-CN" sz="4521" baseline="0">
                <a:latin typeface="Poppins" panose="00000500000000000000" pitchFamily="2" charset="0"/>
                <a:ea typeface="SimSun" pitchFamily="2" charset="-122"/>
                <a:cs typeface="Poppins" panose="00000500000000000000" pitchFamily="2" charset="0"/>
              </a:endParaRPr>
            </a:p>
          </p:txBody>
        </p:sp>
        <p:sp>
          <p:nvSpPr>
            <p:cNvPr id="6" name="Text Box 18">
              <a:extLst>
                <a:ext uri="{FF2B5EF4-FFF2-40B4-BE49-F238E27FC236}">
                  <a16:creationId xmlns:a16="http://schemas.microsoft.com/office/drawing/2014/main" id="{2B204EB5-8496-83FD-C136-E3683E982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976" y="3813977"/>
              <a:ext cx="27241501" cy="1570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8279" tIns="29145" rIns="58279" bIns="29145" anchor="t">
              <a:spAutoFit/>
            </a:bodyPr>
            <a:lstStyle>
              <a:lvl1pPr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defTabSz="5016500" eaLnBrk="0" hangingPunct="0"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defTabSz="5016500" eaLnBrk="0" fontAlgn="base" hangingPunct="0">
                <a:spcBef>
                  <a:spcPct val="0"/>
                </a:spcBef>
                <a:spcAft>
                  <a:spcPct val="0"/>
                </a:spcAft>
                <a:defRPr sz="4000" b="1" baseline="-25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sz="4500" baseline="0">
                  <a:latin typeface="Arial"/>
                  <a:ea typeface="SimSun"/>
                  <a:cs typeface="Poppins"/>
                </a:rPr>
                <a:t>Supervisor : &lt;&lt; Dr. Pankaj Kandhway &gt;&gt;</a:t>
              </a:r>
              <a:endParaRPr lang="en-US">
                <a:latin typeface="Arial"/>
                <a:ea typeface="SimSun"/>
                <a:cs typeface="Poppins"/>
              </a:endParaRPr>
            </a:p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endParaRPr lang="en-US" altLang="zh-CN" sz="4500" baseline="0">
                <a:latin typeface="Poppins" panose="00000500000000000000" pitchFamily="2" charset="0"/>
                <a:ea typeface="SimSun" pitchFamily="2" charset="-122"/>
                <a:cs typeface="Poppins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F391B89-288B-55E3-59B4-96DD91436B8B}"/>
                </a:ext>
              </a:extLst>
            </p:cNvPr>
            <p:cNvSpPr/>
            <p:nvPr/>
          </p:nvSpPr>
          <p:spPr>
            <a:xfrm>
              <a:off x="200785" y="4489851"/>
              <a:ext cx="10391013" cy="13154693"/>
            </a:xfrm>
            <a:prstGeom prst="roundRect">
              <a:avLst>
                <a:gd name="adj" fmla="val 249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0006A55-82E5-5FDD-4A12-734471761870}"/>
                </a:ext>
              </a:extLst>
            </p:cNvPr>
            <p:cNvSpPr/>
            <p:nvPr/>
          </p:nvSpPr>
          <p:spPr>
            <a:xfrm>
              <a:off x="200785" y="17951449"/>
              <a:ext cx="10391013" cy="18088307"/>
            </a:xfrm>
            <a:prstGeom prst="roundRect">
              <a:avLst>
                <a:gd name="adj" fmla="val 249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4C8347B-1787-16B7-F344-B2442882627C}"/>
                </a:ext>
              </a:extLst>
            </p:cNvPr>
            <p:cNvSpPr/>
            <p:nvPr/>
          </p:nvSpPr>
          <p:spPr>
            <a:xfrm>
              <a:off x="10896600" y="4639936"/>
              <a:ext cx="9857616" cy="19744114"/>
            </a:xfrm>
            <a:prstGeom prst="roundRect">
              <a:avLst>
                <a:gd name="adj" fmla="val 249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4844E32-52C4-C98F-4E3C-FF1609C7EBC7}"/>
                </a:ext>
              </a:extLst>
            </p:cNvPr>
            <p:cNvSpPr/>
            <p:nvPr/>
          </p:nvSpPr>
          <p:spPr>
            <a:xfrm>
              <a:off x="20935547" y="4687525"/>
              <a:ext cx="10515597" cy="10583543"/>
            </a:xfrm>
            <a:prstGeom prst="roundRect">
              <a:avLst>
                <a:gd name="adj" fmla="val 249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1C7DBA8-B523-3CEF-F0A0-D21A8317C1B8}"/>
                </a:ext>
              </a:extLst>
            </p:cNvPr>
            <p:cNvSpPr/>
            <p:nvPr/>
          </p:nvSpPr>
          <p:spPr>
            <a:xfrm>
              <a:off x="10896600" y="29337002"/>
              <a:ext cx="20678015" cy="4048674"/>
            </a:xfrm>
            <a:prstGeom prst="roundRect">
              <a:avLst>
                <a:gd name="adj" fmla="val 249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6456D07-662D-81A0-41A8-A827A4F743A7}"/>
                </a:ext>
              </a:extLst>
            </p:cNvPr>
            <p:cNvSpPr/>
            <p:nvPr/>
          </p:nvSpPr>
          <p:spPr>
            <a:xfrm>
              <a:off x="10896600" y="24579165"/>
              <a:ext cx="20678015" cy="4529236"/>
            </a:xfrm>
            <a:prstGeom prst="roundRect">
              <a:avLst>
                <a:gd name="adj" fmla="val 249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59992F-D3CE-1ADE-F378-14B9B5E09BDA}"/>
                </a:ext>
              </a:extLst>
            </p:cNvPr>
            <p:cNvSpPr txBox="1"/>
            <p:nvPr/>
          </p:nvSpPr>
          <p:spPr>
            <a:xfrm>
              <a:off x="286195" y="4574025"/>
              <a:ext cx="3934090" cy="1092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6500" b="1">
                  <a:latin typeface="Poppins" panose="00000500000000000000" pitchFamily="2" charset="0"/>
                  <a:cs typeface="Poppins" panose="00000500000000000000" pitchFamily="2" charset="0"/>
                </a:rPr>
                <a:t>Abstract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29213C-12E3-8A3D-5B9C-C09F806E2CC1}"/>
                </a:ext>
              </a:extLst>
            </p:cNvPr>
            <p:cNvSpPr txBox="1"/>
            <p:nvPr/>
          </p:nvSpPr>
          <p:spPr>
            <a:xfrm>
              <a:off x="348508" y="18037321"/>
              <a:ext cx="5461752" cy="1092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6500" b="1">
                  <a:latin typeface="Poppins" panose="00000500000000000000" pitchFamily="2" charset="0"/>
                  <a:cs typeface="Poppins" panose="00000500000000000000" pitchFamily="2" charset="0"/>
                </a:rPr>
                <a:t>Background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DA8B80-CF38-1A06-449C-222B1F26F8FE}"/>
                </a:ext>
              </a:extLst>
            </p:cNvPr>
            <p:cNvSpPr txBox="1"/>
            <p:nvPr/>
          </p:nvSpPr>
          <p:spPr>
            <a:xfrm>
              <a:off x="11046578" y="4744601"/>
              <a:ext cx="3922869" cy="1092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6500" b="1">
                  <a:latin typeface="Poppins" panose="00000500000000000000" pitchFamily="2" charset="0"/>
                  <a:cs typeface="Poppins" panose="00000500000000000000" pitchFamily="2" charset="0"/>
                </a:rPr>
                <a:t>Methods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0171118-A452-8446-D338-2FD022614F7F}"/>
                </a:ext>
              </a:extLst>
            </p:cNvPr>
            <p:cNvSpPr txBox="1"/>
            <p:nvPr/>
          </p:nvSpPr>
          <p:spPr>
            <a:xfrm>
              <a:off x="21235607" y="4788359"/>
              <a:ext cx="3315331" cy="1092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6500" b="1">
                  <a:latin typeface="Poppins" panose="00000500000000000000" pitchFamily="2" charset="0"/>
                  <a:cs typeface="Poppins" panose="00000500000000000000" pitchFamily="2" charset="0"/>
                </a:rPr>
                <a:t>Results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B29E532-5B27-AD52-1B28-26897E6CC31F}"/>
                </a:ext>
              </a:extLst>
            </p:cNvPr>
            <p:cNvSpPr txBox="1"/>
            <p:nvPr/>
          </p:nvSpPr>
          <p:spPr>
            <a:xfrm>
              <a:off x="10972800" y="24434394"/>
              <a:ext cx="8669361" cy="1092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6500" b="1">
                  <a:latin typeface="Poppins" panose="00000500000000000000" pitchFamily="2" charset="0"/>
                  <a:cs typeface="Poppins" panose="00000500000000000000" pitchFamily="2" charset="0"/>
                </a:rPr>
                <a:t>Future Perspectives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D37B0B5-9A6D-23AC-9BB7-8D7BBB20D995}"/>
                </a:ext>
              </a:extLst>
            </p:cNvPr>
            <p:cNvSpPr txBox="1"/>
            <p:nvPr/>
          </p:nvSpPr>
          <p:spPr>
            <a:xfrm>
              <a:off x="10896600" y="29234994"/>
              <a:ext cx="7904728" cy="1092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6500" b="1">
                  <a:latin typeface="Poppins" panose="00000500000000000000" pitchFamily="2" charset="0"/>
                  <a:cs typeface="Poppins" panose="00000500000000000000" pitchFamily="2" charset="0"/>
                </a:rPr>
                <a:t>Impact on Society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2D5A794-FF8C-9AF7-50B3-83D99643A57F}"/>
              </a:ext>
            </a:extLst>
          </p:cNvPr>
          <p:cNvSpPr txBox="1"/>
          <p:nvPr/>
        </p:nvSpPr>
        <p:spPr>
          <a:xfrm>
            <a:off x="11025010" y="30447079"/>
            <a:ext cx="18466677" cy="32778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IN" sz="3800" b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Enhanced Security &amp; Surveillance</a:t>
            </a:r>
            <a:r>
              <a:rPr lang="en-IN" sz="38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– Improves night vision for </a:t>
            </a:r>
            <a:r>
              <a:rPr lang="en-IN" sz="3800" b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CCTV, law enforcement, and autonomous vehicles</a:t>
            </a:r>
            <a:r>
              <a:rPr lang="en-IN" sz="38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ensuring public safety.</a:t>
            </a:r>
            <a:endParaRPr lang="en-US" sz="3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3800" b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Better Medical Imaging</a:t>
            </a:r>
            <a:r>
              <a:rPr lang="en-IN" sz="38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– Enhances </a:t>
            </a:r>
            <a:r>
              <a:rPr lang="en-IN" sz="3800" b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X-rays, MRIs, and other scans</a:t>
            </a:r>
            <a:r>
              <a:rPr lang="en-IN" sz="38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aiding in accurate diagnosis and treatment.</a:t>
            </a:r>
            <a:endParaRPr lang="en-IN" sz="3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5500"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972737-0112-D5F2-F6B2-E40D2CFCB1EA}"/>
              </a:ext>
            </a:extLst>
          </p:cNvPr>
          <p:cNvSpPr txBox="1"/>
          <p:nvPr/>
        </p:nvSpPr>
        <p:spPr>
          <a:xfrm>
            <a:off x="10954105" y="5860581"/>
            <a:ext cx="9161020" cy="88639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buFont typeface=""/>
              <a:buChar char="•"/>
            </a:pPr>
            <a:r>
              <a:rPr lang="en-US" sz="3800" b="1" err="1">
                <a:latin typeface="Arial"/>
                <a:cs typeface="Arial"/>
              </a:rPr>
              <a:t>Retinex</a:t>
            </a:r>
            <a:r>
              <a:rPr lang="en-US" sz="3800" b="1">
                <a:latin typeface="Arial"/>
                <a:cs typeface="Arial"/>
              </a:rPr>
              <a:t> Theory for Illumination Estimation</a:t>
            </a:r>
            <a:r>
              <a:rPr lang="en-US" sz="3800">
                <a:latin typeface="Arial"/>
                <a:cs typeface="Arial"/>
              </a:rPr>
              <a:t> – Separates illumination and reflectance to enhance brightness while preserving details.</a:t>
            </a:r>
            <a:endParaRPr lang="en-US">
              <a:latin typeface="Arial"/>
              <a:cs typeface="Arial"/>
            </a:endParaRPr>
          </a:p>
          <a:p>
            <a:pPr algn="just">
              <a:buFont typeface=""/>
              <a:buChar char="•"/>
            </a:pP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BHSD for Adaptive Brightness Adjustment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 – Uses an S-Curve transformation to optimize brightness and contrast without over-enhancement.</a:t>
            </a:r>
          </a:p>
          <a:p>
            <a:pPr algn="just">
              <a:buFont typeface=""/>
              <a:buChar char="•"/>
            </a:pP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Wavelet-Based Fusion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 – Combines outputs to enhance textures, reduce noise, and improve sharpness.</a:t>
            </a:r>
          </a:p>
          <a:p>
            <a:pPr algn="just">
              <a:buFont typeface=""/>
              <a:buChar char="•"/>
            </a:pP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Final Image Reconstruction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 – Converts the processed image back to RGB, ensuring natural color balance and better visibility.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829BF-150C-1E1A-F6A1-168F21475341}"/>
              </a:ext>
            </a:extLst>
          </p:cNvPr>
          <p:cNvSpPr txBox="1"/>
          <p:nvPr/>
        </p:nvSpPr>
        <p:spPr>
          <a:xfrm>
            <a:off x="-1559575" y="3009830"/>
            <a:ext cx="32050548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500" b="1">
                <a:latin typeface="Poppins"/>
                <a:cs typeface="Poppins"/>
              </a:rPr>
              <a:t> {Team </a:t>
            </a:r>
            <a:r>
              <a:rPr lang="en-US" sz="4500" b="1">
                <a:latin typeface="Poppins"/>
                <a:ea typeface="SimSun"/>
                <a:cs typeface="Poppins"/>
              </a:rPr>
              <a:t>member's names : Ashraf, Kashida ,Praveen}</a:t>
            </a:r>
            <a:endParaRPr lang="en-US">
              <a:ea typeface="SimSun"/>
            </a:endParaRPr>
          </a:p>
          <a:p>
            <a:pPr algn="ctr"/>
            <a:r>
              <a:rPr lang="en-US" sz="4500" b="1">
                <a:latin typeface="Poppins"/>
                <a:ea typeface="SimSun"/>
                <a:cs typeface="Poppins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5C3FB2-1855-4CF1-388D-5C6E150555AC}"/>
              </a:ext>
            </a:extLst>
          </p:cNvPr>
          <p:cNvSpPr/>
          <p:nvPr/>
        </p:nvSpPr>
        <p:spPr>
          <a:xfrm>
            <a:off x="20878800" y="15469910"/>
            <a:ext cx="10515597" cy="8806140"/>
          </a:xfrm>
          <a:prstGeom prst="roundRect">
            <a:avLst>
              <a:gd name="adj" fmla="val 249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72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328CE-FB23-EBBB-409E-481560B3846B}"/>
              </a:ext>
            </a:extLst>
          </p:cNvPr>
          <p:cNvSpPr txBox="1"/>
          <p:nvPr/>
        </p:nvSpPr>
        <p:spPr>
          <a:xfrm>
            <a:off x="21047062" y="15615676"/>
            <a:ext cx="5024132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b="1">
                <a:latin typeface="Poppins" panose="00000500000000000000" pitchFamily="2" charset="0"/>
                <a:cs typeface="Poppins" panose="00000500000000000000" pitchFamily="2" charset="0"/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F89E9-01CC-2628-EE6A-C504790AD10C}"/>
              </a:ext>
            </a:extLst>
          </p:cNvPr>
          <p:cNvSpPr txBox="1"/>
          <p:nvPr/>
        </p:nvSpPr>
        <p:spPr>
          <a:xfrm rot="10800000" flipV="1">
            <a:off x="21047062" y="17031152"/>
            <a:ext cx="9781823" cy="6524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3800">
                <a:latin typeface="Arial"/>
                <a:cs typeface="Arial"/>
              </a:rPr>
              <a:t>Our</a:t>
            </a:r>
            <a:r>
              <a:rPr lang="en-IN" sz="3800">
                <a:latin typeface="Arial"/>
                <a:ea typeface="+mn-lt"/>
                <a:cs typeface="Arial"/>
              </a:rPr>
              <a:t> hybrid approach effectively enhances </a:t>
            </a:r>
            <a:r>
              <a:rPr lang="en-IN" sz="3800" b="1">
                <a:latin typeface="Arial"/>
                <a:ea typeface="+mn-lt"/>
                <a:cs typeface="Arial"/>
              </a:rPr>
              <a:t>low-light images</a:t>
            </a:r>
            <a:r>
              <a:rPr lang="en-IN" sz="3800">
                <a:latin typeface="Arial"/>
                <a:ea typeface="+mn-lt"/>
                <a:cs typeface="Arial"/>
              </a:rPr>
              <a:t> by integrating </a:t>
            </a:r>
            <a:r>
              <a:rPr lang="en-IN" sz="3800" b="1">
                <a:latin typeface="Arial"/>
                <a:ea typeface="+mn-lt"/>
                <a:cs typeface="Arial"/>
              </a:rPr>
              <a:t>Retinex Theory, BHSD, and Wavelet-Based Fusion</a:t>
            </a:r>
            <a:r>
              <a:rPr lang="en-IN" sz="3800">
                <a:latin typeface="Arial"/>
                <a:ea typeface="+mn-lt"/>
                <a:cs typeface="Arial"/>
              </a:rPr>
              <a:t>, ensuring improved </a:t>
            </a:r>
            <a:r>
              <a:rPr lang="en-IN" sz="3800" b="1">
                <a:latin typeface="Arial"/>
                <a:ea typeface="+mn-lt"/>
                <a:cs typeface="Arial"/>
              </a:rPr>
              <a:t>brightness, contrast, and detail preservation</a:t>
            </a:r>
            <a:r>
              <a:rPr lang="en-IN" sz="3800">
                <a:latin typeface="Arial"/>
                <a:ea typeface="+mn-lt"/>
                <a:cs typeface="Arial"/>
              </a:rPr>
              <a:t>. The method outperforms traditional techniques by reducing noise and artifacts while maintaining </a:t>
            </a:r>
            <a:r>
              <a:rPr lang="en-IN" sz="3800" b="1">
                <a:latin typeface="Arial"/>
                <a:ea typeface="+mn-lt"/>
                <a:cs typeface="Arial"/>
              </a:rPr>
              <a:t>natural colour balance</a:t>
            </a:r>
            <a:r>
              <a:rPr lang="en-IN" sz="3800">
                <a:latin typeface="Arial"/>
                <a:ea typeface="+mn-lt"/>
                <a:cs typeface="Arial"/>
              </a:rPr>
              <a:t>, making it suitable for </a:t>
            </a:r>
            <a:r>
              <a:rPr lang="en-IN" sz="3800" b="1">
                <a:latin typeface="Arial"/>
                <a:ea typeface="+mn-lt"/>
                <a:cs typeface="Arial"/>
              </a:rPr>
              <a:t>real-time applications in security, medical imaging, and autonomous systems</a:t>
            </a:r>
            <a:r>
              <a:rPr lang="en-IN" sz="3800">
                <a:latin typeface="Arial"/>
                <a:ea typeface="+mn-lt"/>
                <a:cs typeface="Arial"/>
              </a:rPr>
              <a:t>.</a:t>
            </a:r>
            <a:endParaRPr lang="en-IN" sz="3800">
              <a:latin typeface="Arial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2B22832-CBC2-E34A-62BC-91F29AC8E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424" y="-31750"/>
            <a:ext cx="5538950" cy="3042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36FE7-C19A-3B9B-5540-8BB91AE04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7014" y="-184150"/>
            <a:ext cx="5501547" cy="334564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DD19E9-B27A-C1B6-1366-75190C8E3FC9}"/>
              </a:ext>
            </a:extLst>
          </p:cNvPr>
          <p:cNvSpPr/>
          <p:nvPr/>
        </p:nvSpPr>
        <p:spPr>
          <a:xfrm>
            <a:off x="10916716" y="33572450"/>
            <a:ext cx="20678015" cy="2537372"/>
          </a:xfrm>
          <a:prstGeom prst="roundRect">
            <a:avLst>
              <a:gd name="adj" fmla="val 249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353B8-4ED1-FA4F-BE2B-828924DF71E8}"/>
              </a:ext>
            </a:extLst>
          </p:cNvPr>
          <p:cNvSpPr txBox="1"/>
          <p:nvPr/>
        </p:nvSpPr>
        <p:spPr>
          <a:xfrm>
            <a:off x="11017083" y="33420050"/>
            <a:ext cx="6171882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500" b="1">
                <a:latin typeface="Poppins" panose="00000500000000000000" pitchFamily="2" charset="0"/>
                <a:cs typeface="Poppins" panose="00000500000000000000" pitchFamily="2" charset="0"/>
              </a:rPr>
              <a:t>To know more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2D3E79-306C-6867-B378-9F8A9F8FA380}"/>
              </a:ext>
            </a:extLst>
          </p:cNvPr>
          <p:cNvSpPr txBox="1"/>
          <p:nvPr/>
        </p:nvSpPr>
        <p:spPr>
          <a:xfrm>
            <a:off x="11046578" y="34310131"/>
            <a:ext cx="357020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500"/>
              <a:t>GitHub link:</a:t>
            </a:r>
          </a:p>
          <a:p>
            <a:r>
              <a:rPr lang="en-IN" sz="5500"/>
              <a:t>Video link: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09BE86-D6F8-C7DF-0939-C94A242A0CC9}"/>
              </a:ext>
            </a:extLst>
          </p:cNvPr>
          <p:cNvSpPr txBox="1"/>
          <p:nvPr/>
        </p:nvSpPr>
        <p:spPr>
          <a:xfrm>
            <a:off x="518247" y="5723450"/>
            <a:ext cx="9525000" cy="112030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3800">
                <a:latin typeface="Arial"/>
                <a:cs typeface="Arial"/>
              </a:rPr>
              <a:t>Low-light image enhancement is crucial for applications like </a:t>
            </a:r>
            <a:r>
              <a:rPr lang="en-US" sz="3800" b="1">
                <a:latin typeface="Arial"/>
                <a:cs typeface="Arial"/>
              </a:rPr>
              <a:t>surveillance, medical imaging, and autonomous vision systems</a:t>
            </a:r>
            <a:r>
              <a:rPr lang="en-US" sz="3800">
                <a:latin typeface="Arial"/>
                <a:cs typeface="Arial"/>
              </a:rPr>
              <a:t>. Traditional methods often fail to balance brightness and detail preservation, leading to over-enhancement or noise amplification. This project integrates </a:t>
            </a:r>
            <a:r>
              <a:rPr lang="en-US" sz="3800" b="1" err="1">
                <a:latin typeface="Arial"/>
                <a:cs typeface="Arial"/>
              </a:rPr>
              <a:t>Retinex</a:t>
            </a:r>
            <a:r>
              <a:rPr lang="en-US" sz="3800" b="1">
                <a:latin typeface="Arial"/>
                <a:cs typeface="Arial"/>
              </a:rPr>
              <a:t> Theory, Beta-Hyperbolic Secant Distribution (BHSD), and Wavelet-Based Fusion</a:t>
            </a:r>
            <a:r>
              <a:rPr lang="en-US" sz="3800">
                <a:latin typeface="Arial"/>
                <a:cs typeface="Arial"/>
              </a:rPr>
              <a:t> to enhance visibility while maintaining natural textures. </a:t>
            </a:r>
            <a:r>
              <a:rPr lang="en-US" sz="3800" b="1" err="1">
                <a:latin typeface="Arial"/>
                <a:cs typeface="Arial"/>
              </a:rPr>
              <a:t>Retinex</a:t>
            </a:r>
            <a:r>
              <a:rPr lang="en-US" sz="3800" b="1">
                <a:latin typeface="Arial"/>
                <a:cs typeface="Arial"/>
              </a:rPr>
              <a:t> Theory</a:t>
            </a:r>
            <a:r>
              <a:rPr lang="en-US" sz="3800">
                <a:latin typeface="Arial"/>
                <a:cs typeface="Arial"/>
              </a:rPr>
              <a:t> separates illumination and reflectance, </a:t>
            </a:r>
            <a:r>
              <a:rPr lang="en-US" sz="3800" b="1">
                <a:latin typeface="Arial"/>
                <a:cs typeface="Arial"/>
              </a:rPr>
              <a:t>BHSD-CDF with an S-Curve</a:t>
            </a:r>
            <a:r>
              <a:rPr lang="en-US" sz="3800" dirty="0">
                <a:latin typeface="Arial"/>
                <a:cs typeface="Arial"/>
              </a:rPr>
              <a:t> </a:t>
            </a:r>
            <a:r>
              <a:rPr lang="en-US" sz="3800">
                <a:latin typeface="Arial"/>
                <a:cs typeface="Arial"/>
              </a:rPr>
              <a:t>adjusts brightness adaptively, and </a:t>
            </a:r>
            <a:r>
              <a:rPr lang="en-US" sz="3800" b="1">
                <a:latin typeface="Arial"/>
                <a:cs typeface="Arial"/>
              </a:rPr>
              <a:t>Wavelet Fusion</a:t>
            </a:r>
            <a:r>
              <a:rPr lang="en-US" sz="3800">
                <a:latin typeface="Arial"/>
                <a:cs typeface="Arial"/>
              </a:rPr>
              <a:t> refines details while minimizing artifacts. The proposed approach effectively enhances low-light images, outperforming conventional methods in clarity, contrast, and natural color preservation.</a:t>
            </a:r>
            <a:endParaRPr lang="en-US" sz="3800">
              <a:latin typeface="Arial"/>
              <a:ea typeface="Calibri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FE8A86-63D6-7BFB-C3C5-B1E398BA34F2}"/>
              </a:ext>
            </a:extLst>
          </p:cNvPr>
          <p:cNvSpPr txBox="1"/>
          <p:nvPr/>
        </p:nvSpPr>
        <p:spPr>
          <a:xfrm>
            <a:off x="418537" y="19369782"/>
            <a:ext cx="9966431" cy="147117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Low-light conditions significantly impact the quality and usability of images in applications such as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surveillance, medical imaging, and autonomous systems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. Traditional enhancement techniques, like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histogram equalization and gamma correction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, often introduce noise, unnatural colors, and over-enhancement, making them unsuitable for real-world applications.</a:t>
            </a:r>
          </a:p>
          <a:p>
            <a:pPr algn="just"/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To overcome these limitations, our project integrates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Retinex Theory, Beta-Hyperbolic Secant Distribution (BHSD), and Wavelet-Based Fusion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. Retinex Theory enhances image visibility by separating illumination and reflectance, while BHSD adjusts brightness adaptively using an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S-Curve transformation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, ensuring smooth intensity transitions. Finally,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Wavelet-Based Fusion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 merges the outputs, preserving fine details and reducing noise.</a:t>
            </a:r>
          </a:p>
          <a:p>
            <a:pPr algn="just"/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By combining these methods, our approach achieves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balanced brightness, improved contrast, and enhanced detail visibility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, making it suitable for practical applications where low-light imaging is critical.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85086-9239-B37C-0229-18D6C30D6B52}"/>
              </a:ext>
            </a:extLst>
          </p:cNvPr>
          <p:cNvSpPr txBox="1"/>
          <p:nvPr/>
        </p:nvSpPr>
        <p:spPr>
          <a:xfrm>
            <a:off x="11176943" y="25667464"/>
            <a:ext cx="19250271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"/>
              <a:buChar char="•"/>
            </a:pPr>
            <a:r>
              <a:rPr lang="en-US" sz="3800" b="1">
                <a:latin typeface="Arail"/>
              </a:rPr>
              <a:t>Real-Time Implementation</a:t>
            </a:r>
            <a:r>
              <a:rPr lang="en-US" sz="3800">
                <a:latin typeface="Arail"/>
              </a:rPr>
              <a:t> – Optimize the method for faster processing in embedded and mobile systems.</a:t>
            </a:r>
          </a:p>
          <a:p>
            <a:pPr algn="just">
              <a:buFont typeface=""/>
              <a:buChar char="•"/>
            </a:pPr>
            <a:r>
              <a:rPr lang="en-US" sz="3800" b="1">
                <a:latin typeface="Arail"/>
              </a:rPr>
              <a:t>Deep Learning Integration</a:t>
            </a:r>
            <a:r>
              <a:rPr lang="en-US" sz="3800">
                <a:latin typeface="Arail"/>
              </a:rPr>
              <a:t> – Enhance performance using AI-based adaptive enhancement models.</a:t>
            </a:r>
          </a:p>
          <a:p>
            <a:pPr algn="just">
              <a:buFont typeface=""/>
              <a:buChar char="•"/>
            </a:pPr>
            <a:r>
              <a:rPr lang="en-US" sz="3800" b="1">
                <a:latin typeface="Arail"/>
              </a:rPr>
              <a:t>Video Enhancement</a:t>
            </a:r>
            <a:r>
              <a:rPr lang="en-US" sz="3800">
                <a:latin typeface="Arail"/>
              </a:rPr>
              <a:t> – Extend the approach for real-time low-light video processing.</a:t>
            </a:r>
            <a:endParaRPr lang="en-US" sz="3800" b="1">
              <a:latin typeface="Arail"/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FA6B40-469C-95AA-8AEE-33A9A3B39BAC}"/>
              </a:ext>
            </a:extLst>
          </p:cNvPr>
          <p:cNvSpPr txBox="1"/>
          <p:nvPr/>
        </p:nvSpPr>
        <p:spPr>
          <a:xfrm>
            <a:off x="21098385" y="5865241"/>
            <a:ext cx="10113152" cy="76944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The proposed method significantly enhances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image brightness, contrast, and detail visibility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 while preserving natural colors. Compared to traditional techniques like histogram equalization and CLAHE, our approach reduces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noise, halo artifacts, and over-enhancement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. The integration of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Retinex Theory, BHSD, and Wavelet-Based Fusion</a:t>
            </a:r>
            <a:r>
              <a:rPr lang="en-US" sz="3800">
                <a:latin typeface="Arial" panose="020B0604020202020204" pitchFamily="34" charset="0"/>
                <a:cs typeface="Arial" panose="020B0604020202020204" pitchFamily="34" charset="0"/>
              </a:rPr>
              <a:t> ensures a well-balanced enhancement, making the images more suitable for </a:t>
            </a:r>
            <a:r>
              <a:rPr lang="en-US" sz="3800" b="1">
                <a:latin typeface="Arial" panose="020B0604020202020204" pitchFamily="34" charset="0"/>
                <a:cs typeface="Arial" panose="020B0604020202020204" pitchFamily="34" charset="0"/>
              </a:rPr>
              <a:t>real-world applications such as surveillance, medical imaging, and autonomous vision systems</a:t>
            </a:r>
            <a:r>
              <a:rPr lang="en-US"/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43FC39-9627-72FA-0AFD-140457595234}"/>
              </a:ext>
            </a:extLst>
          </p:cNvPr>
          <p:cNvSpPr txBox="1"/>
          <p:nvPr/>
        </p:nvSpPr>
        <p:spPr>
          <a:xfrm>
            <a:off x="15099254" y="34500394"/>
            <a:ext cx="75862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Arial"/>
                <a:cs typeface="Arial"/>
                <a:hlinkClick r:id="rId5"/>
              </a:rPr>
              <a:t>Github Link</a:t>
            </a:r>
            <a:endParaRPr lang="en-US" sz="3600">
              <a:latin typeface="Arial"/>
              <a:cs typeface="Arial"/>
            </a:endParaRPr>
          </a:p>
        </p:txBody>
      </p:sp>
      <p:pic>
        <p:nvPicPr>
          <p:cNvPr id="43" name="Picture 42" descr="A qr code with a bear logo&#10;&#10;AI-generated content may be incorrect.">
            <a:extLst>
              <a:ext uri="{FF2B5EF4-FFF2-40B4-BE49-F238E27FC236}">
                <a16:creationId xmlns:a16="http://schemas.microsoft.com/office/drawing/2014/main" id="{15CD7D66-D35D-9763-925A-F027D1DCC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55330" y="33728456"/>
            <a:ext cx="2225359" cy="2225359"/>
          </a:xfrm>
          <a:prstGeom prst="rect">
            <a:avLst/>
          </a:prstGeom>
        </p:spPr>
      </p:pic>
      <p:pic>
        <p:nvPicPr>
          <p:cNvPr id="44" name="Picture 43" descr="A diagram of a flowchart&#10;&#10;AI-generated content may be incorrect.">
            <a:extLst>
              <a:ext uri="{FF2B5EF4-FFF2-40B4-BE49-F238E27FC236}">
                <a16:creationId xmlns:a16="http://schemas.microsoft.com/office/drawing/2014/main" id="{91EA8514-6D2D-75F8-B80F-4EC326A51C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9316" y="15645008"/>
            <a:ext cx="6120735" cy="783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55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lilu1</dc:creator>
  <cp:revision>20</cp:revision>
  <cp:lastPrinted>2013-08-04T02:58:23Z</cp:lastPrinted>
  <dcterms:created xsi:type="dcterms:W3CDTF">2011-10-21T15:46:33Z</dcterms:created>
  <dcterms:modified xsi:type="dcterms:W3CDTF">2025-03-19T01:13:47Z</dcterms:modified>
</cp:coreProperties>
</file>