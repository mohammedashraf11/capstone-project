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2"/>
  </p:notesMasterIdLst>
  <p:handoutMasterIdLst>
    <p:handoutMasterId r:id="rId13"/>
  </p:handoutMasterIdLst>
  <p:sldIdLst>
    <p:sldId id="531" r:id="rId2"/>
    <p:sldId id="289" r:id="rId3"/>
    <p:sldId id="292" r:id="rId4"/>
    <p:sldId id="298" r:id="rId5"/>
    <p:sldId id="532" r:id="rId6"/>
    <p:sldId id="302" r:id="rId7"/>
    <p:sldId id="303" r:id="rId8"/>
    <p:sldId id="533" r:id="rId9"/>
    <p:sldId id="307" r:id="rId10"/>
    <p:sldId id="301" r:id="rId11"/>
  </p:sldIdLst>
  <p:sldSz cx="12192000" cy="6858000"/>
  <p:notesSz cx="6858000" cy="9144000"/>
  <p:embeddedFontLst>
    <p:embeddedFont>
      <p:font typeface="Aharoni" panose="02010803020104030203" pitchFamily="2" charset="-79"/>
      <p:bold r:id="rId14"/>
    </p:embeddedFont>
    <p:embeddedFont>
      <p:font typeface="Montserrat" panose="00000500000000000000" pitchFamily="2" charset="0"/>
      <p:regular r:id="rId15"/>
      <p:bold r:id="rId16"/>
      <p:italic r:id="rId17"/>
      <p:boldItalic r:id="rId18"/>
    </p:embeddedFont>
    <p:embeddedFont>
      <p:font typeface="Montserrat Medium" panose="00000600000000000000" pitchFamily="2" charset="0"/>
      <p:regular r:id="rId19"/>
      <p:italic r:id="rId20"/>
    </p:embeddedFont>
    <p:embeddedFont>
      <p:font typeface="Open Sans" panose="020B0606030504020204" pitchFamily="34" charset="0"/>
      <p:regular r:id="rId21"/>
      <p:bold r:id="rId22"/>
      <p:italic r:id="rId23"/>
      <p:boldItalic r:id="rId24"/>
    </p:embeddedFont>
    <p:embeddedFont>
      <p:font typeface="Plus Jakarta Sans" panose="020B0604020202020204" charset="0"/>
      <p:regular r:id="rId25"/>
      <p:bold r:id="rId26"/>
      <p:italic r:id="rId27"/>
      <p:boldItalic r:id="rId28"/>
    </p:embeddedFont>
    <p:embeddedFont>
      <p:font typeface="Roboto" panose="02000000000000000000" pitchFamily="2" charset="0"/>
      <p:regular r:id="rId29"/>
      <p:bold r:id="rId30"/>
      <p:italic r:id="rId31"/>
      <p:boldItalic r:id="rId32"/>
    </p:embeddedFont>
    <p:embeddedFont>
      <p:font typeface="Verdana" panose="020B0604030504040204" pitchFamily="34" charset="0"/>
      <p:regular r:id="rId33"/>
      <p:bold r:id="rId34"/>
      <p:italic r:id="rId35"/>
      <p:boldItalic r:id="rId36"/>
    </p:embeddedFont>
  </p:embeddedFontLst>
  <p:custDataLst>
    <p:tags r:id="rId3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75084E-37F2-B378-065B-AEA278F4B0BC}" v="872" dt="2025-02-05T10:05:09.755"/>
  </p1510:revLst>
</p1510:revInfo>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94660"/>
  </p:normalViewPr>
  <p:slideViewPr>
    <p:cSldViewPr snapToGrid="0">
      <p:cViewPr varScale="1">
        <p:scale>
          <a:sx n="82" d="100"/>
          <a:sy n="82" d="100"/>
        </p:scale>
        <p:origin x="894" y="84"/>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21" Type="http://schemas.openxmlformats.org/officeDocument/2006/relationships/font" Target="fonts/font8.fntdata"/><Relationship Id="rId34" Type="http://schemas.openxmlformats.org/officeDocument/2006/relationships/font" Target="fonts/font21.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font" Target="fonts/font16.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font" Target="fonts/font19.fntdata"/><Relationship Id="rId37" Type="http://schemas.openxmlformats.org/officeDocument/2006/relationships/tags" Target="tags/tag1.xml"/><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font" Target="fonts/font15.fntdata"/><Relationship Id="rId36" Type="http://schemas.openxmlformats.org/officeDocument/2006/relationships/font" Target="fonts/font23.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font" Target="fonts/font17.fntdata"/><Relationship Id="rId35" Type="http://schemas.openxmlformats.org/officeDocument/2006/relationships/font" Target="fonts/font22.fntdata"/><Relationship Id="rId8" Type="http://schemas.openxmlformats.org/officeDocument/2006/relationships/slide" Target="slides/slide7.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33" Type="http://schemas.openxmlformats.org/officeDocument/2006/relationships/font" Target="fonts/font2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05-02-2025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7409"/>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4430594"/>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133754" y="4504626"/>
            <a:ext cx="2926946" cy="1169511"/>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indent="-285750">
              <a:buSzPts val="1400"/>
              <a:buFont typeface="Arial" panose="020B0604020202020204" pitchFamily="34" charset="0"/>
              <a:buChar char="•"/>
            </a:pPr>
            <a:r>
              <a:rPr lang="en-US" b="1" dirty="0">
                <a:solidFill>
                  <a:schemeClr val="dk1"/>
                </a:solidFill>
                <a:latin typeface="Montserrat Medium"/>
              </a:rPr>
              <a:t>Mohammed Ashraf </a:t>
            </a:r>
            <a:endParaRPr lang="en-US" sz="1400" b="1" i="0" u="none" strike="noStrike" cap="none" dirty="0">
              <a:solidFill>
                <a:schemeClr val="dk1"/>
              </a:solidFill>
              <a:latin typeface="Montserrat Medium"/>
              <a:ea typeface="Arial"/>
              <a:cs typeface="Arial"/>
            </a:endParaRPr>
          </a:p>
          <a:p>
            <a:pPr marL="285750" indent="-285750">
              <a:buSzPts val="1400"/>
              <a:buFont typeface="Arial" panose="020B0604020202020204" pitchFamily="34" charset="0"/>
              <a:buChar char="•"/>
            </a:pPr>
            <a:r>
              <a:rPr lang="en-US" b="1" dirty="0">
                <a:solidFill>
                  <a:schemeClr val="dk1"/>
                </a:solidFill>
                <a:latin typeface="Montserrat Medium"/>
              </a:rPr>
              <a:t>Shaik Kashida Jabeen</a:t>
            </a:r>
            <a:endParaRPr lang="en-US" dirty="0">
              <a:solidFill>
                <a:schemeClr val="dk1"/>
              </a:solidFill>
            </a:endParaRPr>
          </a:p>
          <a:p>
            <a:pPr marL="285750" indent="-285750">
              <a:buSzPts val="1400"/>
              <a:buFont typeface="Arial" panose="020B0604020202020204" pitchFamily="34" charset="0"/>
              <a:buChar char="•"/>
            </a:pPr>
            <a:r>
              <a:rPr lang="en-US" b="1" dirty="0">
                <a:solidFill>
                  <a:schemeClr val="dk1"/>
                </a:solidFill>
                <a:latin typeface="Montserrat Medium"/>
              </a:rPr>
              <a:t>Avva Praveen Babu</a:t>
            </a: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9322056" y="5040405"/>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indent="-285750" algn="ctr">
              <a:buSzPts val="1400"/>
              <a:buFont typeface="Arial" panose="020B0604020202020204" pitchFamily="34" charset="0"/>
              <a:buChar char="•"/>
            </a:pPr>
            <a:r>
              <a:rPr lang="en-US" b="1" dirty="0">
                <a:solidFill>
                  <a:schemeClr val="dk1"/>
                </a:solidFill>
                <a:latin typeface="Montserrat Medium"/>
                <a:sym typeface="Montserrat Medium"/>
              </a:rPr>
              <a:t>Dr.</a:t>
            </a:r>
            <a:r>
              <a:rPr lang="en-US" sz="1400" b="1" i="0" u="none" strike="noStrike" cap="none" dirty="0">
                <a:solidFill>
                  <a:schemeClr val="dk1"/>
                </a:solidFill>
                <a:latin typeface="Montserrat Medium"/>
                <a:ea typeface="Arial"/>
                <a:cs typeface="Arial"/>
                <a:sym typeface="Montserrat Medium"/>
              </a:rPr>
              <a:t> </a:t>
            </a:r>
            <a:r>
              <a:rPr lang="en-US" b="1" dirty="0">
                <a:solidFill>
                  <a:schemeClr val="dk1"/>
                </a:solidFill>
                <a:latin typeface="Montserrat Medium"/>
                <a:sym typeface="Montserrat Medium"/>
              </a:rPr>
              <a:t>Pankaj </a:t>
            </a:r>
            <a:r>
              <a:rPr lang="en-US" b="1" dirty="0" err="1">
                <a:solidFill>
                  <a:schemeClr val="dk1"/>
                </a:solidFill>
                <a:latin typeface="Montserrat Medium"/>
                <a:sym typeface="Montserrat Medium"/>
              </a:rPr>
              <a:t>Kandhway</a:t>
            </a:r>
            <a:r>
              <a:rPr lang="en-US" b="1" dirty="0">
                <a:solidFill>
                  <a:schemeClr val="dk1"/>
                </a:solidFill>
                <a:latin typeface="Montserrat Medium"/>
                <a:sym typeface="Montserrat Medium"/>
              </a:rPr>
              <a:t> </a:t>
            </a:r>
            <a:endParaRPr lang="en-US" sz="1400" b="1" i="0" u="none" strike="noStrike" cap="none" dirty="0">
              <a:solidFill>
                <a:schemeClr val="dk1"/>
              </a:solidFill>
              <a:latin typeface="Montserrat Medium"/>
              <a:ea typeface="Arial"/>
              <a:cs typeface="Arial"/>
            </a:endParaRP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indent="-285750" algn="ctr">
              <a:buSzPts val="1400"/>
              <a:buFont typeface="Arial" panose="020B0604020202020204" pitchFamily="34" charset="0"/>
              <a:buChar char="•"/>
            </a:pPr>
            <a:r>
              <a:rPr lang="en-US" b="1" dirty="0">
                <a:solidFill>
                  <a:schemeClr val="dk1"/>
                </a:solidFill>
                <a:latin typeface="Montserrat Medium"/>
              </a:rPr>
              <a:t>Dr. Ambar Bajpai</a:t>
            </a:r>
            <a:endParaRPr lang="en-US" sz="1400" b="1" i="0" u="none" strike="noStrike" cap="none" dirty="0">
              <a:solidFill>
                <a:schemeClr val="dk1"/>
              </a:solidFill>
              <a:latin typeface="Montserrat Medium"/>
              <a:ea typeface="Arial"/>
              <a:cs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468020" y="219190"/>
            <a:ext cx="7254722" cy="954067"/>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7069"/>
                </a:solidFill>
                <a:latin typeface="Open Sans"/>
                <a:ea typeface="Open Sans"/>
                <a:cs typeface="Open Sans"/>
              </a:rPr>
              <a:t>Low light image Enhancement using </a:t>
            </a:r>
            <a:r>
              <a:rPr lang="en-US" sz="2800" b="1" dirty="0" err="1">
                <a:solidFill>
                  <a:srgbClr val="007069"/>
                </a:solidFill>
                <a:latin typeface="Open Sans"/>
                <a:ea typeface="Open Sans"/>
                <a:cs typeface="Open Sans"/>
              </a:rPr>
              <a:t>Retinex</a:t>
            </a:r>
            <a:r>
              <a:rPr lang="en-US" sz="2800" b="1" dirty="0">
                <a:solidFill>
                  <a:srgbClr val="007069"/>
                </a:solidFill>
                <a:latin typeface="Open Sans"/>
                <a:ea typeface="Open Sans"/>
                <a:cs typeface="Open Sans"/>
              </a:rPr>
              <a:t> Theory </a:t>
            </a: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4106192" y="1072201"/>
            <a:ext cx="4005016"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Mid-Review </a:t>
            </a:r>
            <a:r>
              <a:rPr lang="en-US" sz="2000" b="1" dirty="0">
                <a:solidFill>
                  <a:srgbClr val="007069"/>
                </a:solidFill>
                <a:latin typeface="Open Sans"/>
                <a:ea typeface="Open Sans"/>
                <a:cs typeface="Open Sans"/>
                <a:sym typeface="Open Sans"/>
              </a:rPr>
              <a:t>05/2/25</a:t>
            </a:r>
            <a:endParaRPr lang="en-US" sz="2000"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4" y="3194604"/>
            <a:ext cx="2432050" cy="468792"/>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2021-25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156701" y="2965412"/>
            <a:ext cx="2901546" cy="818907"/>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Major Project</a:t>
            </a:r>
          </a:p>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Project ID: </a:t>
            </a:r>
            <a:r>
              <a:rPr lang="en-US" sz="1800" b="1" dirty="0">
                <a:solidFill>
                  <a:schemeClr val="lt1"/>
                </a:solidFill>
                <a:latin typeface="Verdana"/>
                <a:ea typeface="Verdana"/>
                <a:cs typeface="Verdana"/>
                <a:sym typeface="Verdana"/>
              </a:rPr>
              <a:t>CS9</a:t>
            </a:r>
            <a:endParaRPr lang="en-US" sz="1800" b="1" i="0" u="none" strike="noStrike" cap="none" dirty="0">
              <a:solidFill>
                <a:schemeClr val="lt1"/>
              </a:solidFill>
              <a:latin typeface="Verdana"/>
              <a:ea typeface="Verdana"/>
              <a:cs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Montserrat"/>
                <a:ea typeface="Montserrat"/>
                <a:cs typeface="Montserrat"/>
                <a:sym typeface="Montserrat"/>
              </a:rPr>
              <a:t>Objective and Goals</a:t>
            </a:r>
            <a:endParaRPr dirty="0"/>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Objective </a:t>
            </a:r>
            <a:endParaRPr sz="1000" b="1" i="0" u="none" strike="noStrike" cap="none" dirty="0">
              <a:solidFill>
                <a:srgbClr val="000000"/>
              </a:solidFill>
              <a:latin typeface="Arial"/>
              <a:ea typeface="Arial"/>
              <a:cs typeface="Arial"/>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Verdana"/>
                <a:ea typeface="Verdana"/>
                <a:cs typeface="Verdana"/>
                <a:sym typeface="Verdana"/>
              </a:rPr>
              <a:t>Goals</a:t>
            </a:r>
            <a:endParaRPr sz="1000" b="1" i="0" u="none" strike="noStrike" cap="none" dirty="0">
              <a:solidFill>
                <a:srgbClr val="000000"/>
              </a:solidFill>
              <a:latin typeface="Arial"/>
              <a:ea typeface="Arial"/>
              <a:cs typeface="Arial"/>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10562" y="1268361"/>
            <a:ext cx="9953617" cy="3754874"/>
          </a:xfrm>
          <a:prstGeom prst="rect">
            <a:avLst/>
          </a:prstGeom>
          <a:noFill/>
        </p:spPr>
        <p:txBody>
          <a:bodyPr wrap="square" lIns="91440" tIns="45720" rIns="91440" bIns="45720" rtlCol="0" anchor="t">
            <a:spAutoFit/>
          </a:bodyPr>
          <a:lstStyle/>
          <a:p>
            <a:pPr marL="285750" indent="-285750" algn="just">
              <a:buFont typeface="Arial,Sans-Serif"/>
              <a:buChar char="•"/>
            </a:pPr>
            <a:r>
              <a:rPr lang="en-IN" sz="1600" dirty="0">
                <a:latin typeface="Calibri"/>
                <a:ea typeface="Calibri"/>
                <a:cs typeface="Calibri"/>
              </a:rPr>
              <a:t>Low-illumination images are typically taken in environments with limited light and may be affected by fluctuating lighting from sources like bright lights or bulbs.</a:t>
            </a:r>
          </a:p>
          <a:p>
            <a:pPr marL="285750" indent="-285750" algn="just">
              <a:buFont typeface="Arial,Sans-Serif"/>
              <a:buChar char="•"/>
            </a:pPr>
            <a:r>
              <a:rPr lang="en-IN" sz="1600" dirty="0">
                <a:latin typeface="Calibri"/>
                <a:ea typeface="Calibri"/>
                <a:cs typeface="Calibri"/>
              </a:rPr>
              <a:t>Previous enhancement methods often result in halo artifacts, unnatural colours, and loss of information.</a:t>
            </a:r>
          </a:p>
          <a:p>
            <a:pPr marL="285750" indent="-285750" algn="just">
              <a:buFont typeface="Arial,Sans-Serif"/>
              <a:buChar char="•"/>
            </a:pPr>
            <a:r>
              <a:rPr lang="en-IN" sz="1600" dirty="0" err="1">
                <a:latin typeface="Calibri"/>
                <a:ea typeface="Calibri"/>
                <a:cs typeface="Calibri"/>
              </a:rPr>
              <a:t>Retinex</a:t>
            </a:r>
            <a:r>
              <a:rPr lang="en-IN" sz="1600" dirty="0">
                <a:latin typeface="Calibri"/>
                <a:ea typeface="Calibri"/>
                <a:cs typeface="Calibri"/>
              </a:rPr>
              <a:t> theory, which applies a homomorphic light filtering approach, assumes the incident component can be obtained using a Gaussian technique, based on primary ambient light.</a:t>
            </a:r>
          </a:p>
          <a:p>
            <a:pPr marL="285750" indent="-285750" algn="just">
              <a:buFont typeface="Arial,Sans-Serif"/>
              <a:buChar char="•"/>
            </a:pPr>
            <a:r>
              <a:rPr lang="en-IN" sz="1600" dirty="0">
                <a:latin typeface="Calibri"/>
                <a:ea typeface="Calibri"/>
                <a:cs typeface="Calibri"/>
              </a:rPr>
              <a:t>Atmospheric scattering attenuation rate is adjusted according to information loss constraints.</a:t>
            </a:r>
          </a:p>
          <a:p>
            <a:pPr marL="285750" indent="-285750" algn="just">
              <a:buFont typeface="Arial,Sans-Serif"/>
              <a:buChar char="•"/>
            </a:pPr>
            <a:r>
              <a:rPr lang="en-IN" sz="1600" dirty="0">
                <a:latin typeface="Calibri"/>
                <a:ea typeface="Calibri"/>
                <a:cs typeface="Calibri"/>
              </a:rPr>
              <a:t>A weighted guided filter is used to refine two parameters and reduce halo block effects.</a:t>
            </a: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14942" y="3860497"/>
            <a:ext cx="9943179" cy="1846659"/>
          </a:xfrm>
          <a:prstGeom prst="rect">
            <a:avLst/>
          </a:prstGeom>
          <a:noFill/>
        </p:spPr>
        <p:txBody>
          <a:bodyPr wrap="square" lIns="91440" tIns="45720" rIns="91440" bIns="45720" rtlCol="0" anchor="t">
            <a:spAutoFit/>
          </a:bodyPr>
          <a:lstStyle/>
          <a:p>
            <a:r>
              <a:rPr lang="en-IN" dirty="0">
                <a:latin typeface="Verdana" panose="020B0604030504040204" pitchFamily="34" charset="0"/>
                <a:ea typeface="Verdana" panose="020B0604030504040204" pitchFamily="34" charset="0"/>
              </a:rPr>
              <a:t>Main Goals </a:t>
            </a:r>
          </a:p>
          <a:p>
            <a:pPr marL="285750" indent="-285750">
              <a:buFont typeface="Arial,Sans-Serif" panose="020B0604020202020204" pitchFamily="34" charset="0"/>
              <a:buChar char="•"/>
            </a:pPr>
            <a:r>
              <a:rPr lang="en-IN" dirty="0">
                <a:latin typeface="Calibri"/>
                <a:ea typeface="Calibri"/>
                <a:cs typeface="Calibri"/>
              </a:rPr>
              <a:t>Use of </a:t>
            </a:r>
            <a:r>
              <a:rPr lang="en-IN" dirty="0" err="1">
                <a:latin typeface="Calibri"/>
                <a:ea typeface="Calibri"/>
                <a:cs typeface="Calibri"/>
              </a:rPr>
              <a:t>Retinex</a:t>
            </a:r>
            <a:r>
              <a:rPr lang="en-IN" dirty="0">
                <a:latin typeface="Calibri"/>
                <a:ea typeface="Calibri"/>
                <a:cs typeface="Calibri"/>
              </a:rPr>
              <a:t> theory to improve image.</a:t>
            </a:r>
          </a:p>
          <a:p>
            <a:pPr marL="285750" indent="-285750">
              <a:buFont typeface="Arial,Sans-Serif" panose="020B0604020202020204" pitchFamily="34" charset="0"/>
              <a:buChar char="•"/>
            </a:pPr>
            <a:r>
              <a:rPr lang="en-IN" dirty="0">
                <a:latin typeface="Calibri"/>
                <a:ea typeface="Calibri"/>
                <a:cs typeface="Calibri"/>
              </a:rPr>
              <a:t>Increase illuminance of low light images.</a:t>
            </a:r>
            <a:endParaRPr lang="en-IN"/>
          </a:p>
          <a:p>
            <a:pPr marL="285750" indent="-285750">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r>
              <a:rPr lang="en-IN" dirty="0">
                <a:latin typeface="Verdana" panose="020B0604030504040204" pitchFamily="34" charset="0"/>
                <a:ea typeface="Verdana" panose="020B0604030504040204" pitchFamily="34" charset="0"/>
              </a:rPr>
              <a:t>Additional Goals </a:t>
            </a:r>
          </a:p>
          <a:p>
            <a:pPr marL="285750" indent="-285750">
              <a:buFont typeface="Arial,Sans-Serif" panose="020B0604020202020204" pitchFamily="34" charset="0"/>
              <a:buChar char="•"/>
            </a:pPr>
            <a:r>
              <a:rPr lang="en-IN" sz="1600" dirty="0">
                <a:latin typeface="Calibri"/>
                <a:ea typeface="Calibri"/>
                <a:cs typeface="Calibri"/>
              </a:rPr>
              <a:t>Use of algorithms, Fourier transforms for image enhancement.</a:t>
            </a:r>
          </a:p>
          <a:p>
            <a:pPr marL="285750" indent="-285750">
              <a:buFont typeface="Arial" panose="020B0604020202020204" pitchFamily="34" charset="0"/>
              <a:buChar char="•"/>
            </a:pPr>
            <a:endParaRPr lang="en-IN" dirty="0">
              <a:latin typeface="Verdana"/>
              <a:ea typeface="Verdana"/>
            </a:endParaRPr>
          </a:p>
          <a:p>
            <a:endParaRPr lang="en-IN" dirty="0">
              <a:latin typeface="Verdana" panose="020B0604030504040204" pitchFamily="34" charset="0"/>
              <a:ea typeface="Verdana" panose="020B0604030504040204" pitchFamily="34"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pic>
        <p:nvPicPr>
          <p:cNvPr id="2" name="Picture 1" descr="A screenshot of a project plan&#10;&#10;AI-generated content may be incorrect.">
            <a:extLst>
              <a:ext uri="{FF2B5EF4-FFF2-40B4-BE49-F238E27FC236}">
                <a16:creationId xmlns:a16="http://schemas.microsoft.com/office/drawing/2014/main" id="{F1B4C010-D718-882C-F33E-2D1C564FBC48}"/>
              </a:ext>
            </a:extLst>
          </p:cNvPr>
          <p:cNvPicPr>
            <a:picLocks noChangeAspect="1"/>
          </p:cNvPicPr>
          <p:nvPr/>
        </p:nvPicPr>
        <p:blipFill>
          <a:blip r:embed="rId3"/>
          <a:stretch>
            <a:fillRect/>
          </a:stretch>
        </p:blipFill>
        <p:spPr>
          <a:xfrm>
            <a:off x="302715" y="190022"/>
            <a:ext cx="11576135" cy="6477955"/>
          </a:xfrm>
          <a:prstGeom prst="rect">
            <a:avLst/>
          </a:prstGeom>
        </p:spPr>
      </p:pic>
      <p:sp>
        <p:nvSpPr>
          <p:cNvPr id="5" name="TextBox 4">
            <a:extLst>
              <a:ext uri="{FF2B5EF4-FFF2-40B4-BE49-F238E27FC236}">
                <a16:creationId xmlns:a16="http://schemas.microsoft.com/office/drawing/2014/main" id="{D3C3D8F3-738B-936A-C19F-AE0A56647B60}"/>
              </a:ext>
            </a:extLst>
          </p:cNvPr>
          <p:cNvSpPr txBox="1"/>
          <p:nvPr/>
        </p:nvSpPr>
        <p:spPr>
          <a:xfrm>
            <a:off x="2478162" y="5807067"/>
            <a:ext cx="71009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Fig 1</a:t>
            </a:r>
          </a:p>
        </p:txBody>
      </p:sp>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Montserrat"/>
                <a:sym typeface="Montserrat"/>
              </a:rPr>
              <a:t>Architecture  </a:t>
            </a:r>
            <a:endParaRPr dirty="0"/>
          </a:p>
        </p:txBody>
      </p:sp>
      <p:pic>
        <p:nvPicPr>
          <p:cNvPr id="6" name="Picture 5">
            <a:extLst>
              <a:ext uri="{FF2B5EF4-FFF2-40B4-BE49-F238E27FC236}">
                <a16:creationId xmlns:a16="http://schemas.microsoft.com/office/drawing/2014/main" id="{2770D09B-E583-34BE-2C93-821D5EEDD70A}"/>
              </a:ext>
            </a:extLst>
          </p:cNvPr>
          <p:cNvPicPr>
            <a:picLocks noChangeAspect="1"/>
          </p:cNvPicPr>
          <p:nvPr/>
        </p:nvPicPr>
        <p:blipFill>
          <a:blip r:embed="rId2"/>
          <a:stretch>
            <a:fillRect/>
          </a:stretch>
        </p:blipFill>
        <p:spPr>
          <a:xfrm>
            <a:off x="3455857" y="943628"/>
            <a:ext cx="4213424" cy="4612156"/>
          </a:xfrm>
          <a:prstGeom prst="rect">
            <a:avLst/>
          </a:prstGeom>
        </p:spPr>
      </p:pic>
      <p:sp>
        <p:nvSpPr>
          <p:cNvPr id="5" name="TextBox 4">
            <a:extLst>
              <a:ext uri="{FF2B5EF4-FFF2-40B4-BE49-F238E27FC236}">
                <a16:creationId xmlns:a16="http://schemas.microsoft.com/office/drawing/2014/main" id="{65ADEF0F-0475-7CE6-1A35-BBF7033B0D5E}"/>
              </a:ext>
            </a:extLst>
          </p:cNvPr>
          <p:cNvSpPr txBox="1"/>
          <p:nvPr/>
        </p:nvSpPr>
        <p:spPr>
          <a:xfrm>
            <a:off x="2478162" y="5807067"/>
            <a:ext cx="71009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Fig 2:  Flow Chart</a:t>
            </a:r>
          </a:p>
        </p:txBody>
      </p:sp>
    </p:spTree>
    <p:extLst>
      <p:ext uri="{BB962C8B-B14F-4D97-AF65-F5344CB8AC3E}">
        <p14:creationId xmlns:p14="http://schemas.microsoft.com/office/powerpoint/2010/main" val="1869460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dirty="0">
                <a:latin typeface="Montserrat"/>
              </a:rPr>
              <a:t>BHSD</a:t>
            </a:r>
            <a:endParaRPr lang="en-US" sz="2400" b="1" i="0" u="none" strike="noStrike" cap="none" dirty="0">
              <a:solidFill>
                <a:srgbClr val="000000"/>
              </a:solidFill>
              <a:latin typeface="Montserrat"/>
              <a:ea typeface="Arial"/>
              <a:cs typeface="Arial"/>
            </a:endParaRPr>
          </a:p>
        </p:txBody>
      </p:sp>
      <p:sp>
        <p:nvSpPr>
          <p:cNvPr id="6" name="TextBox 5">
            <a:extLst>
              <a:ext uri="{FF2B5EF4-FFF2-40B4-BE49-F238E27FC236}">
                <a16:creationId xmlns:a16="http://schemas.microsoft.com/office/drawing/2014/main" id="{35057D65-89D5-5AC5-27B6-61A2BB7B6058}"/>
              </a:ext>
            </a:extLst>
          </p:cNvPr>
          <p:cNvSpPr txBox="1"/>
          <p:nvPr/>
        </p:nvSpPr>
        <p:spPr>
          <a:xfrm>
            <a:off x="756049" y="994065"/>
            <a:ext cx="9926648" cy="4462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Introduction to the Distribution</a:t>
            </a:r>
            <a:r>
              <a:rPr lang="en-US" sz="1600" dirty="0"/>
              <a:t>:</a:t>
            </a:r>
          </a:p>
          <a:p>
            <a:endParaRPr lang="en-US" sz="1600" dirty="0"/>
          </a:p>
          <a:p>
            <a:pPr marL="285750" indent="-285750">
              <a:buChar char="•"/>
            </a:pPr>
            <a:r>
              <a:rPr lang="en-US" sz="1600" dirty="0"/>
              <a:t>The Beta Hyperbolic Secant (BHS) distribution is a flexible probability distribution derived from the hyperbolic secant function.</a:t>
            </a:r>
          </a:p>
          <a:p>
            <a:pPr marL="285750" indent="-285750">
              <a:buChar char="•"/>
            </a:pPr>
            <a:r>
              <a:rPr lang="en-US" sz="1600" dirty="0"/>
              <a:t>Combines properties of the beta distribution and the hyperbolic secant distribution, offering tunable shape parameters for diverse applications.</a:t>
            </a:r>
          </a:p>
          <a:p>
            <a:pPr marL="285750" indent="-285750" algn="l">
              <a:buChar char="•"/>
            </a:pPr>
            <a:endParaRPr lang="en-US" sz="1600" dirty="0"/>
          </a:p>
          <a:p>
            <a:pPr marL="285750" indent="-285750">
              <a:buChar char="•"/>
            </a:pPr>
            <a:endParaRPr lang="en-US" sz="1600" dirty="0"/>
          </a:p>
          <a:p>
            <a:r>
              <a:rPr lang="en-US" sz="1600" b="1" dirty="0"/>
              <a:t>Key Features</a:t>
            </a:r>
            <a:r>
              <a:rPr lang="en-US" sz="1600" dirty="0"/>
              <a:t>:</a:t>
            </a:r>
          </a:p>
          <a:p>
            <a:endParaRPr lang="en-US" sz="1600" dirty="0"/>
          </a:p>
          <a:p>
            <a:pPr>
              <a:buChar char="•"/>
            </a:pPr>
            <a:r>
              <a:rPr lang="en-US" sz="1600" dirty="0"/>
              <a:t>Flexibility: Adjustable shape parameters allow the distribution to model various data patterns, making it suitable for diverse image processing tasks.</a:t>
            </a:r>
          </a:p>
          <a:p>
            <a:pPr>
              <a:buChar char="•"/>
            </a:pPr>
            <a:endParaRPr lang="en-US" sz="1600" dirty="0"/>
          </a:p>
          <a:p>
            <a:pPr>
              <a:buChar char="•"/>
            </a:pPr>
            <a:r>
              <a:rPr lang="en-US" sz="1600" dirty="0"/>
              <a:t>Symmetry: The hyperbolic secant component ensures a symmetric probability density function (PDF).</a:t>
            </a:r>
          </a:p>
          <a:p>
            <a:pPr>
              <a:buChar char="•"/>
            </a:pPr>
            <a:endParaRPr lang="en-US" sz="1600" dirty="0"/>
          </a:p>
          <a:p>
            <a:pPr>
              <a:buChar char="•"/>
            </a:pPr>
            <a:r>
              <a:rPr lang="en-US" sz="1600" dirty="0"/>
              <a:t>Heavy Tails: Its heavy-tailed nature aids in robust processing by handling outliers effectively.</a:t>
            </a:r>
          </a:p>
          <a:p>
            <a:pPr marL="285750" indent="-285750">
              <a:buChar char="•"/>
            </a:pPr>
            <a:endParaRPr lang="en-US" dirty="0"/>
          </a:p>
          <a:p>
            <a:endParaRPr lang="en-US" dirty="0"/>
          </a:p>
        </p:txBody>
      </p:sp>
    </p:spTree>
    <p:extLst>
      <p:ext uri="{BB962C8B-B14F-4D97-AF65-F5344CB8AC3E}">
        <p14:creationId xmlns:p14="http://schemas.microsoft.com/office/powerpoint/2010/main" val="1995428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2333-A005-FEA0-4811-C852E2C24B3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FAD13B1-3AD5-5F48-5EA6-8283F4D7320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Google Shape;125;p3">
            <a:extLst>
              <a:ext uri="{FF2B5EF4-FFF2-40B4-BE49-F238E27FC236}">
                <a16:creationId xmlns:a16="http://schemas.microsoft.com/office/drawing/2014/main" id="{3B14D212-DF1F-F61D-ECD3-9D20601BCEB3}"/>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algn="ctr">
              <a:buSzPts val="2400"/>
            </a:pPr>
            <a:r>
              <a:rPr lang="en-US" sz="2400" b="1" dirty="0">
                <a:latin typeface="Montserrat"/>
              </a:rPr>
              <a:t>Image Fusion</a:t>
            </a:r>
            <a:endParaRPr lang="en-US" sz="2400" b="1" i="0" u="none" strike="noStrike" cap="none" dirty="0">
              <a:solidFill>
                <a:srgbClr val="000000"/>
              </a:solidFill>
              <a:latin typeface="Montserrat"/>
            </a:endParaRPr>
          </a:p>
        </p:txBody>
      </p:sp>
      <p:sp>
        <p:nvSpPr>
          <p:cNvPr id="2" name="TextBox 1">
            <a:extLst>
              <a:ext uri="{FF2B5EF4-FFF2-40B4-BE49-F238E27FC236}">
                <a16:creationId xmlns:a16="http://schemas.microsoft.com/office/drawing/2014/main" id="{0CA581EA-FDA2-2559-CAAC-2EFBE9CCF986}"/>
              </a:ext>
            </a:extLst>
          </p:cNvPr>
          <p:cNvSpPr txBox="1"/>
          <p:nvPr/>
        </p:nvSpPr>
        <p:spPr>
          <a:xfrm>
            <a:off x="476031" y="882057"/>
            <a:ext cx="1107472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212121"/>
                </a:solidFill>
                <a:latin typeface="Roboto"/>
                <a:ea typeface="Roboto"/>
                <a:cs typeface="Roboto"/>
              </a:rPr>
              <a:t>The principle of image fusion using wavelets is to merge the wavelet decompositions of the two original images using fusion methods applied to approximations coefficients and details coefficients. The two images must be of the same size and are supposed to be associated with indexed images on a common colormap.</a:t>
            </a:r>
            <a:endParaRPr lang="en-US" sz="1600" dirty="0"/>
          </a:p>
        </p:txBody>
      </p:sp>
      <p:pic>
        <p:nvPicPr>
          <p:cNvPr id="6" name="Picture 5" descr="A collage of images of a person&#10;&#10;AI-generated content may be incorrect.">
            <a:extLst>
              <a:ext uri="{FF2B5EF4-FFF2-40B4-BE49-F238E27FC236}">
                <a16:creationId xmlns:a16="http://schemas.microsoft.com/office/drawing/2014/main" id="{5347711A-0765-DC1C-5018-863DD02442FC}"/>
              </a:ext>
            </a:extLst>
          </p:cNvPr>
          <p:cNvPicPr>
            <a:picLocks noChangeAspect="1"/>
          </p:cNvPicPr>
          <p:nvPr/>
        </p:nvPicPr>
        <p:blipFill>
          <a:blip r:embed="rId2"/>
          <a:stretch>
            <a:fillRect/>
          </a:stretch>
        </p:blipFill>
        <p:spPr>
          <a:xfrm>
            <a:off x="2637316" y="1709738"/>
            <a:ext cx="5790027" cy="4096142"/>
          </a:xfrm>
          <a:prstGeom prst="rect">
            <a:avLst/>
          </a:prstGeom>
        </p:spPr>
      </p:pic>
      <p:sp>
        <p:nvSpPr>
          <p:cNvPr id="7" name="TextBox 6">
            <a:extLst>
              <a:ext uri="{FF2B5EF4-FFF2-40B4-BE49-F238E27FC236}">
                <a16:creationId xmlns:a16="http://schemas.microsoft.com/office/drawing/2014/main" id="{9F8E4B04-C6E7-C9F2-719B-44DB3998A08B}"/>
              </a:ext>
            </a:extLst>
          </p:cNvPr>
          <p:cNvSpPr txBox="1"/>
          <p:nvPr/>
        </p:nvSpPr>
        <p:spPr>
          <a:xfrm>
            <a:off x="2478162" y="5807067"/>
            <a:ext cx="710099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Fig 3:Sythesized image shows merged image of Catherine 1 and Catherine 2</a:t>
            </a:r>
          </a:p>
        </p:txBody>
      </p:sp>
    </p:spTree>
    <p:extLst>
      <p:ext uri="{BB962C8B-B14F-4D97-AF65-F5344CB8AC3E}">
        <p14:creationId xmlns:p14="http://schemas.microsoft.com/office/powerpoint/2010/main" val="1229190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4FB4E-AB25-B986-6544-C0296069542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2EDE2B-D87B-D03F-3482-F7F114A4F0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sp>
        <p:nvSpPr>
          <p:cNvPr id="4" name="Google Shape;125;p3">
            <a:extLst>
              <a:ext uri="{FF2B5EF4-FFF2-40B4-BE49-F238E27FC236}">
                <a16:creationId xmlns:a16="http://schemas.microsoft.com/office/drawing/2014/main" id="{C625E54E-A86D-9B94-B470-0435C69F95E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a:t>
            </a:r>
            <a:endParaRPr lang="en-US" sz="1400" b="0" i="0" u="none" strike="noStrike" cap="none" dirty="0">
              <a:solidFill>
                <a:srgbClr val="000000"/>
              </a:solidFill>
              <a:latin typeface="Arial"/>
              <a:ea typeface="Arial"/>
              <a:cs typeface="Arial"/>
              <a:sym typeface="Arial"/>
            </a:endParaRPr>
          </a:p>
        </p:txBody>
      </p:sp>
      <p:pic>
        <p:nvPicPr>
          <p:cNvPr id="7" name="Picture 6" descr="A collage of a couple of bicycles&#10;&#10;AI-generated content may be incorrect.">
            <a:extLst>
              <a:ext uri="{FF2B5EF4-FFF2-40B4-BE49-F238E27FC236}">
                <a16:creationId xmlns:a16="http://schemas.microsoft.com/office/drawing/2014/main" id="{168D9D75-9E85-F997-C955-161957A4B346}"/>
              </a:ext>
            </a:extLst>
          </p:cNvPr>
          <p:cNvPicPr>
            <a:picLocks noChangeAspect="1"/>
          </p:cNvPicPr>
          <p:nvPr/>
        </p:nvPicPr>
        <p:blipFill>
          <a:blip r:embed="rId2"/>
          <a:stretch>
            <a:fillRect/>
          </a:stretch>
        </p:blipFill>
        <p:spPr>
          <a:xfrm>
            <a:off x="104384" y="977337"/>
            <a:ext cx="11409122" cy="3755101"/>
          </a:xfrm>
          <a:prstGeom prst="rect">
            <a:avLst/>
          </a:prstGeom>
        </p:spPr>
      </p:pic>
      <p:sp>
        <p:nvSpPr>
          <p:cNvPr id="9" name="TextBox 8">
            <a:extLst>
              <a:ext uri="{FF2B5EF4-FFF2-40B4-BE49-F238E27FC236}">
                <a16:creationId xmlns:a16="http://schemas.microsoft.com/office/drawing/2014/main" id="{A4605273-0D52-4A03-2326-14BBBF3BAFEF}"/>
              </a:ext>
            </a:extLst>
          </p:cNvPr>
          <p:cNvSpPr txBox="1"/>
          <p:nvPr/>
        </p:nvSpPr>
        <p:spPr>
          <a:xfrm>
            <a:off x="2478162" y="5807067"/>
            <a:ext cx="71009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Fig 4:Original and Enhanced Image</a:t>
            </a:r>
          </a:p>
        </p:txBody>
      </p:sp>
    </p:spTree>
    <p:extLst>
      <p:ext uri="{BB962C8B-B14F-4D97-AF65-F5344CB8AC3E}">
        <p14:creationId xmlns:p14="http://schemas.microsoft.com/office/powerpoint/2010/main" val="2761468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A group of bicycles parked in front of a building&#10;&#10;AI-generated content may be incorrect.">
            <a:extLst>
              <a:ext uri="{FF2B5EF4-FFF2-40B4-BE49-F238E27FC236}">
                <a16:creationId xmlns:a16="http://schemas.microsoft.com/office/drawing/2014/main" id="{6C5B3E45-602A-0DEB-65C8-7A3014D6791C}"/>
              </a:ext>
            </a:extLst>
          </p:cNvPr>
          <p:cNvPicPr>
            <a:picLocks noGrp="1" noChangeAspect="1"/>
          </p:cNvPicPr>
          <p:nvPr>
            <p:ph type="pic" idx="2"/>
          </p:nvPr>
        </p:nvPicPr>
        <p:blipFill>
          <a:blip r:embed="rId2"/>
          <a:srcRect t="8175" b="8175"/>
          <a:stretch/>
        </p:blipFill>
        <p:spPr>
          <a:xfrm>
            <a:off x="6515661" y="1736631"/>
            <a:ext cx="5043767" cy="3384736"/>
          </a:xfrm>
        </p:spPr>
      </p:pic>
      <p:sp>
        <p:nvSpPr>
          <p:cNvPr id="3" name="Slide Number Placeholder 2">
            <a:extLst>
              <a:ext uri="{FF2B5EF4-FFF2-40B4-BE49-F238E27FC236}">
                <a16:creationId xmlns:a16="http://schemas.microsoft.com/office/drawing/2014/main" id="{A2127EE6-A0B1-C88B-CD40-AF94F65383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8</a:t>
            </a:fld>
            <a:endParaRPr lang="en-US" dirty="0"/>
          </a:p>
        </p:txBody>
      </p:sp>
      <p:pic>
        <p:nvPicPr>
          <p:cNvPr id="5" name="Picture 4" descr="A group of bicycles parked in front of a building&#10;&#10;AI-generated content may be incorrect.">
            <a:extLst>
              <a:ext uri="{FF2B5EF4-FFF2-40B4-BE49-F238E27FC236}">
                <a16:creationId xmlns:a16="http://schemas.microsoft.com/office/drawing/2014/main" id="{917C9335-C500-0937-D8EB-B58C03978035}"/>
              </a:ext>
            </a:extLst>
          </p:cNvPr>
          <p:cNvPicPr>
            <a:picLocks noChangeAspect="1"/>
          </p:cNvPicPr>
          <p:nvPr/>
        </p:nvPicPr>
        <p:blipFill>
          <a:blip r:embed="rId3"/>
          <a:stretch>
            <a:fillRect/>
          </a:stretch>
        </p:blipFill>
        <p:spPr>
          <a:xfrm>
            <a:off x="936532" y="1709737"/>
            <a:ext cx="5175436" cy="3404907"/>
          </a:xfrm>
          <a:prstGeom prst="rect">
            <a:avLst/>
          </a:prstGeom>
        </p:spPr>
      </p:pic>
      <p:sp>
        <p:nvSpPr>
          <p:cNvPr id="8" name="Google Shape;125;p3">
            <a:extLst>
              <a:ext uri="{FF2B5EF4-FFF2-40B4-BE49-F238E27FC236}">
                <a16:creationId xmlns:a16="http://schemas.microsoft.com/office/drawing/2014/main" id="{9149CC31-D66D-1F42-1689-3135BABC0051}"/>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Implementation and Results</a:t>
            </a:r>
            <a:endParaRPr lang="en-US" sz="1400" b="0" i="0" u="none" strike="noStrike" cap="none" dirty="0">
              <a:solidFill>
                <a:srgbClr val="000000"/>
              </a:solidFill>
              <a:latin typeface="Arial"/>
              <a:ea typeface="Arial"/>
              <a:cs typeface="Arial"/>
              <a:sym typeface="Arial"/>
            </a:endParaRPr>
          </a:p>
        </p:txBody>
      </p:sp>
      <p:sp>
        <p:nvSpPr>
          <p:cNvPr id="10" name="TextBox 9">
            <a:extLst>
              <a:ext uri="{FF2B5EF4-FFF2-40B4-BE49-F238E27FC236}">
                <a16:creationId xmlns:a16="http://schemas.microsoft.com/office/drawing/2014/main" id="{D63B1CAA-8CEF-8615-756B-D8988D0C8840}"/>
              </a:ext>
            </a:extLst>
          </p:cNvPr>
          <p:cNvSpPr txBox="1"/>
          <p:nvPr/>
        </p:nvSpPr>
        <p:spPr>
          <a:xfrm>
            <a:off x="2478162" y="5807067"/>
            <a:ext cx="71009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t>Fig 5:Before and After Fusion</a:t>
            </a:r>
          </a:p>
        </p:txBody>
      </p:sp>
    </p:spTree>
    <p:extLst>
      <p:ext uri="{BB962C8B-B14F-4D97-AF65-F5344CB8AC3E}">
        <p14:creationId xmlns:p14="http://schemas.microsoft.com/office/powerpoint/2010/main" val="3464009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Montserrat"/>
                <a:ea typeface="Montserrat"/>
                <a:cs typeface="Montserrat"/>
                <a:sym typeface="Montserrat"/>
              </a:rPr>
              <a:t>Conclusion &amp; Future Work</a:t>
            </a:r>
            <a:endParaRPr lang="en-US" sz="1400" b="0" i="0" u="none" strike="noStrike" cap="none" dirty="0">
              <a:solidFill>
                <a:srgbClr val="000000"/>
              </a:solidFill>
              <a:latin typeface="Arial"/>
              <a:ea typeface="Arial"/>
              <a:cs typeface="Arial"/>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Verdana" panose="020B0604030504040204" pitchFamily="34" charset="0"/>
                <a:ea typeface="Verdana" panose="020B0604030504040204" pitchFamily="34" charset="0"/>
              </a:rPr>
              <a:t>Summary and Conclusion </a:t>
            </a:r>
          </a:p>
          <a:p>
            <a:endParaRPr lang="en-IN" b="1" dirty="0">
              <a:latin typeface="Verdana"/>
              <a:ea typeface="Verdana"/>
            </a:endParaRPr>
          </a:p>
          <a:p>
            <a:endParaRPr lang="en-IN" b="1" dirty="0">
              <a:latin typeface="Verdana"/>
              <a:ea typeface="Verdana"/>
            </a:endParaRPr>
          </a:p>
          <a:p>
            <a:r>
              <a:rPr lang="en-IN" sz="1600" dirty="0">
                <a:latin typeface="Calibri"/>
                <a:ea typeface="Calibri"/>
                <a:cs typeface="Calibri"/>
              </a:rPr>
              <a:t>The development of the Low-Illumination Image Enhancement Algorithm Based on </a:t>
            </a:r>
            <a:r>
              <a:rPr lang="en-IN" sz="1600" dirty="0" err="1">
                <a:latin typeface="Calibri"/>
                <a:ea typeface="Calibri"/>
                <a:cs typeface="Calibri"/>
              </a:rPr>
              <a:t>Retinex</a:t>
            </a:r>
            <a:r>
              <a:rPr lang="en-IN" sz="1600" dirty="0">
                <a:latin typeface="Calibri"/>
                <a:ea typeface="Calibri"/>
                <a:cs typeface="Calibri"/>
              </a:rPr>
              <a:t> Theory marks a significant advancement in the field of low-light image processing. By addressing the inherent challenges of enhancing images captured in poorly lit environments, the algorithm demonstrates superior performance compared to traditional methods and existing literature. In conclusion, this project provides a valuable contribution to the field of image enhancement by presenting a comprehensive approach that combines </a:t>
            </a:r>
            <a:r>
              <a:rPr lang="en-IN" sz="1600" dirty="0" err="1">
                <a:latin typeface="Calibri"/>
                <a:ea typeface="Calibri"/>
                <a:cs typeface="Calibri"/>
              </a:rPr>
              <a:t>retinex</a:t>
            </a:r>
            <a:r>
              <a:rPr lang="en-IN" sz="1600" dirty="0">
                <a:latin typeface="Calibri"/>
                <a:ea typeface="Calibri"/>
                <a:cs typeface="Calibri"/>
              </a:rPr>
              <a:t> model with iterative refinement. The results not only advance the understanding of low-light image processing but also pave the way for future innovations in this area.</a:t>
            </a:r>
            <a:endParaRPr lang="en-IN" dirty="0"/>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Verdana" panose="020B0604030504040204" pitchFamily="34" charset="0"/>
              <a:ea typeface="Verdana" panose="020B0604030504040204" pitchFamily="34" charset="0"/>
            </a:endParaRPr>
          </a:p>
          <a:p>
            <a:pPr marR="0" lvl="0" rtl="0">
              <a:lnSpc>
                <a:spcPct val="100000"/>
              </a:lnSpc>
              <a:spcBef>
                <a:spcPts val="0"/>
              </a:spcBef>
              <a:spcAft>
                <a:spcPts val="0"/>
              </a:spcAft>
            </a:pPr>
            <a:endParaRPr lang="en-IN" dirty="0">
              <a:latin typeface="Verdana" panose="020B0604030504040204" pitchFamily="34" charset="0"/>
              <a:ea typeface="Verdana" panose="020B0604030504040204" pitchFamily="34" charset="0"/>
            </a:endParaRPr>
          </a:p>
          <a:p>
            <a:r>
              <a:rPr lang="en-IN" b="1" dirty="0">
                <a:latin typeface="Verdana" panose="020B0604030504040204" pitchFamily="34" charset="0"/>
                <a:ea typeface="Verdana" panose="020B0604030504040204" pitchFamily="34" charset="0"/>
              </a:rPr>
              <a:t>Future Work</a:t>
            </a:r>
          </a:p>
          <a:p>
            <a:endParaRPr lang="en-IN" b="1" dirty="0">
              <a:latin typeface="Verdana"/>
              <a:ea typeface="Verdana"/>
            </a:endParaRPr>
          </a:p>
          <a:p>
            <a:pPr algn="just"/>
            <a:r>
              <a:rPr lang="en-IN" sz="1600" b="1" dirty="0">
                <a:latin typeface="Calibri"/>
                <a:ea typeface="Calibri"/>
                <a:cs typeface="Calibri"/>
              </a:rPr>
              <a:t>Integration with Deep Learning Techniques</a:t>
            </a:r>
            <a:r>
              <a:rPr lang="en-IN" sz="1600" dirty="0">
                <a:latin typeface="Calibri"/>
                <a:ea typeface="Calibri"/>
                <a:cs typeface="Calibri"/>
              </a:rPr>
              <a:t>: Future research could explore the combination of the physical lighting model with deep learning approaches to enhance computational efficiency and effectiveness. Using convolutional neural networks (CNNs) could automate the process of parameter estimation and improve the algorithm's adaptability to various low-light conditions.</a:t>
            </a:r>
            <a:endParaRPr lang="en-US" sz="1600">
              <a:latin typeface="Calibri"/>
              <a:ea typeface="Calibri"/>
              <a:cs typeface="Calibri"/>
            </a:endParaRPr>
          </a:p>
          <a:p>
            <a:pPr algn="just"/>
            <a:endParaRPr lang="en-US" sz="1600" dirty="0">
              <a:latin typeface="Calibri"/>
              <a:ea typeface="Calibri"/>
              <a:cs typeface="Calibri"/>
            </a:endParaRPr>
          </a:p>
          <a:p>
            <a:pPr algn="just"/>
            <a:r>
              <a:rPr lang="en-US" sz="1600" b="1" dirty="0">
                <a:latin typeface="Calibri"/>
                <a:ea typeface="Calibri"/>
                <a:cs typeface="Calibri"/>
              </a:rPr>
              <a:t>Real-Time Processing Capabilities</a:t>
            </a:r>
            <a:r>
              <a:rPr lang="en-US" sz="1600" dirty="0">
                <a:latin typeface="Calibri"/>
                <a:ea typeface="Calibri"/>
                <a:cs typeface="Calibri"/>
              </a:rPr>
              <a:t>: Further development could focus on optimizing the algorithm for real-time applications. Techniques such as model pruning, quantization, or utilizing efficient hardware (like GPUs or specialized accelerators) could be explored to reduce computational overhead while maintaining performance.</a:t>
            </a:r>
          </a:p>
          <a:p>
            <a:endParaRPr lang="en-IN" b="1" dirty="0">
              <a:latin typeface="Verdana" panose="020B0604030504040204" pitchFamily="34" charset="0"/>
              <a:ea typeface="Verdana" panose="020B0604030504040204" pitchFamily="34" charset="0"/>
            </a:endParaRPr>
          </a:p>
          <a:p>
            <a:pPr marR="0" lvl="0">
              <a:lnSpc>
                <a:spcPct val="100000"/>
              </a:lnSpc>
              <a:spcBef>
                <a:spcPts val="0"/>
              </a:spcBef>
              <a:spcAft>
                <a:spcPts val="0"/>
              </a:spcAft>
            </a:pPr>
            <a:endParaRPr lang="en-IN" b="1" dirty="0">
              <a:latin typeface="Verdana" panose="020B0604030504040204" pitchFamily="34" charset="0"/>
              <a:ea typeface="Verdana" panose="020B0604030504040204" pitchFamily="34" charset="0"/>
            </a:endParaRPr>
          </a:p>
          <a:p>
            <a:endParaRPr lang="en-IN"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6782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2455</TotalTime>
  <Words>352</Words>
  <Application>Microsoft Office PowerPoint</Application>
  <PresentationFormat>Widescreen</PresentationFormat>
  <Paragraphs>142</Paragraphs>
  <Slides>10</Slides>
  <Notes>3</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Dr Ambar Bajpai</cp:lastModifiedBy>
  <cp:revision>175</cp:revision>
  <dcterms:created xsi:type="dcterms:W3CDTF">2022-05-23T07:15:42Z</dcterms:created>
  <dcterms:modified xsi:type="dcterms:W3CDTF">2025-02-05T16:18:28Z</dcterms:modified>
</cp:coreProperties>
</file>